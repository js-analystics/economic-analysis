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webextensions/webextension1.xml" ContentType="application/vnd.ms-office.webextension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7" r:id="rId9"/>
    <p:sldId id="268" r:id="rId10"/>
    <p:sldId id="271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2" r:id="rId24"/>
    <p:sldId id="264" r:id="rId25"/>
    <p:sldId id="265" r:id="rId26"/>
    <p:sldId id="282" r:id="rId27"/>
    <p:sldId id="283" r:id="rId28"/>
    <p:sldId id="285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image" Target="../media/image42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1CF162-7B81-4BAE-BB98-E340200A44D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85CE59-2CDE-4139-8F71-02933883053E}">
      <dgm:prSet/>
      <dgm:spPr/>
      <dgm:t>
        <a:bodyPr/>
        <a:lstStyle/>
        <a:p>
          <a:r>
            <a:rPr lang="de-DE"/>
            <a:t>Datenquellen					S. 3</a:t>
          </a:r>
          <a:endParaRPr lang="en-US"/>
        </a:p>
      </dgm:t>
    </dgm:pt>
    <dgm:pt modelId="{32EF4124-0D90-4C65-B6D1-44E008F44089}" type="parTrans" cxnId="{86885DB9-E210-4040-B925-2BD90A839273}">
      <dgm:prSet/>
      <dgm:spPr/>
      <dgm:t>
        <a:bodyPr/>
        <a:lstStyle/>
        <a:p>
          <a:endParaRPr lang="en-US"/>
        </a:p>
      </dgm:t>
    </dgm:pt>
    <dgm:pt modelId="{260BFF91-58FC-4F30-89B3-9CBEC8A544BD}" type="sibTrans" cxnId="{86885DB9-E210-4040-B925-2BD90A839273}">
      <dgm:prSet/>
      <dgm:spPr/>
      <dgm:t>
        <a:bodyPr/>
        <a:lstStyle/>
        <a:p>
          <a:endParaRPr lang="en-US"/>
        </a:p>
      </dgm:t>
    </dgm:pt>
    <dgm:pt modelId="{2C9C08AF-048B-423E-AF18-5C2C5D2B81BC}">
      <dgm:prSet/>
      <dgm:spPr/>
      <dgm:t>
        <a:bodyPr/>
        <a:lstStyle/>
        <a:p>
          <a:r>
            <a:rPr lang="de-DE"/>
            <a:t>Krisenüberblick				S. 4-6</a:t>
          </a:r>
          <a:endParaRPr lang="en-US"/>
        </a:p>
      </dgm:t>
    </dgm:pt>
    <dgm:pt modelId="{C6B71625-CC80-44AD-BE8B-7B65C5794806}" type="parTrans" cxnId="{BB461C97-2A00-48DA-95E2-3E6E552BF523}">
      <dgm:prSet/>
      <dgm:spPr/>
      <dgm:t>
        <a:bodyPr/>
        <a:lstStyle/>
        <a:p>
          <a:endParaRPr lang="en-US"/>
        </a:p>
      </dgm:t>
    </dgm:pt>
    <dgm:pt modelId="{484DDB08-3629-4AD7-B22C-6D7A20F1C918}" type="sibTrans" cxnId="{BB461C97-2A00-48DA-95E2-3E6E552BF523}">
      <dgm:prSet/>
      <dgm:spPr/>
      <dgm:t>
        <a:bodyPr/>
        <a:lstStyle/>
        <a:p>
          <a:endParaRPr lang="en-US"/>
        </a:p>
      </dgm:t>
    </dgm:pt>
    <dgm:pt modelId="{E4151F12-8E7E-4061-983F-755DAE83CDEA}">
      <dgm:prSet/>
      <dgm:spPr/>
      <dgm:t>
        <a:bodyPr/>
        <a:lstStyle/>
        <a:p>
          <a:r>
            <a:rPr lang="de-DE" dirty="0"/>
            <a:t>Globale Finanzkrise 2007-2009			S. 4</a:t>
          </a:r>
          <a:endParaRPr lang="en-US" dirty="0"/>
        </a:p>
      </dgm:t>
    </dgm:pt>
    <dgm:pt modelId="{96FA1345-3D41-42ED-A4BE-F1FB619979C0}" type="parTrans" cxnId="{0D6CA006-980D-4B20-9EE3-FCC4C05D9253}">
      <dgm:prSet/>
      <dgm:spPr/>
      <dgm:t>
        <a:bodyPr/>
        <a:lstStyle/>
        <a:p>
          <a:endParaRPr lang="en-US"/>
        </a:p>
      </dgm:t>
    </dgm:pt>
    <dgm:pt modelId="{8728B647-35D4-411B-8C62-91CFBC26BFF9}" type="sibTrans" cxnId="{0D6CA006-980D-4B20-9EE3-FCC4C05D9253}">
      <dgm:prSet/>
      <dgm:spPr/>
      <dgm:t>
        <a:bodyPr/>
        <a:lstStyle/>
        <a:p>
          <a:endParaRPr lang="en-US"/>
        </a:p>
      </dgm:t>
    </dgm:pt>
    <dgm:pt modelId="{8EA56D91-21C5-42CE-8D70-820D119CB69E}">
      <dgm:prSet/>
      <dgm:spPr/>
      <dgm:t>
        <a:bodyPr/>
        <a:lstStyle/>
        <a:p>
          <a:r>
            <a:rPr lang="de-DE" dirty="0"/>
            <a:t>Corona Pandemie 2020				S. 5</a:t>
          </a:r>
          <a:endParaRPr lang="en-US" dirty="0"/>
        </a:p>
      </dgm:t>
    </dgm:pt>
    <dgm:pt modelId="{C8917BEF-87EA-484A-9AB9-4C7624826849}" type="parTrans" cxnId="{1FAE19C1-69E2-4FE2-88F7-EE332B23FB12}">
      <dgm:prSet/>
      <dgm:spPr/>
      <dgm:t>
        <a:bodyPr/>
        <a:lstStyle/>
        <a:p>
          <a:endParaRPr lang="en-US"/>
        </a:p>
      </dgm:t>
    </dgm:pt>
    <dgm:pt modelId="{21927B0B-61F2-4E88-9D5B-5E478BEAF74D}" type="sibTrans" cxnId="{1FAE19C1-69E2-4FE2-88F7-EE332B23FB12}">
      <dgm:prSet/>
      <dgm:spPr/>
      <dgm:t>
        <a:bodyPr/>
        <a:lstStyle/>
        <a:p>
          <a:endParaRPr lang="en-US"/>
        </a:p>
      </dgm:t>
    </dgm:pt>
    <dgm:pt modelId="{DAB808EF-36E4-44C0-9026-4D136717687A}">
      <dgm:prSet/>
      <dgm:spPr/>
      <dgm:t>
        <a:bodyPr/>
        <a:lstStyle/>
        <a:p>
          <a:r>
            <a:rPr lang="de-DE" dirty="0"/>
            <a:t>Russischer Angriffskrieg auf Ukraine 2022		S. 6</a:t>
          </a:r>
          <a:endParaRPr lang="en-US" dirty="0"/>
        </a:p>
      </dgm:t>
    </dgm:pt>
    <dgm:pt modelId="{21112873-5287-4C49-A075-575929DB6FE4}" type="parTrans" cxnId="{021878A4-D6D7-43F9-B267-EB3D25BF7722}">
      <dgm:prSet/>
      <dgm:spPr/>
      <dgm:t>
        <a:bodyPr/>
        <a:lstStyle/>
        <a:p>
          <a:endParaRPr lang="en-US"/>
        </a:p>
      </dgm:t>
    </dgm:pt>
    <dgm:pt modelId="{9F287503-F4DA-4D21-ACE6-9E9DCC7C1D3D}" type="sibTrans" cxnId="{021878A4-D6D7-43F9-B267-EB3D25BF7722}">
      <dgm:prSet/>
      <dgm:spPr/>
      <dgm:t>
        <a:bodyPr/>
        <a:lstStyle/>
        <a:p>
          <a:endParaRPr lang="en-US"/>
        </a:p>
      </dgm:t>
    </dgm:pt>
    <dgm:pt modelId="{6549D849-4A68-4138-9C7F-F44A39A69C61}">
      <dgm:prSet/>
      <dgm:spPr/>
      <dgm:t>
        <a:bodyPr/>
        <a:lstStyle/>
        <a:p>
          <a:r>
            <a:rPr lang="de-DE"/>
            <a:t>Dashboard					S. 7</a:t>
          </a:r>
          <a:endParaRPr lang="en-US"/>
        </a:p>
      </dgm:t>
    </dgm:pt>
    <dgm:pt modelId="{FD0BC2D3-0460-4DDF-A42C-E9EF3F895803}" type="parTrans" cxnId="{3C869C7E-F236-4DED-B17A-5C6EEFFF2E98}">
      <dgm:prSet/>
      <dgm:spPr/>
      <dgm:t>
        <a:bodyPr/>
        <a:lstStyle/>
        <a:p>
          <a:endParaRPr lang="en-US"/>
        </a:p>
      </dgm:t>
    </dgm:pt>
    <dgm:pt modelId="{FD83B2EE-3F9D-4124-8BEC-A50DF5066E58}" type="sibTrans" cxnId="{3C869C7E-F236-4DED-B17A-5C6EEFFF2E98}">
      <dgm:prSet/>
      <dgm:spPr/>
      <dgm:t>
        <a:bodyPr/>
        <a:lstStyle/>
        <a:p>
          <a:endParaRPr lang="en-US"/>
        </a:p>
      </dgm:t>
    </dgm:pt>
    <dgm:pt modelId="{EBB3BF86-F875-4420-B968-860B7A1A631C}">
      <dgm:prSet/>
      <dgm:spPr/>
      <dgm:t>
        <a:bodyPr/>
        <a:lstStyle/>
        <a:p>
          <a:r>
            <a:rPr lang="de-DE"/>
            <a:t>Zusammenfassung				S. 8</a:t>
          </a:r>
          <a:endParaRPr lang="en-US"/>
        </a:p>
      </dgm:t>
    </dgm:pt>
    <dgm:pt modelId="{4B481212-5B87-4EB3-8EEC-06807EC30074}" type="parTrans" cxnId="{E3C5DB70-F9F5-4566-A39C-7817AE6F1364}">
      <dgm:prSet/>
      <dgm:spPr/>
      <dgm:t>
        <a:bodyPr/>
        <a:lstStyle/>
        <a:p>
          <a:endParaRPr lang="en-US"/>
        </a:p>
      </dgm:t>
    </dgm:pt>
    <dgm:pt modelId="{3D50D2FF-C42B-4869-99E9-9170D929756A}" type="sibTrans" cxnId="{E3C5DB70-F9F5-4566-A39C-7817AE6F1364}">
      <dgm:prSet/>
      <dgm:spPr/>
      <dgm:t>
        <a:bodyPr/>
        <a:lstStyle/>
        <a:p>
          <a:endParaRPr lang="en-US"/>
        </a:p>
      </dgm:t>
    </dgm:pt>
    <dgm:pt modelId="{74B76782-F42B-462F-B3AB-95FD88D0149E}">
      <dgm:prSet/>
      <dgm:spPr/>
      <dgm:t>
        <a:bodyPr/>
        <a:lstStyle/>
        <a:p>
          <a:r>
            <a:rPr lang="de-DE"/>
            <a:t>Überblick Ökonomische Modelle		S. 9-13</a:t>
          </a:r>
          <a:endParaRPr lang="en-US"/>
        </a:p>
      </dgm:t>
    </dgm:pt>
    <dgm:pt modelId="{CFCF6D2E-44F8-4D8D-BF5B-EAF015D0651D}" type="parTrans" cxnId="{9EC676D3-FF00-4E2D-8C23-31DFD36F5809}">
      <dgm:prSet/>
      <dgm:spPr/>
      <dgm:t>
        <a:bodyPr/>
        <a:lstStyle/>
        <a:p>
          <a:endParaRPr lang="en-US"/>
        </a:p>
      </dgm:t>
    </dgm:pt>
    <dgm:pt modelId="{E93B41C7-EF80-4188-910B-4AE8781D0007}" type="sibTrans" cxnId="{9EC676D3-FF00-4E2D-8C23-31DFD36F5809}">
      <dgm:prSet/>
      <dgm:spPr/>
      <dgm:t>
        <a:bodyPr/>
        <a:lstStyle/>
        <a:p>
          <a:endParaRPr lang="en-US"/>
        </a:p>
      </dgm:t>
    </dgm:pt>
    <dgm:pt modelId="{23245F66-2AF1-4C6C-84B2-408AC4E5E970}">
      <dgm:prSet/>
      <dgm:spPr/>
      <dgm:t>
        <a:bodyPr/>
        <a:lstStyle/>
        <a:p>
          <a:r>
            <a:rPr lang="de-DE" dirty="0"/>
            <a:t>IS-LM Modell						S. 9</a:t>
          </a:r>
          <a:endParaRPr lang="en-US" dirty="0"/>
        </a:p>
      </dgm:t>
    </dgm:pt>
    <dgm:pt modelId="{E49FCD3A-9AA9-42B9-8CF6-0894AF1FE3AD}" type="parTrans" cxnId="{91806FD9-B6DF-4F52-B5EF-955BCF2345BA}">
      <dgm:prSet/>
      <dgm:spPr/>
      <dgm:t>
        <a:bodyPr/>
        <a:lstStyle/>
        <a:p>
          <a:endParaRPr lang="en-US"/>
        </a:p>
      </dgm:t>
    </dgm:pt>
    <dgm:pt modelId="{5771F512-D464-465C-A430-419C7E8AAFE0}" type="sibTrans" cxnId="{91806FD9-B6DF-4F52-B5EF-955BCF2345BA}">
      <dgm:prSet/>
      <dgm:spPr/>
      <dgm:t>
        <a:bodyPr/>
        <a:lstStyle/>
        <a:p>
          <a:endParaRPr lang="en-US"/>
        </a:p>
      </dgm:t>
    </dgm:pt>
    <dgm:pt modelId="{A5B19EB8-6222-4889-9C88-90D8880621BA}">
      <dgm:prSet/>
      <dgm:spPr/>
      <dgm:t>
        <a:bodyPr/>
        <a:lstStyle/>
        <a:p>
          <a:r>
            <a:rPr lang="de-DE" dirty="0"/>
            <a:t>Arbeitsmarktmodell					S. 10</a:t>
          </a:r>
          <a:endParaRPr lang="en-US" dirty="0"/>
        </a:p>
      </dgm:t>
    </dgm:pt>
    <dgm:pt modelId="{B5293DDF-7D19-41B7-AF3E-7F81709DB59D}" type="parTrans" cxnId="{A30BEA28-EF3F-42EF-9ECC-6FF48EC79532}">
      <dgm:prSet/>
      <dgm:spPr/>
      <dgm:t>
        <a:bodyPr/>
        <a:lstStyle/>
        <a:p>
          <a:endParaRPr lang="en-US"/>
        </a:p>
      </dgm:t>
    </dgm:pt>
    <dgm:pt modelId="{095332EE-AD9D-43C9-8D3C-0F70B91C592F}" type="sibTrans" cxnId="{A30BEA28-EF3F-42EF-9ECC-6FF48EC79532}">
      <dgm:prSet/>
      <dgm:spPr/>
      <dgm:t>
        <a:bodyPr/>
        <a:lstStyle/>
        <a:p>
          <a:endParaRPr lang="en-US"/>
        </a:p>
      </dgm:t>
    </dgm:pt>
    <dgm:pt modelId="{73517CF7-76A4-4F42-BA34-37704DAA70E4}">
      <dgm:prSet/>
      <dgm:spPr/>
      <dgm:t>
        <a:bodyPr/>
        <a:lstStyle/>
        <a:p>
          <a:r>
            <a:rPr lang="de-DE" dirty="0"/>
            <a:t>AS-AD Modell					S. 11</a:t>
          </a:r>
          <a:endParaRPr lang="en-US" dirty="0"/>
        </a:p>
      </dgm:t>
    </dgm:pt>
    <dgm:pt modelId="{FBB8576F-8770-48E9-A937-CB902FADB4FC}" type="parTrans" cxnId="{385248BB-BF72-4B80-8EA3-7A269EC08747}">
      <dgm:prSet/>
      <dgm:spPr/>
      <dgm:t>
        <a:bodyPr/>
        <a:lstStyle/>
        <a:p>
          <a:endParaRPr lang="en-US"/>
        </a:p>
      </dgm:t>
    </dgm:pt>
    <dgm:pt modelId="{CC7717A2-ED87-43C1-A9EF-661DFD5D325C}" type="sibTrans" cxnId="{385248BB-BF72-4B80-8EA3-7A269EC08747}">
      <dgm:prSet/>
      <dgm:spPr/>
      <dgm:t>
        <a:bodyPr/>
        <a:lstStyle/>
        <a:p>
          <a:endParaRPr lang="en-US"/>
        </a:p>
      </dgm:t>
    </dgm:pt>
    <dgm:pt modelId="{2C6BB9AC-356B-47D4-B6AF-4CDD56DAD31D}">
      <dgm:prSet/>
      <dgm:spPr/>
      <dgm:t>
        <a:bodyPr/>
        <a:lstStyle/>
        <a:p>
          <a:r>
            <a:rPr lang="de-DE" dirty="0"/>
            <a:t>Cobb-Douglas Produktionsfunktion			S. 12</a:t>
          </a:r>
          <a:endParaRPr lang="en-US" dirty="0"/>
        </a:p>
      </dgm:t>
    </dgm:pt>
    <dgm:pt modelId="{5001E8BD-AF34-49F1-9B1A-73EE3D0EE105}" type="parTrans" cxnId="{D993EC5C-E387-4A77-9FE4-70492DC463A3}">
      <dgm:prSet/>
      <dgm:spPr/>
      <dgm:t>
        <a:bodyPr/>
        <a:lstStyle/>
        <a:p>
          <a:endParaRPr lang="en-US"/>
        </a:p>
      </dgm:t>
    </dgm:pt>
    <dgm:pt modelId="{49715237-AF7B-4980-8C65-A5D84522EC1A}" type="sibTrans" cxnId="{D993EC5C-E387-4A77-9FE4-70492DC463A3}">
      <dgm:prSet/>
      <dgm:spPr/>
      <dgm:t>
        <a:bodyPr/>
        <a:lstStyle/>
        <a:p>
          <a:endParaRPr lang="en-US"/>
        </a:p>
      </dgm:t>
    </dgm:pt>
    <dgm:pt modelId="{9575E90D-D0F9-40FC-A874-BA3F52786059}">
      <dgm:prSet/>
      <dgm:spPr/>
      <dgm:t>
        <a:bodyPr/>
        <a:lstStyle/>
        <a:p>
          <a:r>
            <a:rPr lang="de-DE" dirty="0"/>
            <a:t>Geldmarkt						S. 13</a:t>
          </a:r>
          <a:endParaRPr lang="en-US" dirty="0"/>
        </a:p>
      </dgm:t>
    </dgm:pt>
    <dgm:pt modelId="{35659549-AC19-4B72-B5E4-D06D3946BC96}" type="parTrans" cxnId="{726889FA-CB78-4A85-AEA0-3D465DBD9749}">
      <dgm:prSet/>
      <dgm:spPr/>
      <dgm:t>
        <a:bodyPr/>
        <a:lstStyle/>
        <a:p>
          <a:endParaRPr lang="en-US"/>
        </a:p>
      </dgm:t>
    </dgm:pt>
    <dgm:pt modelId="{5C36554C-AA60-41AA-83F8-930D60C958E3}" type="sibTrans" cxnId="{726889FA-CB78-4A85-AEA0-3D465DBD9749}">
      <dgm:prSet/>
      <dgm:spPr/>
      <dgm:t>
        <a:bodyPr/>
        <a:lstStyle/>
        <a:p>
          <a:endParaRPr lang="en-US"/>
        </a:p>
      </dgm:t>
    </dgm:pt>
    <dgm:pt modelId="{20E89A6E-4DFD-4B04-8095-9EC50C78F385}">
      <dgm:prSet/>
      <dgm:spPr/>
      <dgm:t>
        <a:bodyPr/>
        <a:lstStyle/>
        <a:p>
          <a:r>
            <a:rPr lang="de-DE"/>
            <a:t>Ökonomische Analyse				S. 14-22</a:t>
          </a:r>
          <a:endParaRPr lang="en-US"/>
        </a:p>
      </dgm:t>
    </dgm:pt>
    <dgm:pt modelId="{CF5CE438-88E5-4CFA-AEDE-1BC372C6625C}" type="parTrans" cxnId="{077EBAB9-FC82-4100-B599-82CBAFD6BFF7}">
      <dgm:prSet/>
      <dgm:spPr/>
      <dgm:t>
        <a:bodyPr/>
        <a:lstStyle/>
        <a:p>
          <a:endParaRPr lang="en-US"/>
        </a:p>
      </dgm:t>
    </dgm:pt>
    <dgm:pt modelId="{1C89E2DF-4E91-4D44-8605-7F157EDF66ED}" type="sibTrans" cxnId="{077EBAB9-FC82-4100-B599-82CBAFD6BFF7}">
      <dgm:prSet/>
      <dgm:spPr/>
      <dgm:t>
        <a:bodyPr/>
        <a:lstStyle/>
        <a:p>
          <a:endParaRPr lang="en-US"/>
        </a:p>
      </dgm:t>
    </dgm:pt>
    <dgm:pt modelId="{CE25807A-B3A3-40EC-8B44-008D99E820C1}">
      <dgm:prSet/>
      <dgm:spPr/>
      <dgm:t>
        <a:bodyPr/>
        <a:lstStyle/>
        <a:p>
          <a:r>
            <a:rPr lang="de-DE"/>
            <a:t>Straße von Hormuz				S. 23-25</a:t>
          </a:r>
          <a:endParaRPr lang="en-US"/>
        </a:p>
      </dgm:t>
    </dgm:pt>
    <dgm:pt modelId="{0E0CF8E6-D0AB-4B24-9779-D64B135BE7FF}" type="parTrans" cxnId="{1E63D5D8-2BA9-4297-B64F-A0CDE4CAF7D2}">
      <dgm:prSet/>
      <dgm:spPr/>
      <dgm:t>
        <a:bodyPr/>
        <a:lstStyle/>
        <a:p>
          <a:endParaRPr lang="en-US"/>
        </a:p>
      </dgm:t>
    </dgm:pt>
    <dgm:pt modelId="{FE0EB141-11F8-4735-8F30-D3780122D1C6}" type="sibTrans" cxnId="{1E63D5D8-2BA9-4297-B64F-A0CDE4CAF7D2}">
      <dgm:prSet/>
      <dgm:spPr/>
      <dgm:t>
        <a:bodyPr/>
        <a:lstStyle/>
        <a:p>
          <a:endParaRPr lang="en-US"/>
        </a:p>
      </dgm:t>
    </dgm:pt>
    <dgm:pt modelId="{D10933E7-B63D-40AD-83FA-A2DB0278D244}">
      <dgm:prSet/>
      <dgm:spPr/>
      <dgm:t>
        <a:bodyPr/>
        <a:lstStyle/>
        <a:p>
          <a:r>
            <a:rPr lang="de-DE" dirty="0"/>
            <a:t>Fazit						S. 26-28</a:t>
          </a:r>
          <a:endParaRPr lang="en-US" dirty="0"/>
        </a:p>
      </dgm:t>
    </dgm:pt>
    <dgm:pt modelId="{2949990A-ED08-423A-8C7C-901447E1D93E}" type="parTrans" cxnId="{C20693F7-0C19-4437-9BFD-4AC33399D60A}">
      <dgm:prSet/>
      <dgm:spPr/>
      <dgm:t>
        <a:bodyPr/>
        <a:lstStyle/>
        <a:p>
          <a:endParaRPr lang="en-US"/>
        </a:p>
      </dgm:t>
    </dgm:pt>
    <dgm:pt modelId="{6A358F2C-6823-4702-8FBF-B4865A931D40}" type="sibTrans" cxnId="{C20693F7-0C19-4437-9BFD-4AC33399D60A}">
      <dgm:prSet/>
      <dgm:spPr/>
      <dgm:t>
        <a:bodyPr/>
        <a:lstStyle/>
        <a:p>
          <a:endParaRPr lang="en-US"/>
        </a:p>
      </dgm:t>
    </dgm:pt>
    <dgm:pt modelId="{218D8B4E-00B7-4449-8A45-CA6D551A5D0F}" type="pres">
      <dgm:prSet presAssocID="{571CF162-7B81-4BAE-BB98-E340200A44D5}" presName="linear" presStyleCnt="0">
        <dgm:presLayoutVars>
          <dgm:animLvl val="lvl"/>
          <dgm:resizeHandles val="exact"/>
        </dgm:presLayoutVars>
      </dgm:prSet>
      <dgm:spPr/>
    </dgm:pt>
    <dgm:pt modelId="{556AD01D-AC98-48DD-ACA5-358C6E988C0C}" type="pres">
      <dgm:prSet presAssocID="{3485CE59-2CDE-4139-8F71-02933883053E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BA6DB16-4F24-4DD7-A11E-B6B1695A2EEF}" type="pres">
      <dgm:prSet presAssocID="{260BFF91-58FC-4F30-89B3-9CBEC8A544BD}" presName="spacer" presStyleCnt="0"/>
      <dgm:spPr/>
    </dgm:pt>
    <dgm:pt modelId="{80939779-15A8-4B2D-8B4D-F16B9321D590}" type="pres">
      <dgm:prSet presAssocID="{2C9C08AF-048B-423E-AF18-5C2C5D2B81BC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6596CA9-3BEA-4100-B5B5-2D409DCD6709}" type="pres">
      <dgm:prSet presAssocID="{2C9C08AF-048B-423E-AF18-5C2C5D2B81BC}" presName="childText" presStyleLbl="revTx" presStyleIdx="0" presStyleCnt="2">
        <dgm:presLayoutVars>
          <dgm:bulletEnabled val="1"/>
        </dgm:presLayoutVars>
      </dgm:prSet>
      <dgm:spPr/>
    </dgm:pt>
    <dgm:pt modelId="{21CCCA6B-4234-4DC4-B00F-CEB84EBBCD29}" type="pres">
      <dgm:prSet presAssocID="{6549D849-4A68-4138-9C7F-F44A39A69C6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4AA5324-98CA-4972-9EEA-604A38FD6EE6}" type="pres">
      <dgm:prSet presAssocID="{FD83B2EE-3F9D-4124-8BEC-A50DF5066E58}" presName="spacer" presStyleCnt="0"/>
      <dgm:spPr/>
    </dgm:pt>
    <dgm:pt modelId="{D12A9C39-D30E-4564-9DF1-B9A3F15E15B0}" type="pres">
      <dgm:prSet presAssocID="{EBB3BF86-F875-4420-B968-860B7A1A631C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7CA1580-B57A-46C8-B347-5C48923FA221}" type="pres">
      <dgm:prSet presAssocID="{3D50D2FF-C42B-4869-99E9-9170D929756A}" presName="spacer" presStyleCnt="0"/>
      <dgm:spPr/>
    </dgm:pt>
    <dgm:pt modelId="{A56CDE98-BEAD-490E-BC19-A93991063FD8}" type="pres">
      <dgm:prSet presAssocID="{74B76782-F42B-462F-B3AB-95FD88D0149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3995AEC-BCA6-4DFB-A5B6-17A92B65D46A}" type="pres">
      <dgm:prSet presAssocID="{74B76782-F42B-462F-B3AB-95FD88D0149E}" presName="childText" presStyleLbl="revTx" presStyleIdx="1" presStyleCnt="2">
        <dgm:presLayoutVars>
          <dgm:bulletEnabled val="1"/>
        </dgm:presLayoutVars>
      </dgm:prSet>
      <dgm:spPr/>
    </dgm:pt>
    <dgm:pt modelId="{DF4B411A-A371-4E32-8C42-5690B52E7EEE}" type="pres">
      <dgm:prSet presAssocID="{20E89A6E-4DFD-4B04-8095-9EC50C78F38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F296872-80FD-487B-9A93-55B4B6D10B86}" type="pres">
      <dgm:prSet presAssocID="{1C89E2DF-4E91-4D44-8605-7F157EDF66ED}" presName="spacer" presStyleCnt="0"/>
      <dgm:spPr/>
    </dgm:pt>
    <dgm:pt modelId="{D8F758DC-A882-4E88-926E-662570E82C14}" type="pres">
      <dgm:prSet presAssocID="{CE25807A-B3A3-40EC-8B44-008D99E820C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65E783FE-3AAF-4519-BCC1-2A98914FFCF6}" type="pres">
      <dgm:prSet presAssocID="{FE0EB141-11F8-4735-8F30-D3780122D1C6}" presName="spacer" presStyleCnt="0"/>
      <dgm:spPr/>
    </dgm:pt>
    <dgm:pt modelId="{038FC76B-DC06-4ECA-9FBA-B48DC4435ED0}" type="pres">
      <dgm:prSet presAssocID="{D10933E7-B63D-40AD-83FA-A2DB0278D24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DFE2600-CCAD-48F3-95B7-D3847421D20C}" type="presOf" srcId="{EBB3BF86-F875-4420-B968-860B7A1A631C}" destId="{D12A9C39-D30E-4564-9DF1-B9A3F15E15B0}" srcOrd="0" destOrd="0" presId="urn:microsoft.com/office/officeart/2005/8/layout/vList2"/>
    <dgm:cxn modelId="{8B1EF702-26CF-4063-BDAC-EBBF03DE419E}" type="presOf" srcId="{73517CF7-76A4-4F42-BA34-37704DAA70E4}" destId="{23995AEC-BCA6-4DFB-A5B6-17A92B65D46A}" srcOrd="0" destOrd="2" presId="urn:microsoft.com/office/officeart/2005/8/layout/vList2"/>
    <dgm:cxn modelId="{3CB9FA03-5EF5-4AD1-93D4-B127F200BB24}" type="presOf" srcId="{A5B19EB8-6222-4889-9C88-90D8880621BA}" destId="{23995AEC-BCA6-4DFB-A5B6-17A92B65D46A}" srcOrd="0" destOrd="1" presId="urn:microsoft.com/office/officeart/2005/8/layout/vList2"/>
    <dgm:cxn modelId="{0D6CA006-980D-4B20-9EE3-FCC4C05D9253}" srcId="{2C9C08AF-048B-423E-AF18-5C2C5D2B81BC}" destId="{E4151F12-8E7E-4061-983F-755DAE83CDEA}" srcOrd="0" destOrd="0" parTransId="{96FA1345-3D41-42ED-A4BE-F1FB619979C0}" sibTransId="{8728B647-35D4-411B-8C62-91CFBC26BFF9}"/>
    <dgm:cxn modelId="{A30BEA28-EF3F-42EF-9ECC-6FF48EC79532}" srcId="{74B76782-F42B-462F-B3AB-95FD88D0149E}" destId="{A5B19EB8-6222-4889-9C88-90D8880621BA}" srcOrd="1" destOrd="0" parTransId="{B5293DDF-7D19-41B7-AF3E-7F81709DB59D}" sibTransId="{095332EE-AD9D-43C9-8D3C-0F70B91C592F}"/>
    <dgm:cxn modelId="{673B6E37-BB08-47EC-A44E-F0314A898FFF}" type="presOf" srcId="{CE25807A-B3A3-40EC-8B44-008D99E820C1}" destId="{D8F758DC-A882-4E88-926E-662570E82C14}" srcOrd="0" destOrd="0" presId="urn:microsoft.com/office/officeart/2005/8/layout/vList2"/>
    <dgm:cxn modelId="{D993EC5C-E387-4A77-9FE4-70492DC463A3}" srcId="{74B76782-F42B-462F-B3AB-95FD88D0149E}" destId="{2C6BB9AC-356B-47D4-B6AF-4CDD56DAD31D}" srcOrd="3" destOrd="0" parTransId="{5001E8BD-AF34-49F1-9B1A-73EE3D0EE105}" sibTransId="{49715237-AF7B-4980-8C65-A5D84522EC1A}"/>
    <dgm:cxn modelId="{93235D6A-F3E3-40C1-BE8E-0324C64E27CB}" type="presOf" srcId="{74B76782-F42B-462F-B3AB-95FD88D0149E}" destId="{A56CDE98-BEAD-490E-BC19-A93991063FD8}" srcOrd="0" destOrd="0" presId="urn:microsoft.com/office/officeart/2005/8/layout/vList2"/>
    <dgm:cxn modelId="{83C2D64F-F592-41AF-8AE1-BD9961979F24}" type="presOf" srcId="{9575E90D-D0F9-40FC-A874-BA3F52786059}" destId="{23995AEC-BCA6-4DFB-A5B6-17A92B65D46A}" srcOrd="0" destOrd="4" presId="urn:microsoft.com/office/officeart/2005/8/layout/vList2"/>
    <dgm:cxn modelId="{E3C5DB70-F9F5-4566-A39C-7817AE6F1364}" srcId="{571CF162-7B81-4BAE-BB98-E340200A44D5}" destId="{EBB3BF86-F875-4420-B968-860B7A1A631C}" srcOrd="3" destOrd="0" parTransId="{4B481212-5B87-4EB3-8EEC-06807EC30074}" sibTransId="{3D50D2FF-C42B-4869-99E9-9170D929756A}"/>
    <dgm:cxn modelId="{F1D60F73-2E0E-4E9D-8954-B39F3266A9A6}" type="presOf" srcId="{571CF162-7B81-4BAE-BB98-E340200A44D5}" destId="{218D8B4E-00B7-4449-8A45-CA6D551A5D0F}" srcOrd="0" destOrd="0" presId="urn:microsoft.com/office/officeart/2005/8/layout/vList2"/>
    <dgm:cxn modelId="{3C869C7E-F236-4DED-B17A-5C6EEFFF2E98}" srcId="{571CF162-7B81-4BAE-BB98-E340200A44D5}" destId="{6549D849-4A68-4138-9C7F-F44A39A69C61}" srcOrd="2" destOrd="0" parTransId="{FD0BC2D3-0460-4DDF-A42C-E9EF3F895803}" sibTransId="{FD83B2EE-3F9D-4124-8BEC-A50DF5066E58}"/>
    <dgm:cxn modelId="{57B8098E-0827-4AD9-82E6-D917FEED8AAF}" type="presOf" srcId="{2C6BB9AC-356B-47D4-B6AF-4CDD56DAD31D}" destId="{23995AEC-BCA6-4DFB-A5B6-17A92B65D46A}" srcOrd="0" destOrd="3" presId="urn:microsoft.com/office/officeart/2005/8/layout/vList2"/>
    <dgm:cxn modelId="{BB461C97-2A00-48DA-95E2-3E6E552BF523}" srcId="{571CF162-7B81-4BAE-BB98-E340200A44D5}" destId="{2C9C08AF-048B-423E-AF18-5C2C5D2B81BC}" srcOrd="1" destOrd="0" parTransId="{C6B71625-CC80-44AD-BE8B-7B65C5794806}" sibTransId="{484DDB08-3629-4AD7-B22C-6D7A20F1C918}"/>
    <dgm:cxn modelId="{021878A4-D6D7-43F9-B267-EB3D25BF7722}" srcId="{2C9C08AF-048B-423E-AF18-5C2C5D2B81BC}" destId="{DAB808EF-36E4-44C0-9026-4D136717687A}" srcOrd="2" destOrd="0" parTransId="{21112873-5287-4C49-A075-575929DB6FE4}" sibTransId="{9F287503-F4DA-4D21-ACE6-9E9DCC7C1D3D}"/>
    <dgm:cxn modelId="{D4345DAD-9601-4EB5-8B32-8D5FFD246E18}" type="presOf" srcId="{23245F66-2AF1-4C6C-84B2-408AC4E5E970}" destId="{23995AEC-BCA6-4DFB-A5B6-17A92B65D46A}" srcOrd="0" destOrd="0" presId="urn:microsoft.com/office/officeart/2005/8/layout/vList2"/>
    <dgm:cxn modelId="{825B51B3-315C-4B2A-B1F1-62869C3D429D}" type="presOf" srcId="{8EA56D91-21C5-42CE-8D70-820D119CB69E}" destId="{56596CA9-3BEA-4100-B5B5-2D409DCD6709}" srcOrd="0" destOrd="1" presId="urn:microsoft.com/office/officeart/2005/8/layout/vList2"/>
    <dgm:cxn modelId="{86885DB9-E210-4040-B925-2BD90A839273}" srcId="{571CF162-7B81-4BAE-BB98-E340200A44D5}" destId="{3485CE59-2CDE-4139-8F71-02933883053E}" srcOrd="0" destOrd="0" parTransId="{32EF4124-0D90-4C65-B6D1-44E008F44089}" sibTransId="{260BFF91-58FC-4F30-89B3-9CBEC8A544BD}"/>
    <dgm:cxn modelId="{077EBAB9-FC82-4100-B599-82CBAFD6BFF7}" srcId="{571CF162-7B81-4BAE-BB98-E340200A44D5}" destId="{20E89A6E-4DFD-4B04-8095-9EC50C78F385}" srcOrd="5" destOrd="0" parTransId="{CF5CE438-88E5-4CFA-AEDE-1BC372C6625C}" sibTransId="{1C89E2DF-4E91-4D44-8605-7F157EDF66ED}"/>
    <dgm:cxn modelId="{385248BB-BF72-4B80-8EA3-7A269EC08747}" srcId="{74B76782-F42B-462F-B3AB-95FD88D0149E}" destId="{73517CF7-76A4-4F42-BA34-37704DAA70E4}" srcOrd="2" destOrd="0" parTransId="{FBB8576F-8770-48E9-A937-CB902FADB4FC}" sibTransId="{CC7717A2-ED87-43C1-A9EF-661DFD5D325C}"/>
    <dgm:cxn modelId="{1FAE19C1-69E2-4FE2-88F7-EE332B23FB12}" srcId="{2C9C08AF-048B-423E-AF18-5C2C5D2B81BC}" destId="{8EA56D91-21C5-42CE-8D70-820D119CB69E}" srcOrd="1" destOrd="0" parTransId="{C8917BEF-87EA-484A-9AB9-4C7624826849}" sibTransId="{21927B0B-61F2-4E88-9D5B-5E478BEAF74D}"/>
    <dgm:cxn modelId="{5EAF36CD-3361-4EA9-ABFA-58B615808A48}" type="presOf" srcId="{D10933E7-B63D-40AD-83FA-A2DB0278D244}" destId="{038FC76B-DC06-4ECA-9FBA-B48DC4435ED0}" srcOrd="0" destOrd="0" presId="urn:microsoft.com/office/officeart/2005/8/layout/vList2"/>
    <dgm:cxn modelId="{521513D2-178D-4674-8780-3A96F8251682}" type="presOf" srcId="{3485CE59-2CDE-4139-8F71-02933883053E}" destId="{556AD01D-AC98-48DD-ACA5-358C6E988C0C}" srcOrd="0" destOrd="0" presId="urn:microsoft.com/office/officeart/2005/8/layout/vList2"/>
    <dgm:cxn modelId="{D1FF74D2-50D3-499C-A0D1-E512B9FBD6C7}" type="presOf" srcId="{DAB808EF-36E4-44C0-9026-4D136717687A}" destId="{56596CA9-3BEA-4100-B5B5-2D409DCD6709}" srcOrd="0" destOrd="2" presId="urn:microsoft.com/office/officeart/2005/8/layout/vList2"/>
    <dgm:cxn modelId="{9EC676D3-FF00-4E2D-8C23-31DFD36F5809}" srcId="{571CF162-7B81-4BAE-BB98-E340200A44D5}" destId="{74B76782-F42B-462F-B3AB-95FD88D0149E}" srcOrd="4" destOrd="0" parTransId="{CFCF6D2E-44F8-4D8D-BF5B-EAF015D0651D}" sibTransId="{E93B41C7-EF80-4188-910B-4AE8781D0007}"/>
    <dgm:cxn modelId="{4D28E6D7-922B-4286-AE09-FD361D64751B}" type="presOf" srcId="{20E89A6E-4DFD-4B04-8095-9EC50C78F385}" destId="{DF4B411A-A371-4E32-8C42-5690B52E7EEE}" srcOrd="0" destOrd="0" presId="urn:microsoft.com/office/officeart/2005/8/layout/vList2"/>
    <dgm:cxn modelId="{1E63D5D8-2BA9-4297-B64F-A0CDE4CAF7D2}" srcId="{571CF162-7B81-4BAE-BB98-E340200A44D5}" destId="{CE25807A-B3A3-40EC-8B44-008D99E820C1}" srcOrd="6" destOrd="0" parTransId="{0E0CF8E6-D0AB-4B24-9779-D64B135BE7FF}" sibTransId="{FE0EB141-11F8-4735-8F30-D3780122D1C6}"/>
    <dgm:cxn modelId="{91806FD9-B6DF-4F52-B5EF-955BCF2345BA}" srcId="{74B76782-F42B-462F-B3AB-95FD88D0149E}" destId="{23245F66-2AF1-4C6C-84B2-408AC4E5E970}" srcOrd="0" destOrd="0" parTransId="{E49FCD3A-9AA9-42B9-8CF6-0894AF1FE3AD}" sibTransId="{5771F512-D464-465C-A430-419C7E8AAFE0}"/>
    <dgm:cxn modelId="{6688BBDF-8F92-4C48-B5CD-40158DA790BD}" type="presOf" srcId="{6549D849-4A68-4138-9C7F-F44A39A69C61}" destId="{21CCCA6B-4234-4DC4-B00F-CEB84EBBCD29}" srcOrd="0" destOrd="0" presId="urn:microsoft.com/office/officeart/2005/8/layout/vList2"/>
    <dgm:cxn modelId="{C95573E8-0180-4E20-AE79-954D8A827D2C}" type="presOf" srcId="{2C9C08AF-048B-423E-AF18-5C2C5D2B81BC}" destId="{80939779-15A8-4B2D-8B4D-F16B9321D590}" srcOrd="0" destOrd="0" presId="urn:microsoft.com/office/officeart/2005/8/layout/vList2"/>
    <dgm:cxn modelId="{A305AFEC-2462-44F6-91BB-D756606017FF}" type="presOf" srcId="{E4151F12-8E7E-4061-983F-755DAE83CDEA}" destId="{56596CA9-3BEA-4100-B5B5-2D409DCD6709}" srcOrd="0" destOrd="0" presId="urn:microsoft.com/office/officeart/2005/8/layout/vList2"/>
    <dgm:cxn modelId="{C20693F7-0C19-4437-9BFD-4AC33399D60A}" srcId="{571CF162-7B81-4BAE-BB98-E340200A44D5}" destId="{D10933E7-B63D-40AD-83FA-A2DB0278D244}" srcOrd="7" destOrd="0" parTransId="{2949990A-ED08-423A-8C7C-901447E1D93E}" sibTransId="{6A358F2C-6823-4702-8FBF-B4865A931D40}"/>
    <dgm:cxn modelId="{726889FA-CB78-4A85-AEA0-3D465DBD9749}" srcId="{74B76782-F42B-462F-B3AB-95FD88D0149E}" destId="{9575E90D-D0F9-40FC-A874-BA3F52786059}" srcOrd="4" destOrd="0" parTransId="{35659549-AC19-4B72-B5E4-D06D3946BC96}" sibTransId="{5C36554C-AA60-41AA-83F8-930D60C958E3}"/>
    <dgm:cxn modelId="{E1EF4537-AFF7-46D7-9C05-692B3594389F}" type="presParOf" srcId="{218D8B4E-00B7-4449-8A45-CA6D551A5D0F}" destId="{556AD01D-AC98-48DD-ACA5-358C6E988C0C}" srcOrd="0" destOrd="0" presId="urn:microsoft.com/office/officeart/2005/8/layout/vList2"/>
    <dgm:cxn modelId="{C1CFE5BE-9586-46A3-8B3A-FA9A587A8A16}" type="presParOf" srcId="{218D8B4E-00B7-4449-8A45-CA6D551A5D0F}" destId="{EBA6DB16-4F24-4DD7-A11E-B6B1695A2EEF}" srcOrd="1" destOrd="0" presId="urn:microsoft.com/office/officeart/2005/8/layout/vList2"/>
    <dgm:cxn modelId="{6594DC38-96A3-4F1A-8414-95079B5F7D07}" type="presParOf" srcId="{218D8B4E-00B7-4449-8A45-CA6D551A5D0F}" destId="{80939779-15A8-4B2D-8B4D-F16B9321D590}" srcOrd="2" destOrd="0" presId="urn:microsoft.com/office/officeart/2005/8/layout/vList2"/>
    <dgm:cxn modelId="{53E9F6FA-08E8-4FA8-8471-672FCAE2D087}" type="presParOf" srcId="{218D8B4E-00B7-4449-8A45-CA6D551A5D0F}" destId="{56596CA9-3BEA-4100-B5B5-2D409DCD6709}" srcOrd="3" destOrd="0" presId="urn:microsoft.com/office/officeart/2005/8/layout/vList2"/>
    <dgm:cxn modelId="{2D7C229F-B73C-4CAC-B0AA-2CD053CB55F5}" type="presParOf" srcId="{218D8B4E-00B7-4449-8A45-CA6D551A5D0F}" destId="{21CCCA6B-4234-4DC4-B00F-CEB84EBBCD29}" srcOrd="4" destOrd="0" presId="urn:microsoft.com/office/officeart/2005/8/layout/vList2"/>
    <dgm:cxn modelId="{DCCB05B6-D9EB-4BAC-B9C4-C0665175E76B}" type="presParOf" srcId="{218D8B4E-00B7-4449-8A45-CA6D551A5D0F}" destId="{C4AA5324-98CA-4972-9EEA-604A38FD6EE6}" srcOrd="5" destOrd="0" presId="urn:microsoft.com/office/officeart/2005/8/layout/vList2"/>
    <dgm:cxn modelId="{2DFF5C00-EB70-446B-9026-1D608B8B71B0}" type="presParOf" srcId="{218D8B4E-00B7-4449-8A45-CA6D551A5D0F}" destId="{D12A9C39-D30E-4564-9DF1-B9A3F15E15B0}" srcOrd="6" destOrd="0" presId="urn:microsoft.com/office/officeart/2005/8/layout/vList2"/>
    <dgm:cxn modelId="{3E1D5EDB-D467-4D5F-B84D-B0844FA1BD25}" type="presParOf" srcId="{218D8B4E-00B7-4449-8A45-CA6D551A5D0F}" destId="{A7CA1580-B57A-46C8-B347-5C48923FA221}" srcOrd="7" destOrd="0" presId="urn:microsoft.com/office/officeart/2005/8/layout/vList2"/>
    <dgm:cxn modelId="{C00342FA-FAA6-4171-916E-81213317472B}" type="presParOf" srcId="{218D8B4E-00B7-4449-8A45-CA6D551A5D0F}" destId="{A56CDE98-BEAD-490E-BC19-A93991063FD8}" srcOrd="8" destOrd="0" presId="urn:microsoft.com/office/officeart/2005/8/layout/vList2"/>
    <dgm:cxn modelId="{154103A6-B32B-4874-BCF5-96F2D11C0697}" type="presParOf" srcId="{218D8B4E-00B7-4449-8A45-CA6D551A5D0F}" destId="{23995AEC-BCA6-4DFB-A5B6-17A92B65D46A}" srcOrd="9" destOrd="0" presId="urn:microsoft.com/office/officeart/2005/8/layout/vList2"/>
    <dgm:cxn modelId="{D674E02F-30A2-4F98-B6F0-7519AFBD889C}" type="presParOf" srcId="{218D8B4E-00B7-4449-8A45-CA6D551A5D0F}" destId="{DF4B411A-A371-4E32-8C42-5690B52E7EEE}" srcOrd="10" destOrd="0" presId="urn:microsoft.com/office/officeart/2005/8/layout/vList2"/>
    <dgm:cxn modelId="{C772C360-DA31-470C-BA2F-C3E43A9A929E}" type="presParOf" srcId="{218D8B4E-00B7-4449-8A45-CA6D551A5D0F}" destId="{0F296872-80FD-487B-9A93-55B4B6D10B86}" srcOrd="11" destOrd="0" presId="urn:microsoft.com/office/officeart/2005/8/layout/vList2"/>
    <dgm:cxn modelId="{EC8CCEC7-E7EB-49B8-838A-BC734127762B}" type="presParOf" srcId="{218D8B4E-00B7-4449-8A45-CA6D551A5D0F}" destId="{D8F758DC-A882-4E88-926E-662570E82C14}" srcOrd="12" destOrd="0" presId="urn:microsoft.com/office/officeart/2005/8/layout/vList2"/>
    <dgm:cxn modelId="{03428A98-90F7-46C6-ADD6-8B5EDEF793D9}" type="presParOf" srcId="{218D8B4E-00B7-4449-8A45-CA6D551A5D0F}" destId="{65E783FE-3AAF-4519-BCC1-2A98914FFCF6}" srcOrd="13" destOrd="0" presId="urn:microsoft.com/office/officeart/2005/8/layout/vList2"/>
    <dgm:cxn modelId="{58F9CE52-1EAE-48FB-8E98-7EA2F767E623}" type="presParOf" srcId="{218D8B4E-00B7-4449-8A45-CA6D551A5D0F}" destId="{038FC76B-DC06-4ECA-9FBA-B48DC4435ED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70A7A5-F03C-4F7F-BCB8-CA85BF31496B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376445D-C8B0-43D0-B5BA-5CB0AE40B290}">
      <dgm:prSet/>
      <dgm:spPr/>
      <dgm:t>
        <a:bodyPr/>
        <a:lstStyle/>
        <a:p>
          <a:r>
            <a:rPr lang="de-DE"/>
            <a:t>USA Immobilien Blase platzt, Lehmon Brothers geht pleite</a:t>
          </a:r>
          <a:endParaRPr lang="en-US"/>
        </a:p>
      </dgm:t>
    </dgm:pt>
    <dgm:pt modelId="{26176999-F28C-4171-AC3D-45728BB14CF1}" type="parTrans" cxnId="{93EED4E7-CBB3-4E8C-90A1-64BFE82811D8}">
      <dgm:prSet/>
      <dgm:spPr/>
      <dgm:t>
        <a:bodyPr/>
        <a:lstStyle/>
        <a:p>
          <a:endParaRPr lang="en-US"/>
        </a:p>
      </dgm:t>
    </dgm:pt>
    <dgm:pt modelId="{D539EE63-B7EF-44A3-841D-8EA7523B1591}" type="sibTrans" cxnId="{93EED4E7-CBB3-4E8C-90A1-64BFE82811D8}">
      <dgm:prSet phldrT="01"/>
      <dgm:spPr/>
      <dgm:t>
        <a:bodyPr/>
        <a:lstStyle/>
        <a:p>
          <a:endParaRPr lang="en-US"/>
        </a:p>
      </dgm:t>
    </dgm:pt>
    <dgm:pt modelId="{3B1AAF29-7036-410E-8AB4-745AF7559AE8}">
      <dgm:prSet/>
      <dgm:spPr/>
      <dgm:t>
        <a:bodyPr/>
        <a:lstStyle/>
        <a:p>
          <a:r>
            <a:rPr lang="de-DE"/>
            <a:t>Weltweite Spill Over Effekte sorgen für eine Reihe der Firmeninsolvenzen</a:t>
          </a:r>
          <a:endParaRPr lang="en-US"/>
        </a:p>
      </dgm:t>
    </dgm:pt>
    <dgm:pt modelId="{3DEE3A78-AB52-40AB-AA13-B139A782DDAE}" type="parTrans" cxnId="{E4B65AB3-92E0-4952-935E-60BD5CC8E565}">
      <dgm:prSet/>
      <dgm:spPr/>
      <dgm:t>
        <a:bodyPr/>
        <a:lstStyle/>
        <a:p>
          <a:endParaRPr lang="en-US"/>
        </a:p>
      </dgm:t>
    </dgm:pt>
    <dgm:pt modelId="{6FE9791C-1FFF-44C1-A804-AF34896CE7F4}" type="sibTrans" cxnId="{E4B65AB3-92E0-4952-935E-60BD5CC8E565}">
      <dgm:prSet phldrT="02"/>
      <dgm:spPr/>
      <dgm:t>
        <a:bodyPr/>
        <a:lstStyle/>
        <a:p>
          <a:endParaRPr lang="en-US"/>
        </a:p>
      </dgm:t>
    </dgm:pt>
    <dgm:pt modelId="{45EDF1AD-A994-4A60-9F92-C5F03FA61A6F}">
      <dgm:prSet/>
      <dgm:spPr/>
      <dgm:t>
        <a:bodyPr/>
        <a:lstStyle/>
        <a:p>
          <a:r>
            <a:rPr lang="de-DE"/>
            <a:t>Staatliche Garantien stabilisieren die Finanzmärkte in Europa</a:t>
          </a:r>
          <a:endParaRPr lang="en-US"/>
        </a:p>
      </dgm:t>
    </dgm:pt>
    <dgm:pt modelId="{6149ED1E-C348-4358-9B40-EE3CA9AEC896}" type="parTrans" cxnId="{4C74B032-5907-4F5D-A982-0E54963C241A}">
      <dgm:prSet/>
      <dgm:spPr/>
      <dgm:t>
        <a:bodyPr/>
        <a:lstStyle/>
        <a:p>
          <a:endParaRPr lang="en-US"/>
        </a:p>
      </dgm:t>
    </dgm:pt>
    <dgm:pt modelId="{F842B83D-704C-4273-983A-E45C0C98A6DB}" type="sibTrans" cxnId="{4C74B032-5907-4F5D-A982-0E54963C241A}">
      <dgm:prSet phldrT="03"/>
      <dgm:spPr/>
      <dgm:t>
        <a:bodyPr/>
        <a:lstStyle/>
        <a:p>
          <a:endParaRPr lang="en-US"/>
        </a:p>
      </dgm:t>
    </dgm:pt>
    <dgm:pt modelId="{2F73EDBA-D26F-418C-B0C8-E468892DF8B9}" type="pres">
      <dgm:prSet presAssocID="{0F70A7A5-F03C-4F7F-BCB8-CA85BF31496B}" presName="linear" presStyleCnt="0">
        <dgm:presLayoutVars>
          <dgm:animLvl val="lvl"/>
          <dgm:resizeHandles val="exact"/>
        </dgm:presLayoutVars>
      </dgm:prSet>
      <dgm:spPr/>
    </dgm:pt>
    <dgm:pt modelId="{138F1EF0-ABCF-43EC-8AC7-968AD0B89382}" type="pres">
      <dgm:prSet presAssocID="{7376445D-C8B0-43D0-B5BA-5CB0AE40B2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BBFC765-CA97-408E-822E-96E47E418FD4}" type="pres">
      <dgm:prSet presAssocID="{D539EE63-B7EF-44A3-841D-8EA7523B1591}" presName="spacer" presStyleCnt="0"/>
      <dgm:spPr/>
    </dgm:pt>
    <dgm:pt modelId="{BEAEBC4D-028F-4F30-885C-E8C0E04A1D7F}" type="pres">
      <dgm:prSet presAssocID="{3B1AAF29-7036-410E-8AB4-745AF7559A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56CFB6-5C9C-461E-929A-75F54A4CC46A}" type="pres">
      <dgm:prSet presAssocID="{6FE9791C-1FFF-44C1-A804-AF34896CE7F4}" presName="spacer" presStyleCnt="0"/>
      <dgm:spPr/>
    </dgm:pt>
    <dgm:pt modelId="{DE71E523-DCB5-4CBD-82F4-CA3F44C90615}" type="pres">
      <dgm:prSet presAssocID="{45EDF1AD-A994-4A60-9F92-C5F03FA61A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74B032-5907-4F5D-A982-0E54963C241A}" srcId="{0F70A7A5-F03C-4F7F-BCB8-CA85BF31496B}" destId="{45EDF1AD-A994-4A60-9F92-C5F03FA61A6F}" srcOrd="2" destOrd="0" parTransId="{6149ED1E-C348-4358-9B40-EE3CA9AEC896}" sibTransId="{F842B83D-704C-4273-983A-E45C0C98A6DB}"/>
    <dgm:cxn modelId="{866FAB54-DB29-4E76-A801-840389A59924}" type="presOf" srcId="{3B1AAF29-7036-410E-8AB4-745AF7559AE8}" destId="{BEAEBC4D-028F-4F30-885C-E8C0E04A1D7F}" srcOrd="0" destOrd="0" presId="urn:microsoft.com/office/officeart/2005/8/layout/vList2"/>
    <dgm:cxn modelId="{48610E59-18D1-4F4C-8AF4-444FCCB3FAB1}" type="presOf" srcId="{7376445D-C8B0-43D0-B5BA-5CB0AE40B290}" destId="{138F1EF0-ABCF-43EC-8AC7-968AD0B89382}" srcOrd="0" destOrd="0" presId="urn:microsoft.com/office/officeart/2005/8/layout/vList2"/>
    <dgm:cxn modelId="{C12851A9-FDAE-4F26-A44F-065AB732B1DD}" type="presOf" srcId="{0F70A7A5-F03C-4F7F-BCB8-CA85BF31496B}" destId="{2F73EDBA-D26F-418C-B0C8-E468892DF8B9}" srcOrd="0" destOrd="0" presId="urn:microsoft.com/office/officeart/2005/8/layout/vList2"/>
    <dgm:cxn modelId="{E4B65AB3-92E0-4952-935E-60BD5CC8E565}" srcId="{0F70A7A5-F03C-4F7F-BCB8-CA85BF31496B}" destId="{3B1AAF29-7036-410E-8AB4-745AF7559AE8}" srcOrd="1" destOrd="0" parTransId="{3DEE3A78-AB52-40AB-AA13-B139A782DDAE}" sibTransId="{6FE9791C-1FFF-44C1-A804-AF34896CE7F4}"/>
    <dgm:cxn modelId="{727EF1D3-AF7B-4C41-897D-EFC626E983B3}" type="presOf" srcId="{45EDF1AD-A994-4A60-9F92-C5F03FA61A6F}" destId="{DE71E523-DCB5-4CBD-82F4-CA3F44C90615}" srcOrd="0" destOrd="0" presId="urn:microsoft.com/office/officeart/2005/8/layout/vList2"/>
    <dgm:cxn modelId="{93EED4E7-CBB3-4E8C-90A1-64BFE82811D8}" srcId="{0F70A7A5-F03C-4F7F-BCB8-CA85BF31496B}" destId="{7376445D-C8B0-43D0-B5BA-5CB0AE40B290}" srcOrd="0" destOrd="0" parTransId="{26176999-F28C-4171-AC3D-45728BB14CF1}" sibTransId="{D539EE63-B7EF-44A3-841D-8EA7523B1591}"/>
    <dgm:cxn modelId="{CAAB01C9-2FCD-469E-A7CC-F9AD9F08465B}" type="presParOf" srcId="{2F73EDBA-D26F-418C-B0C8-E468892DF8B9}" destId="{138F1EF0-ABCF-43EC-8AC7-968AD0B89382}" srcOrd="0" destOrd="0" presId="urn:microsoft.com/office/officeart/2005/8/layout/vList2"/>
    <dgm:cxn modelId="{3B4897AB-B598-4F0D-AA29-E25FF4EB57EB}" type="presParOf" srcId="{2F73EDBA-D26F-418C-B0C8-E468892DF8B9}" destId="{8BBFC765-CA97-408E-822E-96E47E418FD4}" srcOrd="1" destOrd="0" presId="urn:microsoft.com/office/officeart/2005/8/layout/vList2"/>
    <dgm:cxn modelId="{89EDC8EC-1A5A-4EB4-9F3E-560235064D08}" type="presParOf" srcId="{2F73EDBA-D26F-418C-B0C8-E468892DF8B9}" destId="{BEAEBC4D-028F-4F30-885C-E8C0E04A1D7F}" srcOrd="2" destOrd="0" presId="urn:microsoft.com/office/officeart/2005/8/layout/vList2"/>
    <dgm:cxn modelId="{9CC4F7E6-58BF-409A-9481-2B87D2F36C66}" type="presParOf" srcId="{2F73EDBA-D26F-418C-B0C8-E468892DF8B9}" destId="{FD56CFB6-5C9C-461E-929A-75F54A4CC46A}" srcOrd="3" destOrd="0" presId="urn:microsoft.com/office/officeart/2005/8/layout/vList2"/>
    <dgm:cxn modelId="{1BD3F69F-A986-46BD-9BFC-0CC85FC7D4E8}" type="presParOf" srcId="{2F73EDBA-D26F-418C-B0C8-E468892DF8B9}" destId="{DE71E523-DCB5-4CBD-82F4-CA3F44C9061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2B6FF2-273A-4632-930E-CB7AC83C2528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6867F27-7FC1-4637-B86A-4A10F57ADD5B}">
      <dgm:prSet/>
      <dgm:spPr/>
      <dgm:t>
        <a:bodyPr/>
        <a:lstStyle/>
        <a:p>
          <a:r>
            <a:rPr lang="de-DE" dirty="0"/>
            <a:t>Januar 2020: Neuartiges tödliches Virus breitet sich aus</a:t>
          </a:r>
          <a:endParaRPr lang="en-US" dirty="0"/>
        </a:p>
      </dgm:t>
    </dgm:pt>
    <dgm:pt modelId="{94CFE3B8-8538-4EB0-9DBA-A3387AB8A1FF}" type="parTrans" cxnId="{AA42E62A-B6B2-4CF4-AEC1-CB4C8C0C52E8}">
      <dgm:prSet/>
      <dgm:spPr/>
      <dgm:t>
        <a:bodyPr/>
        <a:lstStyle/>
        <a:p>
          <a:endParaRPr lang="en-US"/>
        </a:p>
      </dgm:t>
    </dgm:pt>
    <dgm:pt modelId="{F9B90103-001A-4C76-AD59-672D1A9D6D96}" type="sibTrans" cxnId="{AA42E62A-B6B2-4CF4-AEC1-CB4C8C0C52E8}">
      <dgm:prSet/>
      <dgm:spPr/>
      <dgm:t>
        <a:bodyPr/>
        <a:lstStyle/>
        <a:p>
          <a:endParaRPr lang="en-US"/>
        </a:p>
      </dgm:t>
    </dgm:pt>
    <dgm:pt modelId="{0FB8B18F-B91D-476B-9A78-0492CE276B55}">
      <dgm:prSet/>
      <dgm:spPr/>
      <dgm:t>
        <a:bodyPr/>
        <a:lstStyle/>
        <a:p>
          <a:r>
            <a:rPr lang="de-DE" dirty="0"/>
            <a:t>Lock Downs und Reiseeinschränkungen</a:t>
          </a:r>
          <a:endParaRPr lang="en-US" dirty="0"/>
        </a:p>
      </dgm:t>
    </dgm:pt>
    <dgm:pt modelId="{DBF4DFC4-035D-4C6C-8476-989A438406CD}" type="parTrans" cxnId="{750DD7DB-47FC-493F-8D51-09699E325AC1}">
      <dgm:prSet/>
      <dgm:spPr/>
      <dgm:t>
        <a:bodyPr/>
        <a:lstStyle/>
        <a:p>
          <a:endParaRPr lang="en-US"/>
        </a:p>
      </dgm:t>
    </dgm:pt>
    <dgm:pt modelId="{2F5FAF3B-6DAF-477E-9FCF-695276F12208}" type="sibTrans" cxnId="{750DD7DB-47FC-493F-8D51-09699E325AC1}">
      <dgm:prSet/>
      <dgm:spPr/>
      <dgm:t>
        <a:bodyPr/>
        <a:lstStyle/>
        <a:p>
          <a:endParaRPr lang="en-US"/>
        </a:p>
      </dgm:t>
    </dgm:pt>
    <dgm:pt modelId="{5A3CB591-373A-49A5-A421-DAFC567F6585}">
      <dgm:prSet/>
      <dgm:spPr/>
      <dgm:t>
        <a:bodyPr/>
        <a:lstStyle/>
        <a:p>
          <a:r>
            <a:rPr lang="de-DE" dirty="0"/>
            <a:t>Dezember 2020: </a:t>
          </a:r>
          <a:r>
            <a:rPr lang="de-DE" dirty="0" err="1"/>
            <a:t>Biontech</a:t>
          </a:r>
          <a:r>
            <a:rPr lang="de-DE" dirty="0"/>
            <a:t>/Pfizer Impfung kommt auf den Markt</a:t>
          </a:r>
          <a:endParaRPr lang="en-US" dirty="0"/>
        </a:p>
      </dgm:t>
    </dgm:pt>
    <dgm:pt modelId="{7A762D8C-FFA3-4FF0-86D1-C94AD71269E9}" type="parTrans" cxnId="{A6B643FA-4BF0-4870-9C8B-4A61923C4DD9}">
      <dgm:prSet/>
      <dgm:spPr/>
      <dgm:t>
        <a:bodyPr/>
        <a:lstStyle/>
        <a:p>
          <a:endParaRPr lang="en-US"/>
        </a:p>
      </dgm:t>
    </dgm:pt>
    <dgm:pt modelId="{1B74D9A2-C654-45D9-A5B1-37F18119CF9F}" type="sibTrans" cxnId="{A6B643FA-4BF0-4870-9C8B-4A61923C4DD9}">
      <dgm:prSet/>
      <dgm:spPr/>
      <dgm:t>
        <a:bodyPr/>
        <a:lstStyle/>
        <a:p>
          <a:endParaRPr lang="en-US"/>
        </a:p>
      </dgm:t>
    </dgm:pt>
    <dgm:pt modelId="{A60B353B-CFD1-4FEE-9A12-828D84E4B837}">
      <dgm:prSet/>
      <dgm:spPr/>
      <dgm:t>
        <a:bodyPr/>
        <a:lstStyle/>
        <a:p>
          <a:r>
            <a:rPr lang="de-DE" dirty="0"/>
            <a:t>Virus wird ansteckender und weniger tödlich</a:t>
          </a:r>
          <a:endParaRPr lang="en-US" dirty="0"/>
        </a:p>
      </dgm:t>
    </dgm:pt>
    <dgm:pt modelId="{7FDD1807-83B7-418B-A6D9-0A074C5B5940}" type="parTrans" cxnId="{1F3DE587-2C14-44EF-A5C1-5247B52B7E1F}">
      <dgm:prSet/>
      <dgm:spPr/>
      <dgm:t>
        <a:bodyPr/>
        <a:lstStyle/>
        <a:p>
          <a:endParaRPr lang="en-US"/>
        </a:p>
      </dgm:t>
    </dgm:pt>
    <dgm:pt modelId="{2C4A1608-742B-4743-97F9-AA98B3F3E56F}" type="sibTrans" cxnId="{1F3DE587-2C14-44EF-A5C1-5247B52B7E1F}">
      <dgm:prSet/>
      <dgm:spPr/>
      <dgm:t>
        <a:bodyPr/>
        <a:lstStyle/>
        <a:p>
          <a:endParaRPr lang="en-US"/>
        </a:p>
      </dgm:t>
    </dgm:pt>
    <dgm:pt modelId="{62B51B88-2A87-439E-B98C-18F3C63D7583}">
      <dgm:prSet/>
      <dgm:spPr/>
      <dgm:t>
        <a:bodyPr/>
        <a:lstStyle/>
        <a:p>
          <a:r>
            <a:rPr lang="de-DE" dirty="0"/>
            <a:t>Maßnahmen werden über 2021 und 2022 Stück für Stück zurückgenommen</a:t>
          </a:r>
          <a:endParaRPr lang="en-US" dirty="0"/>
        </a:p>
      </dgm:t>
    </dgm:pt>
    <dgm:pt modelId="{9ADF62F0-A970-44C4-82DF-F19A0FA09D83}" type="parTrans" cxnId="{2827D5D7-71F1-4328-A97C-D1437D2F8A5E}">
      <dgm:prSet/>
      <dgm:spPr/>
      <dgm:t>
        <a:bodyPr/>
        <a:lstStyle/>
        <a:p>
          <a:endParaRPr lang="en-US"/>
        </a:p>
      </dgm:t>
    </dgm:pt>
    <dgm:pt modelId="{5EDB544F-DE1C-45C4-B44E-A37E8A3498C3}" type="sibTrans" cxnId="{2827D5D7-71F1-4328-A97C-D1437D2F8A5E}">
      <dgm:prSet/>
      <dgm:spPr/>
      <dgm:t>
        <a:bodyPr/>
        <a:lstStyle/>
        <a:p>
          <a:endParaRPr lang="en-US"/>
        </a:p>
      </dgm:t>
    </dgm:pt>
    <dgm:pt modelId="{0BD9BB88-BD9B-495E-BF23-4D6432743022}" type="pres">
      <dgm:prSet presAssocID="{922B6FF2-273A-4632-930E-CB7AC83C2528}" presName="outerComposite" presStyleCnt="0">
        <dgm:presLayoutVars>
          <dgm:chMax val="5"/>
          <dgm:dir/>
          <dgm:resizeHandles val="exact"/>
        </dgm:presLayoutVars>
      </dgm:prSet>
      <dgm:spPr/>
    </dgm:pt>
    <dgm:pt modelId="{3C75B594-14CE-435E-9B31-8916E38C1116}" type="pres">
      <dgm:prSet presAssocID="{922B6FF2-273A-4632-930E-CB7AC83C2528}" presName="dummyMaxCanvas" presStyleCnt="0">
        <dgm:presLayoutVars/>
      </dgm:prSet>
      <dgm:spPr/>
    </dgm:pt>
    <dgm:pt modelId="{9F85713C-11A5-4E21-9937-1206E76BC8E5}" type="pres">
      <dgm:prSet presAssocID="{922B6FF2-273A-4632-930E-CB7AC83C2528}" presName="FiveNodes_1" presStyleLbl="node1" presStyleIdx="0" presStyleCnt="5">
        <dgm:presLayoutVars>
          <dgm:bulletEnabled val="1"/>
        </dgm:presLayoutVars>
      </dgm:prSet>
      <dgm:spPr/>
    </dgm:pt>
    <dgm:pt modelId="{762104F6-D3C2-423A-A9AC-79FEAB29DD27}" type="pres">
      <dgm:prSet presAssocID="{922B6FF2-273A-4632-930E-CB7AC83C2528}" presName="FiveNodes_2" presStyleLbl="node1" presStyleIdx="1" presStyleCnt="5">
        <dgm:presLayoutVars>
          <dgm:bulletEnabled val="1"/>
        </dgm:presLayoutVars>
      </dgm:prSet>
      <dgm:spPr/>
    </dgm:pt>
    <dgm:pt modelId="{209EF8AB-207D-4BB9-B813-F1E567A67AA2}" type="pres">
      <dgm:prSet presAssocID="{922B6FF2-273A-4632-930E-CB7AC83C2528}" presName="FiveNodes_3" presStyleLbl="node1" presStyleIdx="2" presStyleCnt="5">
        <dgm:presLayoutVars>
          <dgm:bulletEnabled val="1"/>
        </dgm:presLayoutVars>
      </dgm:prSet>
      <dgm:spPr/>
    </dgm:pt>
    <dgm:pt modelId="{51FD16BA-EDFF-410D-A636-32E20A4D2985}" type="pres">
      <dgm:prSet presAssocID="{922B6FF2-273A-4632-930E-CB7AC83C2528}" presName="FiveNodes_4" presStyleLbl="node1" presStyleIdx="3" presStyleCnt="5">
        <dgm:presLayoutVars>
          <dgm:bulletEnabled val="1"/>
        </dgm:presLayoutVars>
      </dgm:prSet>
      <dgm:spPr/>
    </dgm:pt>
    <dgm:pt modelId="{2B1F7F92-0D5A-410B-B32F-89A130367CE6}" type="pres">
      <dgm:prSet presAssocID="{922B6FF2-273A-4632-930E-CB7AC83C2528}" presName="FiveNodes_5" presStyleLbl="node1" presStyleIdx="4" presStyleCnt="5">
        <dgm:presLayoutVars>
          <dgm:bulletEnabled val="1"/>
        </dgm:presLayoutVars>
      </dgm:prSet>
      <dgm:spPr/>
    </dgm:pt>
    <dgm:pt modelId="{A89FB7A1-64A7-4888-AA2B-9ED3AE466A04}" type="pres">
      <dgm:prSet presAssocID="{922B6FF2-273A-4632-930E-CB7AC83C2528}" presName="FiveConn_1-2" presStyleLbl="fgAccFollowNode1" presStyleIdx="0" presStyleCnt="4">
        <dgm:presLayoutVars>
          <dgm:bulletEnabled val="1"/>
        </dgm:presLayoutVars>
      </dgm:prSet>
      <dgm:spPr/>
    </dgm:pt>
    <dgm:pt modelId="{BC870143-CB6B-4FE1-AB10-699A615610F0}" type="pres">
      <dgm:prSet presAssocID="{922B6FF2-273A-4632-930E-CB7AC83C2528}" presName="FiveConn_2-3" presStyleLbl="fgAccFollowNode1" presStyleIdx="1" presStyleCnt="4">
        <dgm:presLayoutVars>
          <dgm:bulletEnabled val="1"/>
        </dgm:presLayoutVars>
      </dgm:prSet>
      <dgm:spPr/>
    </dgm:pt>
    <dgm:pt modelId="{9D012C46-56F3-4222-B4CA-E5FB2BF530F3}" type="pres">
      <dgm:prSet presAssocID="{922B6FF2-273A-4632-930E-CB7AC83C2528}" presName="FiveConn_3-4" presStyleLbl="fgAccFollowNode1" presStyleIdx="2" presStyleCnt="4">
        <dgm:presLayoutVars>
          <dgm:bulletEnabled val="1"/>
        </dgm:presLayoutVars>
      </dgm:prSet>
      <dgm:spPr/>
    </dgm:pt>
    <dgm:pt modelId="{57501FD1-0960-4E37-B547-E476A908E420}" type="pres">
      <dgm:prSet presAssocID="{922B6FF2-273A-4632-930E-CB7AC83C2528}" presName="FiveConn_4-5" presStyleLbl="fgAccFollowNode1" presStyleIdx="3" presStyleCnt="4">
        <dgm:presLayoutVars>
          <dgm:bulletEnabled val="1"/>
        </dgm:presLayoutVars>
      </dgm:prSet>
      <dgm:spPr/>
    </dgm:pt>
    <dgm:pt modelId="{41A04104-E8F3-492E-BD57-1232C3A4C862}" type="pres">
      <dgm:prSet presAssocID="{922B6FF2-273A-4632-930E-CB7AC83C2528}" presName="FiveNodes_1_text" presStyleLbl="node1" presStyleIdx="4" presStyleCnt="5">
        <dgm:presLayoutVars>
          <dgm:bulletEnabled val="1"/>
        </dgm:presLayoutVars>
      </dgm:prSet>
      <dgm:spPr/>
    </dgm:pt>
    <dgm:pt modelId="{A4E1D50D-419C-4638-83F6-26FA974185C5}" type="pres">
      <dgm:prSet presAssocID="{922B6FF2-273A-4632-930E-CB7AC83C2528}" presName="FiveNodes_2_text" presStyleLbl="node1" presStyleIdx="4" presStyleCnt="5">
        <dgm:presLayoutVars>
          <dgm:bulletEnabled val="1"/>
        </dgm:presLayoutVars>
      </dgm:prSet>
      <dgm:spPr/>
    </dgm:pt>
    <dgm:pt modelId="{00EB7190-22D6-4ABD-85FF-65B318F11C81}" type="pres">
      <dgm:prSet presAssocID="{922B6FF2-273A-4632-930E-CB7AC83C2528}" presName="FiveNodes_3_text" presStyleLbl="node1" presStyleIdx="4" presStyleCnt="5">
        <dgm:presLayoutVars>
          <dgm:bulletEnabled val="1"/>
        </dgm:presLayoutVars>
      </dgm:prSet>
      <dgm:spPr/>
    </dgm:pt>
    <dgm:pt modelId="{4017CF7C-C6A2-44DB-98BB-8EB4AED3B6D2}" type="pres">
      <dgm:prSet presAssocID="{922B6FF2-273A-4632-930E-CB7AC83C2528}" presName="FiveNodes_4_text" presStyleLbl="node1" presStyleIdx="4" presStyleCnt="5">
        <dgm:presLayoutVars>
          <dgm:bulletEnabled val="1"/>
        </dgm:presLayoutVars>
      </dgm:prSet>
      <dgm:spPr/>
    </dgm:pt>
    <dgm:pt modelId="{BB8EA314-B61C-41A5-8FBB-4E93537DD8A6}" type="pres">
      <dgm:prSet presAssocID="{922B6FF2-273A-4632-930E-CB7AC83C252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CD26305-1D22-469F-9745-48EDAC0B70E5}" type="presOf" srcId="{A60B353B-CFD1-4FEE-9A12-828D84E4B837}" destId="{4017CF7C-C6A2-44DB-98BB-8EB4AED3B6D2}" srcOrd="1" destOrd="0" presId="urn:microsoft.com/office/officeart/2005/8/layout/vProcess5"/>
    <dgm:cxn modelId="{A404571C-834E-435D-9532-F815E5500412}" type="presOf" srcId="{2C4A1608-742B-4743-97F9-AA98B3F3E56F}" destId="{57501FD1-0960-4E37-B547-E476A908E420}" srcOrd="0" destOrd="0" presId="urn:microsoft.com/office/officeart/2005/8/layout/vProcess5"/>
    <dgm:cxn modelId="{AA42E62A-B6B2-4CF4-AEC1-CB4C8C0C52E8}" srcId="{922B6FF2-273A-4632-930E-CB7AC83C2528}" destId="{36867F27-7FC1-4637-B86A-4A10F57ADD5B}" srcOrd="0" destOrd="0" parTransId="{94CFE3B8-8538-4EB0-9DBA-A3387AB8A1FF}" sibTransId="{F9B90103-001A-4C76-AD59-672D1A9D6D96}"/>
    <dgm:cxn modelId="{33F82D31-6C4A-4296-9695-AF4F203E1451}" type="presOf" srcId="{0FB8B18F-B91D-476B-9A78-0492CE276B55}" destId="{762104F6-D3C2-423A-A9AC-79FEAB29DD27}" srcOrd="0" destOrd="0" presId="urn:microsoft.com/office/officeart/2005/8/layout/vProcess5"/>
    <dgm:cxn modelId="{19035F35-3B6A-464D-A27D-3F5D3EC6A99F}" type="presOf" srcId="{922B6FF2-273A-4632-930E-CB7AC83C2528}" destId="{0BD9BB88-BD9B-495E-BF23-4D6432743022}" srcOrd="0" destOrd="0" presId="urn:microsoft.com/office/officeart/2005/8/layout/vProcess5"/>
    <dgm:cxn modelId="{406A253A-9CE8-47F8-8B04-EFF2B3113061}" type="presOf" srcId="{A60B353B-CFD1-4FEE-9A12-828D84E4B837}" destId="{51FD16BA-EDFF-410D-A636-32E20A4D2985}" srcOrd="0" destOrd="0" presId="urn:microsoft.com/office/officeart/2005/8/layout/vProcess5"/>
    <dgm:cxn modelId="{4122003F-91D3-4844-B605-5A26519B12F1}" type="presOf" srcId="{5A3CB591-373A-49A5-A421-DAFC567F6585}" destId="{209EF8AB-207D-4BB9-B813-F1E567A67AA2}" srcOrd="0" destOrd="0" presId="urn:microsoft.com/office/officeart/2005/8/layout/vProcess5"/>
    <dgm:cxn modelId="{F2C69E4A-B45D-487B-A5A8-C7E722A94890}" type="presOf" srcId="{36867F27-7FC1-4637-B86A-4A10F57ADD5B}" destId="{41A04104-E8F3-492E-BD57-1232C3A4C862}" srcOrd="1" destOrd="0" presId="urn:microsoft.com/office/officeart/2005/8/layout/vProcess5"/>
    <dgm:cxn modelId="{8645DC54-8CBB-411F-9352-513685EF158A}" type="presOf" srcId="{36867F27-7FC1-4637-B86A-4A10F57ADD5B}" destId="{9F85713C-11A5-4E21-9937-1206E76BC8E5}" srcOrd="0" destOrd="0" presId="urn:microsoft.com/office/officeart/2005/8/layout/vProcess5"/>
    <dgm:cxn modelId="{6B495C55-BCA4-4414-9035-D996B3770104}" type="presOf" srcId="{62B51B88-2A87-439E-B98C-18F3C63D7583}" destId="{BB8EA314-B61C-41A5-8FBB-4E93537DD8A6}" srcOrd="1" destOrd="0" presId="urn:microsoft.com/office/officeart/2005/8/layout/vProcess5"/>
    <dgm:cxn modelId="{C7B48D76-D738-457A-BCE8-29E7E8347CEC}" type="presOf" srcId="{5A3CB591-373A-49A5-A421-DAFC567F6585}" destId="{00EB7190-22D6-4ABD-85FF-65B318F11C81}" srcOrd="1" destOrd="0" presId="urn:microsoft.com/office/officeart/2005/8/layout/vProcess5"/>
    <dgm:cxn modelId="{3F32197F-6A3E-48CC-B1FD-9C65155A4457}" type="presOf" srcId="{1B74D9A2-C654-45D9-A5B1-37F18119CF9F}" destId="{9D012C46-56F3-4222-B4CA-E5FB2BF530F3}" srcOrd="0" destOrd="0" presId="urn:microsoft.com/office/officeart/2005/8/layout/vProcess5"/>
    <dgm:cxn modelId="{1F3DE587-2C14-44EF-A5C1-5247B52B7E1F}" srcId="{922B6FF2-273A-4632-930E-CB7AC83C2528}" destId="{A60B353B-CFD1-4FEE-9A12-828D84E4B837}" srcOrd="3" destOrd="0" parTransId="{7FDD1807-83B7-418B-A6D9-0A074C5B5940}" sibTransId="{2C4A1608-742B-4743-97F9-AA98B3F3E56F}"/>
    <dgm:cxn modelId="{6B9A28C5-983B-48B7-92CB-B583CD53B602}" type="presOf" srcId="{0FB8B18F-B91D-476B-9A78-0492CE276B55}" destId="{A4E1D50D-419C-4638-83F6-26FA974185C5}" srcOrd="1" destOrd="0" presId="urn:microsoft.com/office/officeart/2005/8/layout/vProcess5"/>
    <dgm:cxn modelId="{2827D5D7-71F1-4328-A97C-D1437D2F8A5E}" srcId="{922B6FF2-273A-4632-930E-CB7AC83C2528}" destId="{62B51B88-2A87-439E-B98C-18F3C63D7583}" srcOrd="4" destOrd="0" parTransId="{9ADF62F0-A970-44C4-82DF-F19A0FA09D83}" sibTransId="{5EDB544F-DE1C-45C4-B44E-A37E8A3498C3}"/>
    <dgm:cxn modelId="{750DD7DB-47FC-493F-8D51-09699E325AC1}" srcId="{922B6FF2-273A-4632-930E-CB7AC83C2528}" destId="{0FB8B18F-B91D-476B-9A78-0492CE276B55}" srcOrd="1" destOrd="0" parTransId="{DBF4DFC4-035D-4C6C-8476-989A438406CD}" sibTransId="{2F5FAF3B-6DAF-477E-9FCF-695276F12208}"/>
    <dgm:cxn modelId="{5DA1E4E2-59BF-4802-A7B5-AC63DD87D5D7}" type="presOf" srcId="{2F5FAF3B-6DAF-477E-9FCF-695276F12208}" destId="{BC870143-CB6B-4FE1-AB10-699A615610F0}" srcOrd="0" destOrd="0" presId="urn:microsoft.com/office/officeart/2005/8/layout/vProcess5"/>
    <dgm:cxn modelId="{389592E6-A420-4096-9DD5-BE32C6376879}" type="presOf" srcId="{62B51B88-2A87-439E-B98C-18F3C63D7583}" destId="{2B1F7F92-0D5A-410B-B32F-89A130367CE6}" srcOrd="0" destOrd="0" presId="urn:microsoft.com/office/officeart/2005/8/layout/vProcess5"/>
    <dgm:cxn modelId="{A6B643FA-4BF0-4870-9C8B-4A61923C4DD9}" srcId="{922B6FF2-273A-4632-930E-CB7AC83C2528}" destId="{5A3CB591-373A-49A5-A421-DAFC567F6585}" srcOrd="2" destOrd="0" parTransId="{7A762D8C-FFA3-4FF0-86D1-C94AD71269E9}" sibTransId="{1B74D9A2-C654-45D9-A5B1-37F18119CF9F}"/>
    <dgm:cxn modelId="{CBE223FE-AD7C-4172-B696-B212C73AB760}" type="presOf" srcId="{F9B90103-001A-4C76-AD59-672D1A9D6D96}" destId="{A89FB7A1-64A7-4888-AA2B-9ED3AE466A04}" srcOrd="0" destOrd="0" presId="urn:microsoft.com/office/officeart/2005/8/layout/vProcess5"/>
    <dgm:cxn modelId="{70105AA3-905B-4AF5-AB52-13674EA073CE}" type="presParOf" srcId="{0BD9BB88-BD9B-495E-BF23-4D6432743022}" destId="{3C75B594-14CE-435E-9B31-8916E38C1116}" srcOrd="0" destOrd="0" presId="urn:microsoft.com/office/officeart/2005/8/layout/vProcess5"/>
    <dgm:cxn modelId="{1486A9C0-E127-4C5A-8294-28DE38378673}" type="presParOf" srcId="{0BD9BB88-BD9B-495E-BF23-4D6432743022}" destId="{9F85713C-11A5-4E21-9937-1206E76BC8E5}" srcOrd="1" destOrd="0" presId="urn:microsoft.com/office/officeart/2005/8/layout/vProcess5"/>
    <dgm:cxn modelId="{72793EAE-22C7-4401-A735-F378A6CA9529}" type="presParOf" srcId="{0BD9BB88-BD9B-495E-BF23-4D6432743022}" destId="{762104F6-D3C2-423A-A9AC-79FEAB29DD27}" srcOrd="2" destOrd="0" presId="urn:microsoft.com/office/officeart/2005/8/layout/vProcess5"/>
    <dgm:cxn modelId="{7E28C243-1F15-48EB-AC50-94C03BB57A02}" type="presParOf" srcId="{0BD9BB88-BD9B-495E-BF23-4D6432743022}" destId="{209EF8AB-207D-4BB9-B813-F1E567A67AA2}" srcOrd="3" destOrd="0" presId="urn:microsoft.com/office/officeart/2005/8/layout/vProcess5"/>
    <dgm:cxn modelId="{E802AD5E-D69E-441A-8651-E50F7D830831}" type="presParOf" srcId="{0BD9BB88-BD9B-495E-BF23-4D6432743022}" destId="{51FD16BA-EDFF-410D-A636-32E20A4D2985}" srcOrd="4" destOrd="0" presId="urn:microsoft.com/office/officeart/2005/8/layout/vProcess5"/>
    <dgm:cxn modelId="{FA8F99A7-666C-42CA-B002-410D8259839B}" type="presParOf" srcId="{0BD9BB88-BD9B-495E-BF23-4D6432743022}" destId="{2B1F7F92-0D5A-410B-B32F-89A130367CE6}" srcOrd="5" destOrd="0" presId="urn:microsoft.com/office/officeart/2005/8/layout/vProcess5"/>
    <dgm:cxn modelId="{9A492AD9-2C76-4461-8A8C-8E735BAEF9EC}" type="presParOf" srcId="{0BD9BB88-BD9B-495E-BF23-4D6432743022}" destId="{A89FB7A1-64A7-4888-AA2B-9ED3AE466A04}" srcOrd="6" destOrd="0" presId="urn:microsoft.com/office/officeart/2005/8/layout/vProcess5"/>
    <dgm:cxn modelId="{4D2FAC28-C11D-4000-AB4F-859D6CCD6D55}" type="presParOf" srcId="{0BD9BB88-BD9B-495E-BF23-4D6432743022}" destId="{BC870143-CB6B-4FE1-AB10-699A615610F0}" srcOrd="7" destOrd="0" presId="urn:microsoft.com/office/officeart/2005/8/layout/vProcess5"/>
    <dgm:cxn modelId="{920C74BB-98AD-4D1E-8A33-2019796E1C0E}" type="presParOf" srcId="{0BD9BB88-BD9B-495E-BF23-4D6432743022}" destId="{9D012C46-56F3-4222-B4CA-E5FB2BF530F3}" srcOrd="8" destOrd="0" presId="urn:microsoft.com/office/officeart/2005/8/layout/vProcess5"/>
    <dgm:cxn modelId="{7B41C7FA-916F-4188-BB85-71DD9C10A60F}" type="presParOf" srcId="{0BD9BB88-BD9B-495E-BF23-4D6432743022}" destId="{57501FD1-0960-4E37-B547-E476A908E420}" srcOrd="9" destOrd="0" presId="urn:microsoft.com/office/officeart/2005/8/layout/vProcess5"/>
    <dgm:cxn modelId="{3973EDCA-A81E-4096-B618-F6B8314FA249}" type="presParOf" srcId="{0BD9BB88-BD9B-495E-BF23-4D6432743022}" destId="{41A04104-E8F3-492E-BD57-1232C3A4C862}" srcOrd="10" destOrd="0" presId="urn:microsoft.com/office/officeart/2005/8/layout/vProcess5"/>
    <dgm:cxn modelId="{51187EBB-BA24-4DA3-9BF9-7F12B092B448}" type="presParOf" srcId="{0BD9BB88-BD9B-495E-BF23-4D6432743022}" destId="{A4E1D50D-419C-4638-83F6-26FA974185C5}" srcOrd="11" destOrd="0" presId="urn:microsoft.com/office/officeart/2005/8/layout/vProcess5"/>
    <dgm:cxn modelId="{61115D5D-CFEB-4D7D-9566-1B5456B41000}" type="presParOf" srcId="{0BD9BB88-BD9B-495E-BF23-4D6432743022}" destId="{00EB7190-22D6-4ABD-85FF-65B318F11C81}" srcOrd="12" destOrd="0" presId="urn:microsoft.com/office/officeart/2005/8/layout/vProcess5"/>
    <dgm:cxn modelId="{D33E9F49-D0E6-48A5-8E09-DCE0AF7D25B4}" type="presParOf" srcId="{0BD9BB88-BD9B-495E-BF23-4D6432743022}" destId="{4017CF7C-C6A2-44DB-98BB-8EB4AED3B6D2}" srcOrd="13" destOrd="0" presId="urn:microsoft.com/office/officeart/2005/8/layout/vProcess5"/>
    <dgm:cxn modelId="{E0D1CC3D-260F-4CC2-82EE-5C337828346F}" type="presParOf" srcId="{0BD9BB88-BD9B-495E-BF23-4D6432743022}" destId="{BB8EA314-B61C-41A5-8FBB-4E93537DD8A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2B6FF2-273A-4632-930E-CB7AC83C2528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867F27-7FC1-4637-B86A-4A10F57ADD5B}">
      <dgm:prSet/>
      <dgm:spPr/>
      <dgm:t>
        <a:bodyPr/>
        <a:lstStyle/>
        <a:p>
          <a:r>
            <a:rPr lang="de-DE"/>
            <a:t>24. Februar 2022: Russland beginnt eine Invasion gegen die Ukraine</a:t>
          </a:r>
          <a:endParaRPr lang="en-US"/>
        </a:p>
      </dgm:t>
    </dgm:pt>
    <dgm:pt modelId="{94CFE3B8-8538-4EB0-9DBA-A3387AB8A1FF}" type="parTrans" cxnId="{AA42E62A-B6B2-4CF4-AEC1-CB4C8C0C52E8}">
      <dgm:prSet/>
      <dgm:spPr/>
      <dgm:t>
        <a:bodyPr/>
        <a:lstStyle/>
        <a:p>
          <a:endParaRPr lang="en-US"/>
        </a:p>
      </dgm:t>
    </dgm:pt>
    <dgm:pt modelId="{F9B90103-001A-4C76-AD59-672D1A9D6D96}" type="sibTrans" cxnId="{AA42E62A-B6B2-4CF4-AEC1-CB4C8C0C52E8}">
      <dgm:prSet/>
      <dgm:spPr/>
      <dgm:t>
        <a:bodyPr/>
        <a:lstStyle/>
        <a:p>
          <a:endParaRPr lang="en-US"/>
        </a:p>
      </dgm:t>
    </dgm:pt>
    <dgm:pt modelId="{0FB8B18F-B91D-476B-9A78-0492CE276B55}">
      <dgm:prSet/>
      <dgm:spPr/>
      <dgm:t>
        <a:bodyPr/>
        <a:lstStyle/>
        <a:p>
          <a:r>
            <a:rPr lang="de-DE"/>
            <a:t>Anhaltender Krieg bis Dato</a:t>
          </a:r>
          <a:endParaRPr lang="en-US"/>
        </a:p>
      </dgm:t>
    </dgm:pt>
    <dgm:pt modelId="{DBF4DFC4-035D-4C6C-8476-989A438406CD}" type="parTrans" cxnId="{750DD7DB-47FC-493F-8D51-09699E325AC1}">
      <dgm:prSet/>
      <dgm:spPr/>
      <dgm:t>
        <a:bodyPr/>
        <a:lstStyle/>
        <a:p>
          <a:endParaRPr lang="en-US"/>
        </a:p>
      </dgm:t>
    </dgm:pt>
    <dgm:pt modelId="{2F5FAF3B-6DAF-477E-9FCF-695276F12208}" type="sibTrans" cxnId="{750DD7DB-47FC-493F-8D51-09699E325AC1}">
      <dgm:prSet/>
      <dgm:spPr/>
      <dgm:t>
        <a:bodyPr/>
        <a:lstStyle/>
        <a:p>
          <a:endParaRPr lang="en-US"/>
        </a:p>
      </dgm:t>
    </dgm:pt>
    <dgm:pt modelId="{5A3CB591-373A-49A5-A421-DAFC567F6585}">
      <dgm:prSet/>
      <dgm:spPr/>
      <dgm:t>
        <a:bodyPr/>
        <a:lstStyle/>
        <a:p>
          <a:r>
            <a:rPr lang="de-DE"/>
            <a:t>Sanktionen durch EU, Canada, USA gegen Russland</a:t>
          </a:r>
          <a:endParaRPr lang="en-US"/>
        </a:p>
      </dgm:t>
    </dgm:pt>
    <dgm:pt modelId="{7A762D8C-FFA3-4FF0-86D1-C94AD71269E9}" type="parTrans" cxnId="{A6B643FA-4BF0-4870-9C8B-4A61923C4DD9}">
      <dgm:prSet/>
      <dgm:spPr/>
      <dgm:t>
        <a:bodyPr/>
        <a:lstStyle/>
        <a:p>
          <a:endParaRPr lang="en-US"/>
        </a:p>
      </dgm:t>
    </dgm:pt>
    <dgm:pt modelId="{1B74D9A2-C654-45D9-A5B1-37F18119CF9F}" type="sibTrans" cxnId="{A6B643FA-4BF0-4870-9C8B-4A61923C4DD9}">
      <dgm:prSet/>
      <dgm:spPr/>
      <dgm:t>
        <a:bodyPr/>
        <a:lstStyle/>
        <a:p>
          <a:endParaRPr lang="en-US"/>
        </a:p>
      </dgm:t>
    </dgm:pt>
    <dgm:pt modelId="{A60B353B-CFD1-4FEE-9A12-828D84E4B837}">
      <dgm:prSet/>
      <dgm:spPr/>
      <dgm:t>
        <a:bodyPr/>
        <a:lstStyle/>
        <a:p>
          <a:r>
            <a:rPr lang="de-DE"/>
            <a:t>Angebotsschock für Erdöl / Erdgas, Kohle und Nuklearbrennstoffe aus Russland</a:t>
          </a:r>
          <a:endParaRPr lang="en-US"/>
        </a:p>
      </dgm:t>
    </dgm:pt>
    <dgm:pt modelId="{7FDD1807-83B7-418B-A6D9-0A074C5B5940}" type="parTrans" cxnId="{1F3DE587-2C14-44EF-A5C1-5247B52B7E1F}">
      <dgm:prSet/>
      <dgm:spPr/>
      <dgm:t>
        <a:bodyPr/>
        <a:lstStyle/>
        <a:p>
          <a:endParaRPr lang="en-US"/>
        </a:p>
      </dgm:t>
    </dgm:pt>
    <dgm:pt modelId="{2C4A1608-742B-4743-97F9-AA98B3F3E56F}" type="sibTrans" cxnId="{1F3DE587-2C14-44EF-A5C1-5247B52B7E1F}">
      <dgm:prSet/>
      <dgm:spPr/>
      <dgm:t>
        <a:bodyPr/>
        <a:lstStyle/>
        <a:p>
          <a:endParaRPr lang="en-US"/>
        </a:p>
      </dgm:t>
    </dgm:pt>
    <dgm:pt modelId="{62B51B88-2A87-439E-B98C-18F3C63D7583}">
      <dgm:prSet/>
      <dgm:spPr/>
      <dgm:t>
        <a:bodyPr/>
        <a:lstStyle/>
        <a:p>
          <a:r>
            <a:rPr lang="de-DE"/>
            <a:t>Weltweiter Angebotsschock für Getreide, Mais, Sonnenblumenöl, Stahl und Inputgüter für Düngemittel aus der Ukraine</a:t>
          </a:r>
          <a:endParaRPr lang="en-US"/>
        </a:p>
      </dgm:t>
    </dgm:pt>
    <dgm:pt modelId="{9ADF62F0-A970-44C4-82DF-F19A0FA09D83}" type="parTrans" cxnId="{2827D5D7-71F1-4328-A97C-D1437D2F8A5E}">
      <dgm:prSet/>
      <dgm:spPr/>
      <dgm:t>
        <a:bodyPr/>
        <a:lstStyle/>
        <a:p>
          <a:endParaRPr lang="en-US"/>
        </a:p>
      </dgm:t>
    </dgm:pt>
    <dgm:pt modelId="{5EDB544F-DE1C-45C4-B44E-A37E8A3498C3}" type="sibTrans" cxnId="{2827D5D7-71F1-4328-A97C-D1437D2F8A5E}">
      <dgm:prSet/>
      <dgm:spPr/>
      <dgm:t>
        <a:bodyPr/>
        <a:lstStyle/>
        <a:p>
          <a:endParaRPr lang="en-US"/>
        </a:p>
      </dgm:t>
    </dgm:pt>
    <dgm:pt modelId="{0BD9BB88-BD9B-495E-BF23-4D6432743022}" type="pres">
      <dgm:prSet presAssocID="{922B6FF2-273A-4632-930E-CB7AC83C2528}" presName="outerComposite" presStyleCnt="0">
        <dgm:presLayoutVars>
          <dgm:chMax val="5"/>
          <dgm:dir/>
          <dgm:resizeHandles val="exact"/>
        </dgm:presLayoutVars>
      </dgm:prSet>
      <dgm:spPr/>
    </dgm:pt>
    <dgm:pt modelId="{3C75B594-14CE-435E-9B31-8916E38C1116}" type="pres">
      <dgm:prSet presAssocID="{922B6FF2-273A-4632-930E-CB7AC83C2528}" presName="dummyMaxCanvas" presStyleCnt="0">
        <dgm:presLayoutVars/>
      </dgm:prSet>
      <dgm:spPr/>
    </dgm:pt>
    <dgm:pt modelId="{9F85713C-11A5-4E21-9937-1206E76BC8E5}" type="pres">
      <dgm:prSet presAssocID="{922B6FF2-273A-4632-930E-CB7AC83C2528}" presName="FiveNodes_1" presStyleLbl="node1" presStyleIdx="0" presStyleCnt="5">
        <dgm:presLayoutVars>
          <dgm:bulletEnabled val="1"/>
        </dgm:presLayoutVars>
      </dgm:prSet>
      <dgm:spPr/>
    </dgm:pt>
    <dgm:pt modelId="{762104F6-D3C2-423A-A9AC-79FEAB29DD27}" type="pres">
      <dgm:prSet presAssocID="{922B6FF2-273A-4632-930E-CB7AC83C2528}" presName="FiveNodes_2" presStyleLbl="node1" presStyleIdx="1" presStyleCnt="5">
        <dgm:presLayoutVars>
          <dgm:bulletEnabled val="1"/>
        </dgm:presLayoutVars>
      </dgm:prSet>
      <dgm:spPr/>
    </dgm:pt>
    <dgm:pt modelId="{209EF8AB-207D-4BB9-B813-F1E567A67AA2}" type="pres">
      <dgm:prSet presAssocID="{922B6FF2-273A-4632-930E-CB7AC83C2528}" presName="FiveNodes_3" presStyleLbl="node1" presStyleIdx="2" presStyleCnt="5">
        <dgm:presLayoutVars>
          <dgm:bulletEnabled val="1"/>
        </dgm:presLayoutVars>
      </dgm:prSet>
      <dgm:spPr/>
    </dgm:pt>
    <dgm:pt modelId="{51FD16BA-EDFF-410D-A636-32E20A4D2985}" type="pres">
      <dgm:prSet presAssocID="{922B6FF2-273A-4632-930E-CB7AC83C2528}" presName="FiveNodes_4" presStyleLbl="node1" presStyleIdx="3" presStyleCnt="5">
        <dgm:presLayoutVars>
          <dgm:bulletEnabled val="1"/>
        </dgm:presLayoutVars>
      </dgm:prSet>
      <dgm:spPr/>
    </dgm:pt>
    <dgm:pt modelId="{2B1F7F92-0D5A-410B-B32F-89A130367CE6}" type="pres">
      <dgm:prSet presAssocID="{922B6FF2-273A-4632-930E-CB7AC83C2528}" presName="FiveNodes_5" presStyleLbl="node1" presStyleIdx="4" presStyleCnt="5">
        <dgm:presLayoutVars>
          <dgm:bulletEnabled val="1"/>
        </dgm:presLayoutVars>
      </dgm:prSet>
      <dgm:spPr/>
    </dgm:pt>
    <dgm:pt modelId="{A89FB7A1-64A7-4888-AA2B-9ED3AE466A04}" type="pres">
      <dgm:prSet presAssocID="{922B6FF2-273A-4632-930E-CB7AC83C2528}" presName="FiveConn_1-2" presStyleLbl="fgAccFollowNode1" presStyleIdx="0" presStyleCnt="4">
        <dgm:presLayoutVars>
          <dgm:bulletEnabled val="1"/>
        </dgm:presLayoutVars>
      </dgm:prSet>
      <dgm:spPr/>
    </dgm:pt>
    <dgm:pt modelId="{BC870143-CB6B-4FE1-AB10-699A615610F0}" type="pres">
      <dgm:prSet presAssocID="{922B6FF2-273A-4632-930E-CB7AC83C2528}" presName="FiveConn_2-3" presStyleLbl="fgAccFollowNode1" presStyleIdx="1" presStyleCnt="4">
        <dgm:presLayoutVars>
          <dgm:bulletEnabled val="1"/>
        </dgm:presLayoutVars>
      </dgm:prSet>
      <dgm:spPr/>
    </dgm:pt>
    <dgm:pt modelId="{9D012C46-56F3-4222-B4CA-E5FB2BF530F3}" type="pres">
      <dgm:prSet presAssocID="{922B6FF2-273A-4632-930E-CB7AC83C2528}" presName="FiveConn_3-4" presStyleLbl="fgAccFollowNode1" presStyleIdx="2" presStyleCnt="4">
        <dgm:presLayoutVars>
          <dgm:bulletEnabled val="1"/>
        </dgm:presLayoutVars>
      </dgm:prSet>
      <dgm:spPr/>
    </dgm:pt>
    <dgm:pt modelId="{57501FD1-0960-4E37-B547-E476A908E420}" type="pres">
      <dgm:prSet presAssocID="{922B6FF2-273A-4632-930E-CB7AC83C2528}" presName="FiveConn_4-5" presStyleLbl="fgAccFollowNode1" presStyleIdx="3" presStyleCnt="4">
        <dgm:presLayoutVars>
          <dgm:bulletEnabled val="1"/>
        </dgm:presLayoutVars>
      </dgm:prSet>
      <dgm:spPr/>
    </dgm:pt>
    <dgm:pt modelId="{41A04104-E8F3-492E-BD57-1232C3A4C862}" type="pres">
      <dgm:prSet presAssocID="{922B6FF2-273A-4632-930E-CB7AC83C2528}" presName="FiveNodes_1_text" presStyleLbl="node1" presStyleIdx="4" presStyleCnt="5">
        <dgm:presLayoutVars>
          <dgm:bulletEnabled val="1"/>
        </dgm:presLayoutVars>
      </dgm:prSet>
      <dgm:spPr/>
    </dgm:pt>
    <dgm:pt modelId="{A4E1D50D-419C-4638-83F6-26FA974185C5}" type="pres">
      <dgm:prSet presAssocID="{922B6FF2-273A-4632-930E-CB7AC83C2528}" presName="FiveNodes_2_text" presStyleLbl="node1" presStyleIdx="4" presStyleCnt="5">
        <dgm:presLayoutVars>
          <dgm:bulletEnabled val="1"/>
        </dgm:presLayoutVars>
      </dgm:prSet>
      <dgm:spPr/>
    </dgm:pt>
    <dgm:pt modelId="{00EB7190-22D6-4ABD-85FF-65B318F11C81}" type="pres">
      <dgm:prSet presAssocID="{922B6FF2-273A-4632-930E-CB7AC83C2528}" presName="FiveNodes_3_text" presStyleLbl="node1" presStyleIdx="4" presStyleCnt="5">
        <dgm:presLayoutVars>
          <dgm:bulletEnabled val="1"/>
        </dgm:presLayoutVars>
      </dgm:prSet>
      <dgm:spPr/>
    </dgm:pt>
    <dgm:pt modelId="{4017CF7C-C6A2-44DB-98BB-8EB4AED3B6D2}" type="pres">
      <dgm:prSet presAssocID="{922B6FF2-273A-4632-930E-CB7AC83C2528}" presName="FiveNodes_4_text" presStyleLbl="node1" presStyleIdx="4" presStyleCnt="5">
        <dgm:presLayoutVars>
          <dgm:bulletEnabled val="1"/>
        </dgm:presLayoutVars>
      </dgm:prSet>
      <dgm:spPr/>
    </dgm:pt>
    <dgm:pt modelId="{BB8EA314-B61C-41A5-8FBB-4E93537DD8A6}" type="pres">
      <dgm:prSet presAssocID="{922B6FF2-273A-4632-930E-CB7AC83C252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CD26305-1D22-469F-9745-48EDAC0B70E5}" type="presOf" srcId="{A60B353B-CFD1-4FEE-9A12-828D84E4B837}" destId="{4017CF7C-C6A2-44DB-98BB-8EB4AED3B6D2}" srcOrd="1" destOrd="0" presId="urn:microsoft.com/office/officeart/2005/8/layout/vProcess5"/>
    <dgm:cxn modelId="{A404571C-834E-435D-9532-F815E5500412}" type="presOf" srcId="{2C4A1608-742B-4743-97F9-AA98B3F3E56F}" destId="{57501FD1-0960-4E37-B547-E476A908E420}" srcOrd="0" destOrd="0" presId="urn:microsoft.com/office/officeart/2005/8/layout/vProcess5"/>
    <dgm:cxn modelId="{AA42E62A-B6B2-4CF4-AEC1-CB4C8C0C52E8}" srcId="{922B6FF2-273A-4632-930E-CB7AC83C2528}" destId="{36867F27-7FC1-4637-B86A-4A10F57ADD5B}" srcOrd="0" destOrd="0" parTransId="{94CFE3B8-8538-4EB0-9DBA-A3387AB8A1FF}" sibTransId="{F9B90103-001A-4C76-AD59-672D1A9D6D96}"/>
    <dgm:cxn modelId="{33F82D31-6C4A-4296-9695-AF4F203E1451}" type="presOf" srcId="{0FB8B18F-B91D-476B-9A78-0492CE276B55}" destId="{762104F6-D3C2-423A-A9AC-79FEAB29DD27}" srcOrd="0" destOrd="0" presId="urn:microsoft.com/office/officeart/2005/8/layout/vProcess5"/>
    <dgm:cxn modelId="{19035F35-3B6A-464D-A27D-3F5D3EC6A99F}" type="presOf" srcId="{922B6FF2-273A-4632-930E-CB7AC83C2528}" destId="{0BD9BB88-BD9B-495E-BF23-4D6432743022}" srcOrd="0" destOrd="0" presId="urn:microsoft.com/office/officeart/2005/8/layout/vProcess5"/>
    <dgm:cxn modelId="{406A253A-9CE8-47F8-8B04-EFF2B3113061}" type="presOf" srcId="{A60B353B-CFD1-4FEE-9A12-828D84E4B837}" destId="{51FD16BA-EDFF-410D-A636-32E20A4D2985}" srcOrd="0" destOrd="0" presId="urn:microsoft.com/office/officeart/2005/8/layout/vProcess5"/>
    <dgm:cxn modelId="{4122003F-91D3-4844-B605-5A26519B12F1}" type="presOf" srcId="{5A3CB591-373A-49A5-A421-DAFC567F6585}" destId="{209EF8AB-207D-4BB9-B813-F1E567A67AA2}" srcOrd="0" destOrd="0" presId="urn:microsoft.com/office/officeart/2005/8/layout/vProcess5"/>
    <dgm:cxn modelId="{F2C69E4A-B45D-487B-A5A8-C7E722A94890}" type="presOf" srcId="{36867F27-7FC1-4637-B86A-4A10F57ADD5B}" destId="{41A04104-E8F3-492E-BD57-1232C3A4C862}" srcOrd="1" destOrd="0" presId="urn:microsoft.com/office/officeart/2005/8/layout/vProcess5"/>
    <dgm:cxn modelId="{8645DC54-8CBB-411F-9352-513685EF158A}" type="presOf" srcId="{36867F27-7FC1-4637-B86A-4A10F57ADD5B}" destId="{9F85713C-11A5-4E21-9937-1206E76BC8E5}" srcOrd="0" destOrd="0" presId="urn:microsoft.com/office/officeart/2005/8/layout/vProcess5"/>
    <dgm:cxn modelId="{6B495C55-BCA4-4414-9035-D996B3770104}" type="presOf" srcId="{62B51B88-2A87-439E-B98C-18F3C63D7583}" destId="{BB8EA314-B61C-41A5-8FBB-4E93537DD8A6}" srcOrd="1" destOrd="0" presId="urn:microsoft.com/office/officeart/2005/8/layout/vProcess5"/>
    <dgm:cxn modelId="{C7B48D76-D738-457A-BCE8-29E7E8347CEC}" type="presOf" srcId="{5A3CB591-373A-49A5-A421-DAFC567F6585}" destId="{00EB7190-22D6-4ABD-85FF-65B318F11C81}" srcOrd="1" destOrd="0" presId="urn:microsoft.com/office/officeart/2005/8/layout/vProcess5"/>
    <dgm:cxn modelId="{3F32197F-6A3E-48CC-B1FD-9C65155A4457}" type="presOf" srcId="{1B74D9A2-C654-45D9-A5B1-37F18119CF9F}" destId="{9D012C46-56F3-4222-B4CA-E5FB2BF530F3}" srcOrd="0" destOrd="0" presId="urn:microsoft.com/office/officeart/2005/8/layout/vProcess5"/>
    <dgm:cxn modelId="{1F3DE587-2C14-44EF-A5C1-5247B52B7E1F}" srcId="{922B6FF2-273A-4632-930E-CB7AC83C2528}" destId="{A60B353B-CFD1-4FEE-9A12-828D84E4B837}" srcOrd="3" destOrd="0" parTransId="{7FDD1807-83B7-418B-A6D9-0A074C5B5940}" sibTransId="{2C4A1608-742B-4743-97F9-AA98B3F3E56F}"/>
    <dgm:cxn modelId="{6B9A28C5-983B-48B7-92CB-B583CD53B602}" type="presOf" srcId="{0FB8B18F-B91D-476B-9A78-0492CE276B55}" destId="{A4E1D50D-419C-4638-83F6-26FA974185C5}" srcOrd="1" destOrd="0" presId="urn:microsoft.com/office/officeart/2005/8/layout/vProcess5"/>
    <dgm:cxn modelId="{2827D5D7-71F1-4328-A97C-D1437D2F8A5E}" srcId="{922B6FF2-273A-4632-930E-CB7AC83C2528}" destId="{62B51B88-2A87-439E-B98C-18F3C63D7583}" srcOrd="4" destOrd="0" parTransId="{9ADF62F0-A970-44C4-82DF-F19A0FA09D83}" sibTransId="{5EDB544F-DE1C-45C4-B44E-A37E8A3498C3}"/>
    <dgm:cxn modelId="{750DD7DB-47FC-493F-8D51-09699E325AC1}" srcId="{922B6FF2-273A-4632-930E-CB7AC83C2528}" destId="{0FB8B18F-B91D-476B-9A78-0492CE276B55}" srcOrd="1" destOrd="0" parTransId="{DBF4DFC4-035D-4C6C-8476-989A438406CD}" sibTransId="{2F5FAF3B-6DAF-477E-9FCF-695276F12208}"/>
    <dgm:cxn modelId="{5DA1E4E2-59BF-4802-A7B5-AC63DD87D5D7}" type="presOf" srcId="{2F5FAF3B-6DAF-477E-9FCF-695276F12208}" destId="{BC870143-CB6B-4FE1-AB10-699A615610F0}" srcOrd="0" destOrd="0" presId="urn:microsoft.com/office/officeart/2005/8/layout/vProcess5"/>
    <dgm:cxn modelId="{389592E6-A420-4096-9DD5-BE32C6376879}" type="presOf" srcId="{62B51B88-2A87-439E-B98C-18F3C63D7583}" destId="{2B1F7F92-0D5A-410B-B32F-89A130367CE6}" srcOrd="0" destOrd="0" presId="urn:microsoft.com/office/officeart/2005/8/layout/vProcess5"/>
    <dgm:cxn modelId="{A6B643FA-4BF0-4870-9C8B-4A61923C4DD9}" srcId="{922B6FF2-273A-4632-930E-CB7AC83C2528}" destId="{5A3CB591-373A-49A5-A421-DAFC567F6585}" srcOrd="2" destOrd="0" parTransId="{7A762D8C-FFA3-4FF0-86D1-C94AD71269E9}" sibTransId="{1B74D9A2-C654-45D9-A5B1-37F18119CF9F}"/>
    <dgm:cxn modelId="{CBE223FE-AD7C-4172-B696-B212C73AB760}" type="presOf" srcId="{F9B90103-001A-4C76-AD59-672D1A9D6D96}" destId="{A89FB7A1-64A7-4888-AA2B-9ED3AE466A04}" srcOrd="0" destOrd="0" presId="urn:microsoft.com/office/officeart/2005/8/layout/vProcess5"/>
    <dgm:cxn modelId="{70105AA3-905B-4AF5-AB52-13674EA073CE}" type="presParOf" srcId="{0BD9BB88-BD9B-495E-BF23-4D6432743022}" destId="{3C75B594-14CE-435E-9B31-8916E38C1116}" srcOrd="0" destOrd="0" presId="urn:microsoft.com/office/officeart/2005/8/layout/vProcess5"/>
    <dgm:cxn modelId="{1486A9C0-E127-4C5A-8294-28DE38378673}" type="presParOf" srcId="{0BD9BB88-BD9B-495E-BF23-4D6432743022}" destId="{9F85713C-11A5-4E21-9937-1206E76BC8E5}" srcOrd="1" destOrd="0" presId="urn:microsoft.com/office/officeart/2005/8/layout/vProcess5"/>
    <dgm:cxn modelId="{72793EAE-22C7-4401-A735-F378A6CA9529}" type="presParOf" srcId="{0BD9BB88-BD9B-495E-BF23-4D6432743022}" destId="{762104F6-D3C2-423A-A9AC-79FEAB29DD27}" srcOrd="2" destOrd="0" presId="urn:microsoft.com/office/officeart/2005/8/layout/vProcess5"/>
    <dgm:cxn modelId="{7E28C243-1F15-48EB-AC50-94C03BB57A02}" type="presParOf" srcId="{0BD9BB88-BD9B-495E-BF23-4D6432743022}" destId="{209EF8AB-207D-4BB9-B813-F1E567A67AA2}" srcOrd="3" destOrd="0" presId="urn:microsoft.com/office/officeart/2005/8/layout/vProcess5"/>
    <dgm:cxn modelId="{E802AD5E-D69E-441A-8651-E50F7D830831}" type="presParOf" srcId="{0BD9BB88-BD9B-495E-BF23-4D6432743022}" destId="{51FD16BA-EDFF-410D-A636-32E20A4D2985}" srcOrd="4" destOrd="0" presId="urn:microsoft.com/office/officeart/2005/8/layout/vProcess5"/>
    <dgm:cxn modelId="{FA8F99A7-666C-42CA-B002-410D8259839B}" type="presParOf" srcId="{0BD9BB88-BD9B-495E-BF23-4D6432743022}" destId="{2B1F7F92-0D5A-410B-B32F-89A130367CE6}" srcOrd="5" destOrd="0" presId="urn:microsoft.com/office/officeart/2005/8/layout/vProcess5"/>
    <dgm:cxn modelId="{9A492AD9-2C76-4461-8A8C-8E735BAEF9EC}" type="presParOf" srcId="{0BD9BB88-BD9B-495E-BF23-4D6432743022}" destId="{A89FB7A1-64A7-4888-AA2B-9ED3AE466A04}" srcOrd="6" destOrd="0" presId="urn:microsoft.com/office/officeart/2005/8/layout/vProcess5"/>
    <dgm:cxn modelId="{4D2FAC28-C11D-4000-AB4F-859D6CCD6D55}" type="presParOf" srcId="{0BD9BB88-BD9B-495E-BF23-4D6432743022}" destId="{BC870143-CB6B-4FE1-AB10-699A615610F0}" srcOrd="7" destOrd="0" presId="urn:microsoft.com/office/officeart/2005/8/layout/vProcess5"/>
    <dgm:cxn modelId="{920C74BB-98AD-4D1E-8A33-2019796E1C0E}" type="presParOf" srcId="{0BD9BB88-BD9B-495E-BF23-4D6432743022}" destId="{9D012C46-56F3-4222-B4CA-E5FB2BF530F3}" srcOrd="8" destOrd="0" presId="urn:microsoft.com/office/officeart/2005/8/layout/vProcess5"/>
    <dgm:cxn modelId="{7B41C7FA-916F-4188-BB85-71DD9C10A60F}" type="presParOf" srcId="{0BD9BB88-BD9B-495E-BF23-4D6432743022}" destId="{57501FD1-0960-4E37-B547-E476A908E420}" srcOrd="9" destOrd="0" presId="urn:microsoft.com/office/officeart/2005/8/layout/vProcess5"/>
    <dgm:cxn modelId="{3973EDCA-A81E-4096-B618-F6B8314FA249}" type="presParOf" srcId="{0BD9BB88-BD9B-495E-BF23-4D6432743022}" destId="{41A04104-E8F3-492E-BD57-1232C3A4C862}" srcOrd="10" destOrd="0" presId="urn:microsoft.com/office/officeart/2005/8/layout/vProcess5"/>
    <dgm:cxn modelId="{51187EBB-BA24-4DA3-9BF9-7F12B092B448}" type="presParOf" srcId="{0BD9BB88-BD9B-495E-BF23-4D6432743022}" destId="{A4E1D50D-419C-4638-83F6-26FA974185C5}" srcOrd="11" destOrd="0" presId="urn:microsoft.com/office/officeart/2005/8/layout/vProcess5"/>
    <dgm:cxn modelId="{61115D5D-CFEB-4D7D-9566-1B5456B41000}" type="presParOf" srcId="{0BD9BB88-BD9B-495E-BF23-4D6432743022}" destId="{00EB7190-22D6-4ABD-85FF-65B318F11C81}" srcOrd="12" destOrd="0" presId="urn:microsoft.com/office/officeart/2005/8/layout/vProcess5"/>
    <dgm:cxn modelId="{D33E9F49-D0E6-48A5-8E09-DCE0AF7D25B4}" type="presParOf" srcId="{0BD9BB88-BD9B-495E-BF23-4D6432743022}" destId="{4017CF7C-C6A2-44DB-98BB-8EB4AED3B6D2}" srcOrd="13" destOrd="0" presId="urn:microsoft.com/office/officeart/2005/8/layout/vProcess5"/>
    <dgm:cxn modelId="{E0D1CC3D-260F-4CC2-82EE-5C337828346F}" type="presParOf" srcId="{0BD9BB88-BD9B-495E-BF23-4D6432743022}" destId="{BB8EA314-B61C-41A5-8FBB-4E93537DD8A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90FF9E-942A-4E0A-AB0A-BBDB1B9199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FE9B3A-A177-45DA-B723-2B342FC35943}">
      <dgm:prSet/>
      <dgm:spPr/>
      <dgm:t>
        <a:bodyPr/>
        <a:lstStyle/>
        <a:p>
          <a:r>
            <a:rPr lang="de-DE"/>
            <a:t>GDP stagniert</a:t>
          </a:r>
          <a:endParaRPr lang="en-US"/>
        </a:p>
      </dgm:t>
    </dgm:pt>
    <dgm:pt modelId="{8F15B40F-4ED9-4E13-8A32-62BECFA7081F}" type="parTrans" cxnId="{8C4304E1-B15D-489B-A43C-DCA1AFEC5188}">
      <dgm:prSet/>
      <dgm:spPr/>
      <dgm:t>
        <a:bodyPr/>
        <a:lstStyle/>
        <a:p>
          <a:endParaRPr lang="en-US"/>
        </a:p>
      </dgm:t>
    </dgm:pt>
    <dgm:pt modelId="{2A2E82FC-9798-41F6-8D61-414F76006EE1}" type="sibTrans" cxnId="{8C4304E1-B15D-489B-A43C-DCA1AFEC5188}">
      <dgm:prSet/>
      <dgm:spPr/>
      <dgm:t>
        <a:bodyPr/>
        <a:lstStyle/>
        <a:p>
          <a:endParaRPr lang="en-US"/>
        </a:p>
      </dgm:t>
    </dgm:pt>
    <dgm:pt modelId="{9E4BF9BE-C772-44BA-984B-3D92E799286F}">
      <dgm:prSet/>
      <dgm:spPr/>
      <dgm:t>
        <a:bodyPr/>
        <a:lstStyle/>
        <a:p>
          <a:r>
            <a:rPr lang="de-DE"/>
            <a:t>Investments stagnieren</a:t>
          </a:r>
          <a:endParaRPr lang="en-US"/>
        </a:p>
      </dgm:t>
    </dgm:pt>
    <dgm:pt modelId="{C87CF3B9-F171-4B44-B25C-BE1842E653F6}" type="parTrans" cxnId="{A6BD128E-E50B-4EC6-A0ED-670D0E0E0795}">
      <dgm:prSet/>
      <dgm:spPr/>
      <dgm:t>
        <a:bodyPr/>
        <a:lstStyle/>
        <a:p>
          <a:endParaRPr lang="en-US"/>
        </a:p>
      </dgm:t>
    </dgm:pt>
    <dgm:pt modelId="{BFBAC838-FB03-4E59-9C96-9018502EBE38}" type="sibTrans" cxnId="{A6BD128E-E50B-4EC6-A0ED-670D0E0E0795}">
      <dgm:prSet/>
      <dgm:spPr/>
      <dgm:t>
        <a:bodyPr/>
        <a:lstStyle/>
        <a:p>
          <a:endParaRPr lang="en-US"/>
        </a:p>
      </dgm:t>
    </dgm:pt>
    <dgm:pt modelId="{67795A06-700E-443D-B412-2BCBDBE84A70}">
      <dgm:prSet/>
      <dgm:spPr/>
      <dgm:t>
        <a:bodyPr/>
        <a:lstStyle/>
        <a:p>
          <a:r>
            <a:rPr lang="de-DE"/>
            <a:t>Staatsausgaben steigen</a:t>
          </a:r>
          <a:endParaRPr lang="en-US"/>
        </a:p>
      </dgm:t>
    </dgm:pt>
    <dgm:pt modelId="{1B9B66C0-EBE6-4A88-B6DC-580DA3B0A9B7}" type="parTrans" cxnId="{6A1A9E76-5DEE-47B3-B4D1-BB5843D8E5CD}">
      <dgm:prSet/>
      <dgm:spPr/>
      <dgm:t>
        <a:bodyPr/>
        <a:lstStyle/>
        <a:p>
          <a:endParaRPr lang="en-US"/>
        </a:p>
      </dgm:t>
    </dgm:pt>
    <dgm:pt modelId="{F37C2A4F-843D-45F6-8918-1AF45699EE91}" type="sibTrans" cxnId="{6A1A9E76-5DEE-47B3-B4D1-BB5843D8E5CD}">
      <dgm:prSet/>
      <dgm:spPr/>
      <dgm:t>
        <a:bodyPr/>
        <a:lstStyle/>
        <a:p>
          <a:endParaRPr lang="en-US"/>
        </a:p>
      </dgm:t>
    </dgm:pt>
    <dgm:pt modelId="{4BE58C29-CF31-4069-B05E-22AC7956F8A1}">
      <dgm:prSet/>
      <dgm:spPr/>
      <dgm:t>
        <a:bodyPr/>
        <a:lstStyle/>
        <a:p>
          <a:r>
            <a:rPr lang="de-DE"/>
            <a:t>Netto-Exporte brechen kurzfristig ein</a:t>
          </a:r>
          <a:endParaRPr lang="en-US"/>
        </a:p>
      </dgm:t>
    </dgm:pt>
    <dgm:pt modelId="{1B1019C5-FAF0-4E03-8F66-C6A7F7757FA1}" type="parTrans" cxnId="{32B616BF-C982-4780-AC1B-2C67095451B4}">
      <dgm:prSet/>
      <dgm:spPr/>
      <dgm:t>
        <a:bodyPr/>
        <a:lstStyle/>
        <a:p>
          <a:endParaRPr lang="en-US"/>
        </a:p>
      </dgm:t>
    </dgm:pt>
    <dgm:pt modelId="{8FB3907F-B3F2-479F-B49F-E3FAEB830BC8}" type="sibTrans" cxnId="{32B616BF-C982-4780-AC1B-2C67095451B4}">
      <dgm:prSet/>
      <dgm:spPr/>
      <dgm:t>
        <a:bodyPr/>
        <a:lstStyle/>
        <a:p>
          <a:endParaRPr lang="en-US"/>
        </a:p>
      </dgm:t>
    </dgm:pt>
    <dgm:pt modelId="{6D72069B-932E-49C7-A982-F457CCD68877}">
      <dgm:prSet/>
      <dgm:spPr/>
      <dgm:t>
        <a:bodyPr/>
        <a:lstStyle/>
        <a:p>
          <a:r>
            <a:rPr lang="de-DE"/>
            <a:t>Nominallöhne steigen</a:t>
          </a:r>
          <a:endParaRPr lang="en-US"/>
        </a:p>
      </dgm:t>
    </dgm:pt>
    <dgm:pt modelId="{C4E4D274-7D14-4936-9588-62F716D942E1}" type="parTrans" cxnId="{D79C002E-B0ED-4723-B2EE-3C80150D4544}">
      <dgm:prSet/>
      <dgm:spPr/>
      <dgm:t>
        <a:bodyPr/>
        <a:lstStyle/>
        <a:p>
          <a:endParaRPr lang="en-US"/>
        </a:p>
      </dgm:t>
    </dgm:pt>
    <dgm:pt modelId="{B1CB34C8-28FF-49AA-88DE-D8ABF96593F5}" type="sibTrans" cxnId="{D79C002E-B0ED-4723-B2EE-3C80150D4544}">
      <dgm:prSet/>
      <dgm:spPr/>
      <dgm:t>
        <a:bodyPr/>
        <a:lstStyle/>
        <a:p>
          <a:endParaRPr lang="en-US"/>
        </a:p>
      </dgm:t>
    </dgm:pt>
    <dgm:pt modelId="{F6212D81-5D0A-4F10-AA3E-962BE8DFC945}">
      <dgm:prSet/>
      <dgm:spPr/>
      <dgm:t>
        <a:bodyPr/>
        <a:lstStyle/>
        <a:p>
          <a:r>
            <a:rPr lang="de-DE"/>
            <a:t>Inflation auf Jahrzehntrekord, flacht dann ab</a:t>
          </a:r>
          <a:endParaRPr lang="en-US"/>
        </a:p>
      </dgm:t>
    </dgm:pt>
    <dgm:pt modelId="{F4C9443E-F79A-4D88-AC19-4F15F1B8D880}" type="parTrans" cxnId="{FAE0A9E0-37FB-476A-AE7A-21FE806E3985}">
      <dgm:prSet/>
      <dgm:spPr/>
      <dgm:t>
        <a:bodyPr/>
        <a:lstStyle/>
        <a:p>
          <a:endParaRPr lang="en-US"/>
        </a:p>
      </dgm:t>
    </dgm:pt>
    <dgm:pt modelId="{748E186E-BFB4-4041-B12E-278C65AAE5E5}" type="sibTrans" cxnId="{FAE0A9E0-37FB-476A-AE7A-21FE806E3985}">
      <dgm:prSet/>
      <dgm:spPr/>
      <dgm:t>
        <a:bodyPr/>
        <a:lstStyle/>
        <a:p>
          <a:endParaRPr lang="en-US"/>
        </a:p>
      </dgm:t>
    </dgm:pt>
    <dgm:pt modelId="{152F2794-8712-4B7C-8C48-B074A0FE047B}">
      <dgm:prSet/>
      <dgm:spPr/>
      <dgm:t>
        <a:bodyPr/>
        <a:lstStyle/>
        <a:p>
          <a:r>
            <a:rPr lang="de-DE"/>
            <a:t>Restriktive Geldpolitik mit Realzinserhöhung</a:t>
          </a:r>
          <a:endParaRPr lang="en-US"/>
        </a:p>
      </dgm:t>
    </dgm:pt>
    <dgm:pt modelId="{B568007C-24B7-40CC-B279-8DC6A426A489}" type="parTrans" cxnId="{333E3512-ABB9-4655-AAE0-1296B959A17E}">
      <dgm:prSet/>
      <dgm:spPr/>
      <dgm:t>
        <a:bodyPr/>
        <a:lstStyle/>
        <a:p>
          <a:endParaRPr lang="en-US"/>
        </a:p>
      </dgm:t>
    </dgm:pt>
    <dgm:pt modelId="{57D780B9-1E5E-4E99-8110-7020EDC00152}" type="sibTrans" cxnId="{333E3512-ABB9-4655-AAE0-1296B959A17E}">
      <dgm:prSet/>
      <dgm:spPr/>
      <dgm:t>
        <a:bodyPr/>
        <a:lstStyle/>
        <a:p>
          <a:endParaRPr lang="en-US"/>
        </a:p>
      </dgm:t>
    </dgm:pt>
    <dgm:pt modelId="{06B07CF5-52EF-4682-B87B-51ABFE2DCA5E}" type="pres">
      <dgm:prSet presAssocID="{6B90FF9E-942A-4E0A-AB0A-BBDB1B9199B1}" presName="linear" presStyleCnt="0">
        <dgm:presLayoutVars>
          <dgm:animLvl val="lvl"/>
          <dgm:resizeHandles val="exact"/>
        </dgm:presLayoutVars>
      </dgm:prSet>
      <dgm:spPr/>
    </dgm:pt>
    <dgm:pt modelId="{D8BF038F-9B98-4AC4-A6D9-F14C21F2B425}" type="pres">
      <dgm:prSet presAssocID="{2DFE9B3A-A177-45DA-B723-2B342FC3594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A2C59A1-EF79-4F57-AC3E-9D66F8B50B8D}" type="pres">
      <dgm:prSet presAssocID="{2A2E82FC-9798-41F6-8D61-414F76006EE1}" presName="spacer" presStyleCnt="0"/>
      <dgm:spPr/>
    </dgm:pt>
    <dgm:pt modelId="{E28E5E9C-E7C8-4F81-B585-81E53B77192D}" type="pres">
      <dgm:prSet presAssocID="{9E4BF9BE-C772-44BA-984B-3D92E799286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1240C70-B3FB-417A-AA54-62E361C63C29}" type="pres">
      <dgm:prSet presAssocID="{BFBAC838-FB03-4E59-9C96-9018502EBE38}" presName="spacer" presStyleCnt="0"/>
      <dgm:spPr/>
    </dgm:pt>
    <dgm:pt modelId="{7325DDBB-24D3-4D20-8E85-E54E2019AB81}" type="pres">
      <dgm:prSet presAssocID="{67795A06-700E-443D-B412-2BCBDBE84A7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B8A1450-87D7-4EA7-892E-2AB38BA03CDB}" type="pres">
      <dgm:prSet presAssocID="{F37C2A4F-843D-45F6-8918-1AF45699EE91}" presName="spacer" presStyleCnt="0"/>
      <dgm:spPr/>
    </dgm:pt>
    <dgm:pt modelId="{E8E9C836-DB44-4F76-A1E8-0A447C3B9558}" type="pres">
      <dgm:prSet presAssocID="{4BE58C29-CF31-4069-B05E-22AC7956F8A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AC4BC50-C3B4-4D8C-8578-B304537D40AB}" type="pres">
      <dgm:prSet presAssocID="{8FB3907F-B3F2-479F-B49F-E3FAEB830BC8}" presName="spacer" presStyleCnt="0"/>
      <dgm:spPr/>
    </dgm:pt>
    <dgm:pt modelId="{4F3004A1-3BF4-48EC-BCED-2343A5523E45}" type="pres">
      <dgm:prSet presAssocID="{6D72069B-932E-49C7-A982-F457CCD6887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5A2DB64-F254-4BC5-AD18-197A6323B160}" type="pres">
      <dgm:prSet presAssocID="{B1CB34C8-28FF-49AA-88DE-D8ABF96593F5}" presName="spacer" presStyleCnt="0"/>
      <dgm:spPr/>
    </dgm:pt>
    <dgm:pt modelId="{B5E80D72-4DAC-42BB-812A-D9261DF498E4}" type="pres">
      <dgm:prSet presAssocID="{F6212D81-5D0A-4F10-AA3E-962BE8DFC94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5D678FA-AF71-4080-B757-88A7E6937153}" type="pres">
      <dgm:prSet presAssocID="{748E186E-BFB4-4041-B12E-278C65AAE5E5}" presName="spacer" presStyleCnt="0"/>
      <dgm:spPr/>
    </dgm:pt>
    <dgm:pt modelId="{1BDE4EEB-D277-468A-A111-7D961D2351F3}" type="pres">
      <dgm:prSet presAssocID="{152F2794-8712-4B7C-8C48-B074A0FE047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52E3010-C4A6-427C-A49B-D1395BB28648}" type="presOf" srcId="{6B90FF9E-942A-4E0A-AB0A-BBDB1B9199B1}" destId="{06B07CF5-52EF-4682-B87B-51ABFE2DCA5E}" srcOrd="0" destOrd="0" presId="urn:microsoft.com/office/officeart/2005/8/layout/vList2"/>
    <dgm:cxn modelId="{333E3512-ABB9-4655-AAE0-1296B959A17E}" srcId="{6B90FF9E-942A-4E0A-AB0A-BBDB1B9199B1}" destId="{152F2794-8712-4B7C-8C48-B074A0FE047B}" srcOrd="6" destOrd="0" parTransId="{B568007C-24B7-40CC-B279-8DC6A426A489}" sibTransId="{57D780B9-1E5E-4E99-8110-7020EDC00152}"/>
    <dgm:cxn modelId="{3C3CE51D-ECEA-4A37-B9A9-46739A54556E}" type="presOf" srcId="{152F2794-8712-4B7C-8C48-B074A0FE047B}" destId="{1BDE4EEB-D277-468A-A111-7D961D2351F3}" srcOrd="0" destOrd="0" presId="urn:microsoft.com/office/officeart/2005/8/layout/vList2"/>
    <dgm:cxn modelId="{D79C002E-B0ED-4723-B2EE-3C80150D4544}" srcId="{6B90FF9E-942A-4E0A-AB0A-BBDB1B9199B1}" destId="{6D72069B-932E-49C7-A982-F457CCD68877}" srcOrd="4" destOrd="0" parTransId="{C4E4D274-7D14-4936-9588-62F716D942E1}" sibTransId="{B1CB34C8-28FF-49AA-88DE-D8ABF96593F5}"/>
    <dgm:cxn modelId="{EDE64064-5636-47DC-B075-024AA6B1E7C4}" type="presOf" srcId="{2DFE9B3A-A177-45DA-B723-2B342FC35943}" destId="{D8BF038F-9B98-4AC4-A6D9-F14C21F2B425}" srcOrd="0" destOrd="0" presId="urn:microsoft.com/office/officeart/2005/8/layout/vList2"/>
    <dgm:cxn modelId="{6A1A9E76-5DEE-47B3-B4D1-BB5843D8E5CD}" srcId="{6B90FF9E-942A-4E0A-AB0A-BBDB1B9199B1}" destId="{67795A06-700E-443D-B412-2BCBDBE84A70}" srcOrd="2" destOrd="0" parTransId="{1B9B66C0-EBE6-4A88-B6DC-580DA3B0A9B7}" sibTransId="{F37C2A4F-843D-45F6-8918-1AF45699EE91}"/>
    <dgm:cxn modelId="{47328B57-D2CD-4DA5-BA46-A331E778E814}" type="presOf" srcId="{4BE58C29-CF31-4069-B05E-22AC7956F8A1}" destId="{E8E9C836-DB44-4F76-A1E8-0A447C3B9558}" srcOrd="0" destOrd="0" presId="urn:microsoft.com/office/officeart/2005/8/layout/vList2"/>
    <dgm:cxn modelId="{DF2B3D79-2885-4A2A-9F4B-05833488313C}" type="presOf" srcId="{6D72069B-932E-49C7-A982-F457CCD68877}" destId="{4F3004A1-3BF4-48EC-BCED-2343A5523E45}" srcOrd="0" destOrd="0" presId="urn:microsoft.com/office/officeart/2005/8/layout/vList2"/>
    <dgm:cxn modelId="{A6BD128E-E50B-4EC6-A0ED-670D0E0E0795}" srcId="{6B90FF9E-942A-4E0A-AB0A-BBDB1B9199B1}" destId="{9E4BF9BE-C772-44BA-984B-3D92E799286F}" srcOrd="1" destOrd="0" parTransId="{C87CF3B9-F171-4B44-B25C-BE1842E653F6}" sibTransId="{BFBAC838-FB03-4E59-9C96-9018502EBE38}"/>
    <dgm:cxn modelId="{0B5BD9BA-9A27-4E18-8295-A6554A40AEDB}" type="presOf" srcId="{9E4BF9BE-C772-44BA-984B-3D92E799286F}" destId="{E28E5E9C-E7C8-4F81-B585-81E53B77192D}" srcOrd="0" destOrd="0" presId="urn:microsoft.com/office/officeart/2005/8/layout/vList2"/>
    <dgm:cxn modelId="{32B616BF-C982-4780-AC1B-2C67095451B4}" srcId="{6B90FF9E-942A-4E0A-AB0A-BBDB1B9199B1}" destId="{4BE58C29-CF31-4069-B05E-22AC7956F8A1}" srcOrd="3" destOrd="0" parTransId="{1B1019C5-FAF0-4E03-8F66-C6A7F7757FA1}" sibTransId="{8FB3907F-B3F2-479F-B49F-E3FAEB830BC8}"/>
    <dgm:cxn modelId="{9E1CF0CB-80C0-4F61-AE07-A37BF3400453}" type="presOf" srcId="{F6212D81-5D0A-4F10-AA3E-962BE8DFC945}" destId="{B5E80D72-4DAC-42BB-812A-D9261DF498E4}" srcOrd="0" destOrd="0" presId="urn:microsoft.com/office/officeart/2005/8/layout/vList2"/>
    <dgm:cxn modelId="{FAE0A9E0-37FB-476A-AE7A-21FE806E3985}" srcId="{6B90FF9E-942A-4E0A-AB0A-BBDB1B9199B1}" destId="{F6212D81-5D0A-4F10-AA3E-962BE8DFC945}" srcOrd="5" destOrd="0" parTransId="{F4C9443E-F79A-4D88-AC19-4F15F1B8D880}" sibTransId="{748E186E-BFB4-4041-B12E-278C65AAE5E5}"/>
    <dgm:cxn modelId="{8C4304E1-B15D-489B-A43C-DCA1AFEC5188}" srcId="{6B90FF9E-942A-4E0A-AB0A-BBDB1B9199B1}" destId="{2DFE9B3A-A177-45DA-B723-2B342FC35943}" srcOrd="0" destOrd="0" parTransId="{8F15B40F-4ED9-4E13-8A32-62BECFA7081F}" sibTransId="{2A2E82FC-9798-41F6-8D61-414F76006EE1}"/>
    <dgm:cxn modelId="{179D75E9-0E2D-4BF5-892D-56EF67666FF1}" type="presOf" srcId="{67795A06-700E-443D-B412-2BCBDBE84A70}" destId="{7325DDBB-24D3-4D20-8E85-E54E2019AB81}" srcOrd="0" destOrd="0" presId="urn:microsoft.com/office/officeart/2005/8/layout/vList2"/>
    <dgm:cxn modelId="{FFF000FB-7123-4E5D-B9CD-7182BE1C8476}" type="presParOf" srcId="{06B07CF5-52EF-4682-B87B-51ABFE2DCA5E}" destId="{D8BF038F-9B98-4AC4-A6D9-F14C21F2B425}" srcOrd="0" destOrd="0" presId="urn:microsoft.com/office/officeart/2005/8/layout/vList2"/>
    <dgm:cxn modelId="{8A27C7B5-F45D-499B-AD94-0D19835872F3}" type="presParOf" srcId="{06B07CF5-52EF-4682-B87B-51ABFE2DCA5E}" destId="{AA2C59A1-EF79-4F57-AC3E-9D66F8B50B8D}" srcOrd="1" destOrd="0" presId="urn:microsoft.com/office/officeart/2005/8/layout/vList2"/>
    <dgm:cxn modelId="{239E18E5-5381-4F75-9C59-EAB7A340BAF9}" type="presParOf" srcId="{06B07CF5-52EF-4682-B87B-51ABFE2DCA5E}" destId="{E28E5E9C-E7C8-4F81-B585-81E53B77192D}" srcOrd="2" destOrd="0" presId="urn:microsoft.com/office/officeart/2005/8/layout/vList2"/>
    <dgm:cxn modelId="{34475521-C62F-443A-AB16-834164C6C051}" type="presParOf" srcId="{06B07CF5-52EF-4682-B87B-51ABFE2DCA5E}" destId="{91240C70-B3FB-417A-AA54-62E361C63C29}" srcOrd="3" destOrd="0" presId="urn:microsoft.com/office/officeart/2005/8/layout/vList2"/>
    <dgm:cxn modelId="{DFB8503D-4434-4175-BB4D-663F62B9C50C}" type="presParOf" srcId="{06B07CF5-52EF-4682-B87B-51ABFE2DCA5E}" destId="{7325DDBB-24D3-4D20-8E85-E54E2019AB81}" srcOrd="4" destOrd="0" presId="urn:microsoft.com/office/officeart/2005/8/layout/vList2"/>
    <dgm:cxn modelId="{BB414DDF-8D31-4F1B-A16D-A1DFCDB0764B}" type="presParOf" srcId="{06B07CF5-52EF-4682-B87B-51ABFE2DCA5E}" destId="{9B8A1450-87D7-4EA7-892E-2AB38BA03CDB}" srcOrd="5" destOrd="0" presId="urn:microsoft.com/office/officeart/2005/8/layout/vList2"/>
    <dgm:cxn modelId="{6B51FAAA-E01D-467B-A3C3-C93385C01946}" type="presParOf" srcId="{06B07CF5-52EF-4682-B87B-51ABFE2DCA5E}" destId="{E8E9C836-DB44-4F76-A1E8-0A447C3B9558}" srcOrd="6" destOrd="0" presId="urn:microsoft.com/office/officeart/2005/8/layout/vList2"/>
    <dgm:cxn modelId="{30B0B69B-59E6-46CD-8AA9-0AED6E2216B3}" type="presParOf" srcId="{06B07CF5-52EF-4682-B87B-51ABFE2DCA5E}" destId="{5AC4BC50-C3B4-4D8C-8578-B304537D40AB}" srcOrd="7" destOrd="0" presId="urn:microsoft.com/office/officeart/2005/8/layout/vList2"/>
    <dgm:cxn modelId="{E6B3F048-7CF1-4391-9F7F-25DD472C525B}" type="presParOf" srcId="{06B07CF5-52EF-4682-B87B-51ABFE2DCA5E}" destId="{4F3004A1-3BF4-48EC-BCED-2343A5523E45}" srcOrd="8" destOrd="0" presId="urn:microsoft.com/office/officeart/2005/8/layout/vList2"/>
    <dgm:cxn modelId="{3AA7FBDA-8A95-4FDD-AA37-BA75ECD0650B}" type="presParOf" srcId="{06B07CF5-52EF-4682-B87B-51ABFE2DCA5E}" destId="{D5A2DB64-F254-4BC5-AD18-197A6323B160}" srcOrd="9" destOrd="0" presId="urn:microsoft.com/office/officeart/2005/8/layout/vList2"/>
    <dgm:cxn modelId="{B6C6E3BA-307D-4CFF-9384-1843D49BCBCC}" type="presParOf" srcId="{06B07CF5-52EF-4682-B87B-51ABFE2DCA5E}" destId="{B5E80D72-4DAC-42BB-812A-D9261DF498E4}" srcOrd="10" destOrd="0" presId="urn:microsoft.com/office/officeart/2005/8/layout/vList2"/>
    <dgm:cxn modelId="{80648794-42C0-4AAA-8B57-501BD1677CC3}" type="presParOf" srcId="{06B07CF5-52EF-4682-B87B-51ABFE2DCA5E}" destId="{25D678FA-AF71-4080-B757-88A7E6937153}" srcOrd="11" destOrd="0" presId="urn:microsoft.com/office/officeart/2005/8/layout/vList2"/>
    <dgm:cxn modelId="{F0E8A065-D536-4699-8DBE-A8EBB18C868F}" type="presParOf" srcId="{06B07CF5-52EF-4682-B87B-51ABFE2DCA5E}" destId="{1BDE4EEB-D277-468A-A111-7D961D2351F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199CD2-8ABA-474B-BB17-7651669D9D2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CD50348-3CB4-46F1-B5EC-2B9B0CAE21BC}">
      <dgm:prSet/>
      <dgm:spPr/>
      <dgm:t>
        <a:bodyPr/>
        <a:lstStyle/>
        <a:p>
          <a:r>
            <a:rPr lang="de-DE"/>
            <a:t>Pauschalauszahlungen rechtsverschiebung der AD Kurve</a:t>
          </a:r>
          <a:endParaRPr lang="en-US"/>
        </a:p>
      </dgm:t>
    </dgm:pt>
    <dgm:pt modelId="{34C27FE0-C1D1-4DC9-9892-167A068E3CA3}" type="parTrans" cxnId="{9EDBD8D1-4D90-493B-9676-204BE3B12F37}">
      <dgm:prSet/>
      <dgm:spPr/>
      <dgm:t>
        <a:bodyPr/>
        <a:lstStyle/>
        <a:p>
          <a:endParaRPr lang="en-US"/>
        </a:p>
      </dgm:t>
    </dgm:pt>
    <dgm:pt modelId="{E8E66A02-A3CE-4D5F-BE4F-76E2C358570A}" type="sibTrans" cxnId="{9EDBD8D1-4D90-493B-9676-204BE3B12F37}">
      <dgm:prSet/>
      <dgm:spPr/>
      <dgm:t>
        <a:bodyPr/>
        <a:lstStyle/>
        <a:p>
          <a:endParaRPr lang="en-US"/>
        </a:p>
      </dgm:t>
    </dgm:pt>
    <dgm:pt modelId="{9B4E10B3-A5B5-45D4-A1EC-A0A36F0A3999}">
      <dgm:prSet/>
      <dgm:spPr/>
      <dgm:t>
        <a:bodyPr/>
        <a:lstStyle/>
        <a:p>
          <a:r>
            <a:rPr lang="de-DE"/>
            <a:t>Unterstützungen für Unternehmen rechtsverschiebung der SRAS Kurve</a:t>
          </a:r>
          <a:endParaRPr lang="en-US"/>
        </a:p>
      </dgm:t>
    </dgm:pt>
    <dgm:pt modelId="{984C93A9-EBA5-47A0-A32F-30A62EC702B3}" type="parTrans" cxnId="{63049BD0-7FC2-4F77-895C-49622D492B1D}">
      <dgm:prSet/>
      <dgm:spPr/>
      <dgm:t>
        <a:bodyPr/>
        <a:lstStyle/>
        <a:p>
          <a:endParaRPr lang="en-US"/>
        </a:p>
      </dgm:t>
    </dgm:pt>
    <dgm:pt modelId="{E7DB2AE7-E41B-4D47-90C7-B625E0E953FC}" type="sibTrans" cxnId="{63049BD0-7FC2-4F77-895C-49622D492B1D}">
      <dgm:prSet/>
      <dgm:spPr/>
      <dgm:t>
        <a:bodyPr/>
        <a:lstStyle/>
        <a:p>
          <a:endParaRPr lang="en-US"/>
        </a:p>
      </dgm:t>
    </dgm:pt>
    <dgm:pt modelId="{6B1E6FAE-F2AC-42E0-BCBC-568FC573A2C8}">
      <dgm:prSet/>
      <dgm:spPr/>
      <dgm:t>
        <a:bodyPr/>
        <a:lstStyle/>
        <a:p>
          <a:r>
            <a:rPr lang="de-DE"/>
            <a:t>Die zuvor analysierten Dynamiken würden nach wie vor geschehen, jedoch in der kurzen Frist abgeschwächt werden</a:t>
          </a:r>
          <a:endParaRPr lang="en-US"/>
        </a:p>
      </dgm:t>
    </dgm:pt>
    <dgm:pt modelId="{E6911701-6136-4AAE-BEDD-C2989D708081}" type="parTrans" cxnId="{58147F57-E76D-436F-95F0-EA5FE4DAAC60}">
      <dgm:prSet/>
      <dgm:spPr/>
      <dgm:t>
        <a:bodyPr/>
        <a:lstStyle/>
        <a:p>
          <a:endParaRPr lang="en-US"/>
        </a:p>
      </dgm:t>
    </dgm:pt>
    <dgm:pt modelId="{E30082AB-EEE4-485B-9C95-D4EED57ADD99}" type="sibTrans" cxnId="{58147F57-E76D-436F-95F0-EA5FE4DAAC60}">
      <dgm:prSet/>
      <dgm:spPr/>
      <dgm:t>
        <a:bodyPr/>
        <a:lstStyle/>
        <a:p>
          <a:endParaRPr lang="en-US"/>
        </a:p>
      </dgm:t>
    </dgm:pt>
    <dgm:pt modelId="{24AEB932-DDE9-4AD8-8728-3E34D40E807C}">
      <dgm:prSet/>
      <dgm:spPr/>
      <dgm:t>
        <a:bodyPr/>
        <a:lstStyle/>
        <a:p>
          <a:r>
            <a:rPr lang="de-DE"/>
            <a:t>Langfristig: Staatsausgaben werden über Steuern ausgeglichen</a:t>
          </a:r>
          <a:endParaRPr lang="en-US"/>
        </a:p>
      </dgm:t>
    </dgm:pt>
    <dgm:pt modelId="{46207A36-8AB4-4054-9FC2-A181F2FDECC6}" type="parTrans" cxnId="{439D9570-C7BF-40E7-BB94-3330A2A6D144}">
      <dgm:prSet/>
      <dgm:spPr/>
      <dgm:t>
        <a:bodyPr/>
        <a:lstStyle/>
        <a:p>
          <a:endParaRPr lang="en-US"/>
        </a:p>
      </dgm:t>
    </dgm:pt>
    <dgm:pt modelId="{586F02C7-D375-4887-A699-2A84A021C940}" type="sibTrans" cxnId="{439D9570-C7BF-40E7-BB94-3330A2A6D144}">
      <dgm:prSet/>
      <dgm:spPr/>
      <dgm:t>
        <a:bodyPr/>
        <a:lstStyle/>
        <a:p>
          <a:endParaRPr lang="en-US"/>
        </a:p>
      </dgm:t>
    </dgm:pt>
    <dgm:pt modelId="{1C8DD2D5-0044-40C8-96FF-E1D32741F66D}">
      <dgm:prSet/>
      <dgm:spPr/>
      <dgm:t>
        <a:bodyPr/>
        <a:lstStyle/>
        <a:p>
          <a:r>
            <a:rPr lang="de-DE"/>
            <a:t>Daher: Langfristig weniger Konsum und niedrigeres BIP (GDP)</a:t>
          </a:r>
          <a:endParaRPr lang="en-US"/>
        </a:p>
      </dgm:t>
    </dgm:pt>
    <dgm:pt modelId="{2C5007CD-E9A2-4A43-8F2E-A4478686313E}" type="parTrans" cxnId="{DDDB8FFF-95C3-4320-B7F3-261742E5A82C}">
      <dgm:prSet/>
      <dgm:spPr/>
      <dgm:t>
        <a:bodyPr/>
        <a:lstStyle/>
        <a:p>
          <a:endParaRPr lang="en-US"/>
        </a:p>
      </dgm:t>
    </dgm:pt>
    <dgm:pt modelId="{C1D9619A-0E5E-40DF-9B17-62C8DA873AEC}" type="sibTrans" cxnId="{DDDB8FFF-95C3-4320-B7F3-261742E5A82C}">
      <dgm:prSet/>
      <dgm:spPr/>
      <dgm:t>
        <a:bodyPr/>
        <a:lstStyle/>
        <a:p>
          <a:endParaRPr lang="en-US"/>
        </a:p>
      </dgm:t>
    </dgm:pt>
    <dgm:pt modelId="{61B40481-4942-4945-9464-37A743590B6B}" type="pres">
      <dgm:prSet presAssocID="{40199CD2-8ABA-474B-BB17-7651669D9D29}" presName="linear" presStyleCnt="0">
        <dgm:presLayoutVars>
          <dgm:animLvl val="lvl"/>
          <dgm:resizeHandles val="exact"/>
        </dgm:presLayoutVars>
      </dgm:prSet>
      <dgm:spPr/>
    </dgm:pt>
    <dgm:pt modelId="{CADA0E82-482F-4106-8ED7-78A99ADDDAA2}" type="pres">
      <dgm:prSet presAssocID="{9CD50348-3CB4-46F1-B5EC-2B9B0CAE21B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C3765C-120F-41A2-9516-F1BF3A8F2E97}" type="pres">
      <dgm:prSet presAssocID="{E8E66A02-A3CE-4D5F-BE4F-76E2C358570A}" presName="spacer" presStyleCnt="0"/>
      <dgm:spPr/>
    </dgm:pt>
    <dgm:pt modelId="{0A7F649D-E0CD-4764-BBA7-E0753BB7AF4C}" type="pres">
      <dgm:prSet presAssocID="{9B4E10B3-A5B5-45D4-A1EC-A0A36F0A399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5B7BD3D-F605-424C-8BDF-E1516EBEAF51}" type="pres">
      <dgm:prSet presAssocID="{E7DB2AE7-E41B-4D47-90C7-B625E0E953FC}" presName="spacer" presStyleCnt="0"/>
      <dgm:spPr/>
    </dgm:pt>
    <dgm:pt modelId="{14D55018-376C-4295-BF38-DB18C47FFB71}" type="pres">
      <dgm:prSet presAssocID="{6B1E6FAE-F2AC-42E0-BCBC-568FC573A2C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A1ED94F-F7D9-4513-81F7-612174CF8ADE}" type="pres">
      <dgm:prSet presAssocID="{E30082AB-EEE4-485B-9C95-D4EED57ADD99}" presName="spacer" presStyleCnt="0"/>
      <dgm:spPr/>
    </dgm:pt>
    <dgm:pt modelId="{39E6DB61-5497-459E-84D8-E3E79E9D3A16}" type="pres">
      <dgm:prSet presAssocID="{24AEB932-DDE9-4AD8-8728-3E34D40E807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D694BC-F090-43F4-A1C7-9E1762F688FC}" type="pres">
      <dgm:prSet presAssocID="{586F02C7-D375-4887-A699-2A84A021C940}" presName="spacer" presStyleCnt="0"/>
      <dgm:spPr/>
    </dgm:pt>
    <dgm:pt modelId="{8C80626B-B4C0-495C-9D98-E15202581957}" type="pres">
      <dgm:prSet presAssocID="{1C8DD2D5-0044-40C8-96FF-E1D32741F6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B7FCA0E-5A51-43F1-80AC-3C9B74B57600}" type="presOf" srcId="{9B4E10B3-A5B5-45D4-A1EC-A0A36F0A3999}" destId="{0A7F649D-E0CD-4764-BBA7-E0753BB7AF4C}" srcOrd="0" destOrd="0" presId="urn:microsoft.com/office/officeart/2005/8/layout/vList2"/>
    <dgm:cxn modelId="{439D9570-C7BF-40E7-BB94-3330A2A6D144}" srcId="{40199CD2-8ABA-474B-BB17-7651669D9D29}" destId="{24AEB932-DDE9-4AD8-8728-3E34D40E807C}" srcOrd="3" destOrd="0" parTransId="{46207A36-8AB4-4054-9FC2-A181F2FDECC6}" sibTransId="{586F02C7-D375-4887-A699-2A84A021C940}"/>
    <dgm:cxn modelId="{58147F57-E76D-436F-95F0-EA5FE4DAAC60}" srcId="{40199CD2-8ABA-474B-BB17-7651669D9D29}" destId="{6B1E6FAE-F2AC-42E0-BCBC-568FC573A2C8}" srcOrd="2" destOrd="0" parTransId="{E6911701-6136-4AAE-BEDD-C2989D708081}" sibTransId="{E30082AB-EEE4-485B-9C95-D4EED57ADD99}"/>
    <dgm:cxn modelId="{E7CBD358-05D3-45A4-AF1A-FEACAA5D1969}" type="presOf" srcId="{24AEB932-DDE9-4AD8-8728-3E34D40E807C}" destId="{39E6DB61-5497-459E-84D8-E3E79E9D3A16}" srcOrd="0" destOrd="0" presId="urn:microsoft.com/office/officeart/2005/8/layout/vList2"/>
    <dgm:cxn modelId="{78D48B7C-FDD4-44B0-AA43-B47251F3F390}" type="presOf" srcId="{1C8DD2D5-0044-40C8-96FF-E1D32741F66D}" destId="{8C80626B-B4C0-495C-9D98-E15202581957}" srcOrd="0" destOrd="0" presId="urn:microsoft.com/office/officeart/2005/8/layout/vList2"/>
    <dgm:cxn modelId="{B51AD87C-2E46-4632-ADF0-CFE14C55F7BA}" type="presOf" srcId="{40199CD2-8ABA-474B-BB17-7651669D9D29}" destId="{61B40481-4942-4945-9464-37A743590B6B}" srcOrd="0" destOrd="0" presId="urn:microsoft.com/office/officeart/2005/8/layout/vList2"/>
    <dgm:cxn modelId="{36869ABC-F70E-4A05-89E0-5E18F798466A}" type="presOf" srcId="{6B1E6FAE-F2AC-42E0-BCBC-568FC573A2C8}" destId="{14D55018-376C-4295-BF38-DB18C47FFB71}" srcOrd="0" destOrd="0" presId="urn:microsoft.com/office/officeart/2005/8/layout/vList2"/>
    <dgm:cxn modelId="{63049BD0-7FC2-4F77-895C-49622D492B1D}" srcId="{40199CD2-8ABA-474B-BB17-7651669D9D29}" destId="{9B4E10B3-A5B5-45D4-A1EC-A0A36F0A3999}" srcOrd="1" destOrd="0" parTransId="{984C93A9-EBA5-47A0-A32F-30A62EC702B3}" sibTransId="{E7DB2AE7-E41B-4D47-90C7-B625E0E953FC}"/>
    <dgm:cxn modelId="{9EDBD8D1-4D90-493B-9676-204BE3B12F37}" srcId="{40199CD2-8ABA-474B-BB17-7651669D9D29}" destId="{9CD50348-3CB4-46F1-B5EC-2B9B0CAE21BC}" srcOrd="0" destOrd="0" parTransId="{34C27FE0-C1D1-4DC9-9892-167A068E3CA3}" sibTransId="{E8E66A02-A3CE-4D5F-BE4F-76E2C358570A}"/>
    <dgm:cxn modelId="{42EADDEF-B6C3-40A7-83F9-8C458FF043B4}" type="presOf" srcId="{9CD50348-3CB4-46F1-B5EC-2B9B0CAE21BC}" destId="{CADA0E82-482F-4106-8ED7-78A99ADDDAA2}" srcOrd="0" destOrd="0" presId="urn:microsoft.com/office/officeart/2005/8/layout/vList2"/>
    <dgm:cxn modelId="{DDDB8FFF-95C3-4320-B7F3-261742E5A82C}" srcId="{40199CD2-8ABA-474B-BB17-7651669D9D29}" destId="{1C8DD2D5-0044-40C8-96FF-E1D32741F66D}" srcOrd="4" destOrd="0" parTransId="{2C5007CD-E9A2-4A43-8F2E-A4478686313E}" sibTransId="{C1D9619A-0E5E-40DF-9B17-62C8DA873AEC}"/>
    <dgm:cxn modelId="{F80DE8FB-407C-430E-AE95-4078805BFF11}" type="presParOf" srcId="{61B40481-4942-4945-9464-37A743590B6B}" destId="{CADA0E82-482F-4106-8ED7-78A99ADDDAA2}" srcOrd="0" destOrd="0" presId="urn:microsoft.com/office/officeart/2005/8/layout/vList2"/>
    <dgm:cxn modelId="{585DF3BC-CCDC-444C-8151-8BBA9D639A07}" type="presParOf" srcId="{61B40481-4942-4945-9464-37A743590B6B}" destId="{DDC3765C-120F-41A2-9516-F1BF3A8F2E97}" srcOrd="1" destOrd="0" presId="urn:microsoft.com/office/officeart/2005/8/layout/vList2"/>
    <dgm:cxn modelId="{A938292A-BE79-4662-9495-A40525EBF26F}" type="presParOf" srcId="{61B40481-4942-4945-9464-37A743590B6B}" destId="{0A7F649D-E0CD-4764-BBA7-E0753BB7AF4C}" srcOrd="2" destOrd="0" presId="urn:microsoft.com/office/officeart/2005/8/layout/vList2"/>
    <dgm:cxn modelId="{1CB62110-0D04-4EAE-B68B-43D3F27F5104}" type="presParOf" srcId="{61B40481-4942-4945-9464-37A743590B6B}" destId="{25B7BD3D-F605-424C-8BDF-E1516EBEAF51}" srcOrd="3" destOrd="0" presId="urn:microsoft.com/office/officeart/2005/8/layout/vList2"/>
    <dgm:cxn modelId="{E007FFDA-0E55-420F-9FED-4FD0FCE24C7D}" type="presParOf" srcId="{61B40481-4942-4945-9464-37A743590B6B}" destId="{14D55018-376C-4295-BF38-DB18C47FFB71}" srcOrd="4" destOrd="0" presId="urn:microsoft.com/office/officeart/2005/8/layout/vList2"/>
    <dgm:cxn modelId="{FEF46C96-CF87-4655-B004-63C7BE7DCBED}" type="presParOf" srcId="{61B40481-4942-4945-9464-37A743590B6B}" destId="{1A1ED94F-F7D9-4513-81F7-612174CF8ADE}" srcOrd="5" destOrd="0" presId="urn:microsoft.com/office/officeart/2005/8/layout/vList2"/>
    <dgm:cxn modelId="{FE359286-E50B-4742-BCF3-5AB91114B6AD}" type="presParOf" srcId="{61B40481-4942-4945-9464-37A743590B6B}" destId="{39E6DB61-5497-459E-84D8-E3E79E9D3A16}" srcOrd="6" destOrd="0" presId="urn:microsoft.com/office/officeart/2005/8/layout/vList2"/>
    <dgm:cxn modelId="{54F3E709-D4AA-42D8-B635-E20D1E8A2DAF}" type="presParOf" srcId="{61B40481-4942-4945-9464-37A743590B6B}" destId="{F1D694BC-F090-43F4-A1C7-9E1762F688FC}" srcOrd="7" destOrd="0" presId="urn:microsoft.com/office/officeart/2005/8/layout/vList2"/>
    <dgm:cxn modelId="{FEA1566A-D734-4CDB-91C9-AE7922AC5FDF}" type="presParOf" srcId="{61B40481-4942-4945-9464-37A743590B6B}" destId="{8C80626B-B4C0-495C-9D98-E152025819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3BE246-38CF-4B8D-8700-97873D0FD95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74785C-C9B2-47AC-AE5F-2E31A7856C12}">
      <dgm:prSet/>
      <dgm:spPr/>
      <dgm:t>
        <a:bodyPr/>
        <a:lstStyle/>
        <a:p>
          <a:r>
            <a:rPr lang="de-DE"/>
            <a:t>Nominallöhne bleiben konstant, Reallöhne fallen</a:t>
          </a:r>
          <a:endParaRPr lang="en-US"/>
        </a:p>
      </dgm:t>
    </dgm:pt>
    <dgm:pt modelId="{FAF8C87A-1AB4-48D7-B2FE-54D3AA2DD559}" type="parTrans" cxnId="{FDCE1CD6-3807-43F3-A750-044D747BAB1D}">
      <dgm:prSet/>
      <dgm:spPr/>
      <dgm:t>
        <a:bodyPr/>
        <a:lstStyle/>
        <a:p>
          <a:endParaRPr lang="en-US"/>
        </a:p>
      </dgm:t>
    </dgm:pt>
    <dgm:pt modelId="{D73B9E4C-6FB4-4010-A1D9-830885479F14}" type="sibTrans" cxnId="{FDCE1CD6-3807-43F3-A750-044D747BAB1D}">
      <dgm:prSet/>
      <dgm:spPr/>
      <dgm:t>
        <a:bodyPr/>
        <a:lstStyle/>
        <a:p>
          <a:endParaRPr lang="en-US"/>
        </a:p>
      </dgm:t>
    </dgm:pt>
    <dgm:pt modelId="{2F11A4AD-B7AA-4D3B-892D-C903ABFDB88D}">
      <dgm:prSet/>
      <dgm:spPr/>
      <dgm:t>
        <a:bodyPr/>
        <a:lstStyle/>
        <a:p>
          <a:r>
            <a:rPr lang="de-DE"/>
            <a:t>Arbeitnehmer nehmen Reallohnverlust wahr und treffen neue Entscheidung über Freizeit- vs Arbeitspayoff</a:t>
          </a:r>
          <a:endParaRPr lang="en-US"/>
        </a:p>
      </dgm:t>
    </dgm:pt>
    <dgm:pt modelId="{BD999715-35AE-49E3-94DD-E178CB0DCFF4}" type="parTrans" cxnId="{7D0C3238-05C5-4B3D-B8D9-6624A98B7C46}">
      <dgm:prSet/>
      <dgm:spPr/>
      <dgm:t>
        <a:bodyPr/>
        <a:lstStyle/>
        <a:p>
          <a:endParaRPr lang="en-US"/>
        </a:p>
      </dgm:t>
    </dgm:pt>
    <dgm:pt modelId="{B2BDDFA4-BFA8-4554-B791-130D60E5EAAC}" type="sibTrans" cxnId="{7D0C3238-05C5-4B3D-B8D9-6624A98B7C46}">
      <dgm:prSet/>
      <dgm:spPr/>
      <dgm:t>
        <a:bodyPr/>
        <a:lstStyle/>
        <a:p>
          <a:endParaRPr lang="en-US"/>
        </a:p>
      </dgm:t>
    </dgm:pt>
    <dgm:pt modelId="{3C3CDE5B-1229-4524-89B2-68A0A893D033}">
      <dgm:prSet/>
      <dgm:spPr/>
      <dgm:t>
        <a:bodyPr/>
        <a:lstStyle/>
        <a:p>
          <a:r>
            <a:rPr lang="de-DE"/>
            <a:t>Substitutionseffekt: w+ -&gt; N+</a:t>
          </a:r>
          <a:endParaRPr lang="en-US"/>
        </a:p>
      </dgm:t>
    </dgm:pt>
    <dgm:pt modelId="{6A732F07-7DEC-413F-9DAE-C26CBB0D22D9}" type="parTrans" cxnId="{E2DB6225-51E6-47A6-B9CF-9DDAE6406FE7}">
      <dgm:prSet/>
      <dgm:spPr/>
      <dgm:t>
        <a:bodyPr/>
        <a:lstStyle/>
        <a:p>
          <a:endParaRPr lang="en-US"/>
        </a:p>
      </dgm:t>
    </dgm:pt>
    <dgm:pt modelId="{F65C4F21-EF95-4016-BA9B-C7792E6C7EAB}" type="sibTrans" cxnId="{E2DB6225-51E6-47A6-B9CF-9DDAE6406FE7}">
      <dgm:prSet/>
      <dgm:spPr/>
      <dgm:t>
        <a:bodyPr/>
        <a:lstStyle/>
        <a:p>
          <a:endParaRPr lang="en-US"/>
        </a:p>
      </dgm:t>
    </dgm:pt>
    <dgm:pt modelId="{A170FD88-3D7B-40E3-A08C-9953DC3BE38B}">
      <dgm:prSet/>
      <dgm:spPr/>
      <dgm:t>
        <a:bodyPr/>
        <a:lstStyle/>
        <a:p>
          <a:r>
            <a:rPr lang="de-DE"/>
            <a:t>Einkommenseffekt: w+ -&gt; N-</a:t>
          </a:r>
          <a:endParaRPr lang="en-US"/>
        </a:p>
      </dgm:t>
    </dgm:pt>
    <dgm:pt modelId="{B5478F65-5654-4F02-B90D-26D90EEA7E37}" type="parTrans" cxnId="{D4746004-775A-4B3F-A8D8-FDFA0083B316}">
      <dgm:prSet/>
      <dgm:spPr/>
      <dgm:t>
        <a:bodyPr/>
        <a:lstStyle/>
        <a:p>
          <a:endParaRPr lang="en-US"/>
        </a:p>
      </dgm:t>
    </dgm:pt>
    <dgm:pt modelId="{88D8AF78-294D-43C0-8FCD-E5DB98F90EA5}" type="sibTrans" cxnId="{D4746004-775A-4B3F-A8D8-FDFA0083B316}">
      <dgm:prSet/>
      <dgm:spPr/>
      <dgm:t>
        <a:bodyPr/>
        <a:lstStyle/>
        <a:p>
          <a:endParaRPr lang="en-US"/>
        </a:p>
      </dgm:t>
    </dgm:pt>
    <dgm:pt modelId="{B79EFDAE-5519-4C37-B9F6-855208F6786D}">
      <dgm:prSet/>
      <dgm:spPr/>
      <dgm:t>
        <a:bodyPr/>
        <a:lstStyle/>
        <a:p>
          <a:r>
            <a:rPr lang="de-DE"/>
            <a:t>Für Niedriglohnsektor: Substitutionseffekt &gt; Einkommenseffekt</a:t>
          </a:r>
          <a:endParaRPr lang="en-US"/>
        </a:p>
      </dgm:t>
    </dgm:pt>
    <dgm:pt modelId="{309CB632-5228-446B-A8F3-6AFA912FD461}" type="parTrans" cxnId="{2EA72CC7-37E0-4324-A6BE-DE4082AF344B}">
      <dgm:prSet/>
      <dgm:spPr/>
      <dgm:t>
        <a:bodyPr/>
        <a:lstStyle/>
        <a:p>
          <a:endParaRPr lang="en-US"/>
        </a:p>
      </dgm:t>
    </dgm:pt>
    <dgm:pt modelId="{E97C142D-3FF9-4318-A14F-09562B197B91}" type="sibTrans" cxnId="{2EA72CC7-37E0-4324-A6BE-DE4082AF344B}">
      <dgm:prSet/>
      <dgm:spPr/>
      <dgm:t>
        <a:bodyPr/>
        <a:lstStyle/>
        <a:p>
          <a:endParaRPr lang="en-US"/>
        </a:p>
      </dgm:t>
    </dgm:pt>
    <dgm:pt modelId="{D772D390-0C43-46CE-B8AF-6CC0C197126B}" type="pres">
      <dgm:prSet presAssocID="{763BE246-38CF-4B8D-8700-97873D0FD953}" presName="linear" presStyleCnt="0">
        <dgm:presLayoutVars>
          <dgm:animLvl val="lvl"/>
          <dgm:resizeHandles val="exact"/>
        </dgm:presLayoutVars>
      </dgm:prSet>
      <dgm:spPr/>
    </dgm:pt>
    <dgm:pt modelId="{89D295FF-4EA7-4924-9998-60A215D9F584}" type="pres">
      <dgm:prSet presAssocID="{4774785C-C9B2-47AC-AE5F-2E31A7856C1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69F004D-1383-42E8-8465-033AAC8669E2}" type="pres">
      <dgm:prSet presAssocID="{D73B9E4C-6FB4-4010-A1D9-830885479F14}" presName="spacer" presStyleCnt="0"/>
      <dgm:spPr/>
    </dgm:pt>
    <dgm:pt modelId="{298B30B5-E812-45CD-A027-A60EC38A6F85}" type="pres">
      <dgm:prSet presAssocID="{2F11A4AD-B7AA-4D3B-892D-C903ABFDB88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12BC4BB-B668-4269-A866-38565B5E6EC8}" type="pres">
      <dgm:prSet presAssocID="{B2BDDFA4-BFA8-4554-B791-130D60E5EAAC}" presName="spacer" presStyleCnt="0"/>
      <dgm:spPr/>
    </dgm:pt>
    <dgm:pt modelId="{E1F7561E-FE6E-4EC4-A320-CC1E15B39580}" type="pres">
      <dgm:prSet presAssocID="{3C3CDE5B-1229-4524-89B2-68A0A893D03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BFD8BB-003E-44CF-B716-4D6E274310D6}" type="pres">
      <dgm:prSet presAssocID="{F65C4F21-EF95-4016-BA9B-C7792E6C7EAB}" presName="spacer" presStyleCnt="0"/>
      <dgm:spPr/>
    </dgm:pt>
    <dgm:pt modelId="{59E1D622-17D2-4B32-AA11-20347A832278}" type="pres">
      <dgm:prSet presAssocID="{A170FD88-3D7B-40E3-A08C-9953DC3BE38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6F5E399-E056-4AE4-B5C3-E766F16F260C}" type="pres">
      <dgm:prSet presAssocID="{88D8AF78-294D-43C0-8FCD-E5DB98F90EA5}" presName="spacer" presStyleCnt="0"/>
      <dgm:spPr/>
    </dgm:pt>
    <dgm:pt modelId="{2E590E54-9F2C-4ABB-BE35-6895347CD462}" type="pres">
      <dgm:prSet presAssocID="{B79EFDAE-5519-4C37-B9F6-855208F678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4746004-775A-4B3F-A8D8-FDFA0083B316}" srcId="{763BE246-38CF-4B8D-8700-97873D0FD953}" destId="{A170FD88-3D7B-40E3-A08C-9953DC3BE38B}" srcOrd="3" destOrd="0" parTransId="{B5478F65-5654-4F02-B90D-26D90EEA7E37}" sibTransId="{88D8AF78-294D-43C0-8FCD-E5DB98F90EA5}"/>
    <dgm:cxn modelId="{E2DB6225-51E6-47A6-B9CF-9DDAE6406FE7}" srcId="{763BE246-38CF-4B8D-8700-97873D0FD953}" destId="{3C3CDE5B-1229-4524-89B2-68A0A893D033}" srcOrd="2" destOrd="0" parTransId="{6A732F07-7DEC-413F-9DAE-C26CBB0D22D9}" sibTransId="{F65C4F21-EF95-4016-BA9B-C7792E6C7EAB}"/>
    <dgm:cxn modelId="{1C2FEA2D-4137-49BA-A110-16D83BCFC61C}" type="presOf" srcId="{B79EFDAE-5519-4C37-B9F6-855208F6786D}" destId="{2E590E54-9F2C-4ABB-BE35-6895347CD462}" srcOrd="0" destOrd="0" presId="urn:microsoft.com/office/officeart/2005/8/layout/vList2"/>
    <dgm:cxn modelId="{7D0C3238-05C5-4B3D-B8D9-6624A98B7C46}" srcId="{763BE246-38CF-4B8D-8700-97873D0FD953}" destId="{2F11A4AD-B7AA-4D3B-892D-C903ABFDB88D}" srcOrd="1" destOrd="0" parTransId="{BD999715-35AE-49E3-94DD-E178CB0DCFF4}" sibTransId="{B2BDDFA4-BFA8-4554-B791-130D60E5EAAC}"/>
    <dgm:cxn modelId="{A3C1883D-4226-4B04-B69E-394F1E9C3711}" type="presOf" srcId="{4774785C-C9B2-47AC-AE5F-2E31A7856C12}" destId="{89D295FF-4EA7-4924-9998-60A215D9F584}" srcOrd="0" destOrd="0" presId="urn:microsoft.com/office/officeart/2005/8/layout/vList2"/>
    <dgm:cxn modelId="{5C13075B-B88C-4047-B6AD-B2A033FA0387}" type="presOf" srcId="{763BE246-38CF-4B8D-8700-97873D0FD953}" destId="{D772D390-0C43-46CE-B8AF-6CC0C197126B}" srcOrd="0" destOrd="0" presId="urn:microsoft.com/office/officeart/2005/8/layout/vList2"/>
    <dgm:cxn modelId="{496F6342-6C04-4AFB-8D7A-FCF75E44B20E}" type="presOf" srcId="{3C3CDE5B-1229-4524-89B2-68A0A893D033}" destId="{E1F7561E-FE6E-4EC4-A320-CC1E15B39580}" srcOrd="0" destOrd="0" presId="urn:microsoft.com/office/officeart/2005/8/layout/vList2"/>
    <dgm:cxn modelId="{64D69E93-EDA7-47C0-828F-317A580B9E98}" type="presOf" srcId="{A170FD88-3D7B-40E3-A08C-9953DC3BE38B}" destId="{59E1D622-17D2-4B32-AA11-20347A832278}" srcOrd="0" destOrd="0" presId="urn:microsoft.com/office/officeart/2005/8/layout/vList2"/>
    <dgm:cxn modelId="{3ED1F494-5579-4F84-B102-E38E396CB28D}" type="presOf" srcId="{2F11A4AD-B7AA-4D3B-892D-C903ABFDB88D}" destId="{298B30B5-E812-45CD-A027-A60EC38A6F85}" srcOrd="0" destOrd="0" presId="urn:microsoft.com/office/officeart/2005/8/layout/vList2"/>
    <dgm:cxn modelId="{2EA72CC7-37E0-4324-A6BE-DE4082AF344B}" srcId="{763BE246-38CF-4B8D-8700-97873D0FD953}" destId="{B79EFDAE-5519-4C37-B9F6-855208F6786D}" srcOrd="4" destOrd="0" parTransId="{309CB632-5228-446B-A8F3-6AFA912FD461}" sibTransId="{E97C142D-3FF9-4318-A14F-09562B197B91}"/>
    <dgm:cxn modelId="{FDCE1CD6-3807-43F3-A750-044D747BAB1D}" srcId="{763BE246-38CF-4B8D-8700-97873D0FD953}" destId="{4774785C-C9B2-47AC-AE5F-2E31A7856C12}" srcOrd="0" destOrd="0" parTransId="{FAF8C87A-1AB4-48D7-B2FE-54D3AA2DD559}" sibTransId="{D73B9E4C-6FB4-4010-A1D9-830885479F14}"/>
    <dgm:cxn modelId="{21986559-C62B-4593-9C65-53C44075526C}" type="presParOf" srcId="{D772D390-0C43-46CE-B8AF-6CC0C197126B}" destId="{89D295FF-4EA7-4924-9998-60A215D9F584}" srcOrd="0" destOrd="0" presId="urn:microsoft.com/office/officeart/2005/8/layout/vList2"/>
    <dgm:cxn modelId="{46068150-DCA2-43BF-9369-00E32F97D741}" type="presParOf" srcId="{D772D390-0C43-46CE-B8AF-6CC0C197126B}" destId="{F69F004D-1383-42E8-8465-033AAC8669E2}" srcOrd="1" destOrd="0" presId="urn:microsoft.com/office/officeart/2005/8/layout/vList2"/>
    <dgm:cxn modelId="{54F7B111-6A92-45F9-91F1-B5612A63ADEA}" type="presParOf" srcId="{D772D390-0C43-46CE-B8AF-6CC0C197126B}" destId="{298B30B5-E812-45CD-A027-A60EC38A6F85}" srcOrd="2" destOrd="0" presId="urn:microsoft.com/office/officeart/2005/8/layout/vList2"/>
    <dgm:cxn modelId="{0FD9E8FD-5A72-411C-BE35-D7B0B95A4A13}" type="presParOf" srcId="{D772D390-0C43-46CE-B8AF-6CC0C197126B}" destId="{412BC4BB-B668-4269-A866-38565B5E6EC8}" srcOrd="3" destOrd="0" presId="urn:microsoft.com/office/officeart/2005/8/layout/vList2"/>
    <dgm:cxn modelId="{5BDC1264-B51A-4AD2-988B-0E905FFFD440}" type="presParOf" srcId="{D772D390-0C43-46CE-B8AF-6CC0C197126B}" destId="{E1F7561E-FE6E-4EC4-A320-CC1E15B39580}" srcOrd="4" destOrd="0" presId="urn:microsoft.com/office/officeart/2005/8/layout/vList2"/>
    <dgm:cxn modelId="{A7EEA143-30AD-417B-AE43-D0A6DC7D8C5F}" type="presParOf" srcId="{D772D390-0C43-46CE-B8AF-6CC0C197126B}" destId="{CABFD8BB-003E-44CF-B716-4D6E274310D6}" srcOrd="5" destOrd="0" presId="urn:microsoft.com/office/officeart/2005/8/layout/vList2"/>
    <dgm:cxn modelId="{A46C5CAB-CCD8-4BD2-834A-E450D901A41E}" type="presParOf" srcId="{D772D390-0C43-46CE-B8AF-6CC0C197126B}" destId="{59E1D622-17D2-4B32-AA11-20347A832278}" srcOrd="6" destOrd="0" presId="urn:microsoft.com/office/officeart/2005/8/layout/vList2"/>
    <dgm:cxn modelId="{742B8206-F6D7-426D-B334-63A8C86C35F8}" type="presParOf" srcId="{D772D390-0C43-46CE-B8AF-6CC0C197126B}" destId="{E6F5E399-E056-4AE4-B5C3-E766F16F260C}" srcOrd="7" destOrd="0" presId="urn:microsoft.com/office/officeart/2005/8/layout/vList2"/>
    <dgm:cxn modelId="{DCFC8337-610F-449B-8CAB-35682740E047}" type="presParOf" srcId="{D772D390-0C43-46CE-B8AF-6CC0C197126B}" destId="{2E590E54-9F2C-4ABB-BE35-6895347CD46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3FD145-2DA9-4153-A9E3-2E557CC15DA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2E39B1A-CCF3-4E27-8B64-812B565730C8}">
      <dgm:prSet/>
      <dgm:spPr/>
      <dgm:t>
        <a:bodyPr/>
        <a:lstStyle/>
        <a:p>
          <a:r>
            <a:rPr lang="de-DE"/>
            <a:t>28. Februar 2026: Die USA und Israel greifen den Iran an.</a:t>
          </a:r>
          <a:endParaRPr lang="en-US"/>
        </a:p>
      </dgm:t>
    </dgm:pt>
    <dgm:pt modelId="{E26A9E7F-9146-4645-94AC-C88F6163239D}" type="parTrans" cxnId="{E341DFE5-BA7C-4E29-B4BE-A3DCDC9ECAC2}">
      <dgm:prSet/>
      <dgm:spPr/>
      <dgm:t>
        <a:bodyPr/>
        <a:lstStyle/>
        <a:p>
          <a:endParaRPr lang="en-US"/>
        </a:p>
      </dgm:t>
    </dgm:pt>
    <dgm:pt modelId="{40BE3F4F-CF5C-450B-94C6-21DF5FF6DCD9}" type="sibTrans" cxnId="{E341DFE5-BA7C-4E29-B4BE-A3DCDC9ECAC2}">
      <dgm:prSet/>
      <dgm:spPr/>
      <dgm:t>
        <a:bodyPr/>
        <a:lstStyle/>
        <a:p>
          <a:endParaRPr lang="en-US"/>
        </a:p>
      </dgm:t>
    </dgm:pt>
    <dgm:pt modelId="{ECFFCA5E-5793-43E4-99BD-E224922AE070}">
      <dgm:prSet/>
      <dgm:spPr/>
      <dgm:t>
        <a:bodyPr/>
        <a:lstStyle/>
        <a:p>
          <a:r>
            <a:rPr lang="de-DE"/>
            <a:t>Blockade der Straße von Hormus am selben Tag für alle Exporte außer Chinesische</a:t>
          </a:r>
          <a:endParaRPr lang="en-US"/>
        </a:p>
      </dgm:t>
    </dgm:pt>
    <dgm:pt modelId="{9CAF2395-CA2F-4E30-872C-8FA5AAB0D61F}" type="parTrans" cxnId="{EFEECF94-3FA6-4063-AF3C-05AA815AE873}">
      <dgm:prSet/>
      <dgm:spPr/>
      <dgm:t>
        <a:bodyPr/>
        <a:lstStyle/>
        <a:p>
          <a:endParaRPr lang="en-US"/>
        </a:p>
      </dgm:t>
    </dgm:pt>
    <dgm:pt modelId="{0781F262-9972-4070-B05B-38E4813DE178}" type="sibTrans" cxnId="{EFEECF94-3FA6-4063-AF3C-05AA815AE873}">
      <dgm:prSet/>
      <dgm:spPr/>
      <dgm:t>
        <a:bodyPr/>
        <a:lstStyle/>
        <a:p>
          <a:endParaRPr lang="en-US"/>
        </a:p>
      </dgm:t>
    </dgm:pt>
    <dgm:pt modelId="{702F672B-0EDF-48A2-9A45-DB10F43B20D7}">
      <dgm:prSet/>
      <dgm:spPr/>
      <dgm:t>
        <a:bodyPr/>
        <a:lstStyle/>
        <a:p>
          <a:r>
            <a:rPr lang="de-DE"/>
            <a:t>Diplomatische Bemühungen schlagen fehl</a:t>
          </a:r>
          <a:endParaRPr lang="en-US"/>
        </a:p>
      </dgm:t>
    </dgm:pt>
    <dgm:pt modelId="{B87C6587-75A7-42F0-8C40-9BB8EB5F41B0}" type="parTrans" cxnId="{C0B81739-5592-4A1F-B83F-350972E03120}">
      <dgm:prSet/>
      <dgm:spPr/>
      <dgm:t>
        <a:bodyPr/>
        <a:lstStyle/>
        <a:p>
          <a:endParaRPr lang="en-US"/>
        </a:p>
      </dgm:t>
    </dgm:pt>
    <dgm:pt modelId="{54903892-EF21-461E-AC5D-B3EB07434E95}" type="sibTrans" cxnId="{C0B81739-5592-4A1F-B83F-350972E03120}">
      <dgm:prSet/>
      <dgm:spPr/>
      <dgm:t>
        <a:bodyPr/>
        <a:lstStyle/>
        <a:p>
          <a:endParaRPr lang="en-US"/>
        </a:p>
      </dgm:t>
    </dgm:pt>
    <dgm:pt modelId="{4BE351E9-C5CF-4C62-AA1B-6539DD7EA3D7}">
      <dgm:prSet/>
      <dgm:spPr/>
      <dgm:t>
        <a:bodyPr/>
        <a:lstStyle/>
        <a:p>
          <a:r>
            <a:rPr lang="de-DE"/>
            <a:t>13. April 2026: Die USA blockieren die Straße von Hormus ihrerseits</a:t>
          </a:r>
          <a:endParaRPr lang="en-US"/>
        </a:p>
      </dgm:t>
    </dgm:pt>
    <dgm:pt modelId="{C3577362-D24D-4341-AF07-BDA89F1FF85A}" type="parTrans" cxnId="{9449DC14-AD15-474A-A615-05764724216F}">
      <dgm:prSet/>
      <dgm:spPr/>
      <dgm:t>
        <a:bodyPr/>
        <a:lstStyle/>
        <a:p>
          <a:endParaRPr lang="en-US"/>
        </a:p>
      </dgm:t>
    </dgm:pt>
    <dgm:pt modelId="{9C85EFD2-DACF-4AE8-B4D4-005B5D4B630C}" type="sibTrans" cxnId="{9449DC14-AD15-474A-A615-05764724216F}">
      <dgm:prSet/>
      <dgm:spPr/>
      <dgm:t>
        <a:bodyPr/>
        <a:lstStyle/>
        <a:p>
          <a:endParaRPr lang="en-US"/>
        </a:p>
      </dgm:t>
    </dgm:pt>
    <dgm:pt modelId="{9950A9CA-6699-43B6-84D3-BA5CBA4B9751}">
      <dgm:prSet/>
      <dgm:spPr/>
      <dgm:t>
        <a:bodyPr/>
        <a:lstStyle/>
        <a:p>
          <a:r>
            <a:rPr lang="de-DE" dirty="0"/>
            <a:t>25% des weltweiten Ölhandels durch Schifflieferungen führt durch die Passage, </a:t>
          </a:r>
          <a:r>
            <a:rPr lang="de-DE" dirty="0" err="1"/>
            <a:t>ca</a:t>
          </a:r>
          <a:r>
            <a:rPr lang="de-DE" dirty="0"/>
            <a:t> 80% des Öls wird nach Süd-Ost Asien geliefert, ca. 4% nach Europa [Q1]</a:t>
          </a:r>
          <a:endParaRPr lang="en-US" dirty="0"/>
        </a:p>
      </dgm:t>
    </dgm:pt>
    <dgm:pt modelId="{B6ACDF4C-664E-4C10-947D-D01581275BF9}" type="parTrans" cxnId="{10D5032D-E945-46AF-863C-7FCEF797B0C7}">
      <dgm:prSet/>
      <dgm:spPr/>
      <dgm:t>
        <a:bodyPr/>
        <a:lstStyle/>
        <a:p>
          <a:endParaRPr lang="en-US"/>
        </a:p>
      </dgm:t>
    </dgm:pt>
    <dgm:pt modelId="{BE1B0B87-C498-4545-8963-A64D2A0B6919}" type="sibTrans" cxnId="{10D5032D-E945-46AF-863C-7FCEF797B0C7}">
      <dgm:prSet/>
      <dgm:spPr/>
      <dgm:t>
        <a:bodyPr/>
        <a:lstStyle/>
        <a:p>
          <a:endParaRPr lang="en-US"/>
        </a:p>
      </dgm:t>
    </dgm:pt>
    <dgm:pt modelId="{946C0A59-1A3B-4F33-BD6F-35DDFEC2F36E}">
      <dgm:prSet/>
      <dgm:spPr/>
      <dgm:t>
        <a:bodyPr/>
        <a:lstStyle/>
        <a:p>
          <a:r>
            <a:rPr lang="de-DE"/>
            <a:t>Maximal ca. 24% - 38% des Rohölexports kann über Pipelines aus der Vereinigten Arabischen Emiraten und Saudi-Arabien umgeleitet werden [Q1]</a:t>
          </a:r>
          <a:endParaRPr lang="en-US"/>
        </a:p>
      </dgm:t>
    </dgm:pt>
    <dgm:pt modelId="{C6FD2B4B-AC5C-49FC-BD1A-372320685452}" type="parTrans" cxnId="{2E3BA1A4-66E4-4F1A-9CF1-53A58619EF12}">
      <dgm:prSet/>
      <dgm:spPr/>
      <dgm:t>
        <a:bodyPr/>
        <a:lstStyle/>
        <a:p>
          <a:endParaRPr lang="en-US"/>
        </a:p>
      </dgm:t>
    </dgm:pt>
    <dgm:pt modelId="{F55785D2-6296-4B59-9CCF-FA061CDD8EFD}" type="sibTrans" cxnId="{2E3BA1A4-66E4-4F1A-9CF1-53A58619EF12}">
      <dgm:prSet/>
      <dgm:spPr/>
      <dgm:t>
        <a:bodyPr/>
        <a:lstStyle/>
        <a:p>
          <a:endParaRPr lang="en-US"/>
        </a:p>
      </dgm:t>
    </dgm:pt>
    <dgm:pt modelId="{7C4CA92E-9A30-49F3-A85F-3BC4894FD6D5}">
      <dgm:prSet/>
      <dgm:spPr/>
      <dgm:t>
        <a:bodyPr/>
        <a:lstStyle/>
        <a:p>
          <a:r>
            <a:rPr lang="de-DE" dirty="0"/>
            <a:t>20% des weltweiten LNG Handels führt durch die Passage. 90% nach Asien, 10% nach Europa. Dies macht 8.7% der europäischen LNG Importe aus. [Q1, Q3]</a:t>
          </a:r>
          <a:endParaRPr lang="en-US" dirty="0"/>
        </a:p>
      </dgm:t>
    </dgm:pt>
    <dgm:pt modelId="{CFEEEBA4-E8FF-477C-93C3-BAA2C5321CDA}" type="parTrans" cxnId="{004A4363-74DF-40E1-BF90-2FDFF611C6EA}">
      <dgm:prSet/>
      <dgm:spPr/>
      <dgm:t>
        <a:bodyPr/>
        <a:lstStyle/>
        <a:p>
          <a:endParaRPr lang="en-US"/>
        </a:p>
      </dgm:t>
    </dgm:pt>
    <dgm:pt modelId="{8C09F8AD-1286-477C-B33A-10D6BDE1D329}" type="sibTrans" cxnId="{004A4363-74DF-40E1-BF90-2FDFF611C6EA}">
      <dgm:prSet/>
      <dgm:spPr/>
      <dgm:t>
        <a:bodyPr/>
        <a:lstStyle/>
        <a:p>
          <a:endParaRPr lang="en-US"/>
        </a:p>
      </dgm:t>
    </dgm:pt>
    <dgm:pt modelId="{31B660F0-A4FB-4E8B-9911-2DA9C0CF765F}" type="pres">
      <dgm:prSet presAssocID="{593FD145-2DA9-4153-A9E3-2E557CC15DA4}" presName="linear" presStyleCnt="0">
        <dgm:presLayoutVars>
          <dgm:animLvl val="lvl"/>
          <dgm:resizeHandles val="exact"/>
        </dgm:presLayoutVars>
      </dgm:prSet>
      <dgm:spPr/>
    </dgm:pt>
    <dgm:pt modelId="{B9D7F201-F52D-4F73-A66F-C8C7435846BD}" type="pres">
      <dgm:prSet presAssocID="{C2E39B1A-CCF3-4E27-8B64-812B565730C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F5B70A3-9E81-4ADD-BA70-8D6FBC6FF55D}" type="pres">
      <dgm:prSet presAssocID="{40BE3F4F-CF5C-450B-94C6-21DF5FF6DCD9}" presName="spacer" presStyleCnt="0"/>
      <dgm:spPr/>
    </dgm:pt>
    <dgm:pt modelId="{2C24D748-4580-4B10-8721-795F90B7DFBD}" type="pres">
      <dgm:prSet presAssocID="{ECFFCA5E-5793-43E4-99BD-E224922AE07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5B3D694-1E8E-4411-A800-BD35A5CBEEC4}" type="pres">
      <dgm:prSet presAssocID="{0781F262-9972-4070-B05B-38E4813DE178}" presName="spacer" presStyleCnt="0"/>
      <dgm:spPr/>
    </dgm:pt>
    <dgm:pt modelId="{B792C29B-7738-49C1-8D74-951DCFC46123}" type="pres">
      <dgm:prSet presAssocID="{702F672B-0EDF-48A2-9A45-DB10F43B20D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18B517E-9140-4644-BE1B-3BA38CED6BF7}" type="pres">
      <dgm:prSet presAssocID="{54903892-EF21-461E-AC5D-B3EB07434E95}" presName="spacer" presStyleCnt="0"/>
      <dgm:spPr/>
    </dgm:pt>
    <dgm:pt modelId="{064BA7D1-2531-4C9A-AFA9-F415C4801ED8}" type="pres">
      <dgm:prSet presAssocID="{4BE351E9-C5CF-4C62-AA1B-6539DD7EA3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A8789B5-2766-4DB9-86AC-0B7F9968B69D}" type="pres">
      <dgm:prSet presAssocID="{9C85EFD2-DACF-4AE8-B4D4-005B5D4B630C}" presName="spacer" presStyleCnt="0"/>
      <dgm:spPr/>
    </dgm:pt>
    <dgm:pt modelId="{49B455C0-6430-471F-B880-38CBBA2C360F}" type="pres">
      <dgm:prSet presAssocID="{9950A9CA-6699-43B6-84D3-BA5CBA4B975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922BE0F-7ECC-48DA-A587-B94393AA4714}" type="pres">
      <dgm:prSet presAssocID="{BE1B0B87-C498-4545-8963-A64D2A0B6919}" presName="spacer" presStyleCnt="0"/>
      <dgm:spPr/>
    </dgm:pt>
    <dgm:pt modelId="{1E42F424-9068-4ACA-B062-2C6E84D2F9A8}" type="pres">
      <dgm:prSet presAssocID="{946C0A59-1A3B-4F33-BD6F-35DDFEC2F36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CDEB07A-999C-46CA-97F0-2DFB14B78B83}" type="pres">
      <dgm:prSet presAssocID="{F55785D2-6296-4B59-9CCF-FA061CDD8EFD}" presName="spacer" presStyleCnt="0"/>
      <dgm:spPr/>
    </dgm:pt>
    <dgm:pt modelId="{3DAA95E7-D1C4-40EE-9A28-2EE8B5211BBF}" type="pres">
      <dgm:prSet presAssocID="{7C4CA92E-9A30-49F3-A85F-3BC4894FD6D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449DC14-AD15-474A-A615-05764724216F}" srcId="{593FD145-2DA9-4153-A9E3-2E557CC15DA4}" destId="{4BE351E9-C5CF-4C62-AA1B-6539DD7EA3D7}" srcOrd="3" destOrd="0" parTransId="{C3577362-D24D-4341-AF07-BDA89F1FF85A}" sibTransId="{9C85EFD2-DACF-4AE8-B4D4-005B5D4B630C}"/>
    <dgm:cxn modelId="{9C4CF729-6A25-4F66-8A5A-20761E94BBCA}" type="presOf" srcId="{ECFFCA5E-5793-43E4-99BD-E224922AE070}" destId="{2C24D748-4580-4B10-8721-795F90B7DFBD}" srcOrd="0" destOrd="0" presId="urn:microsoft.com/office/officeart/2005/8/layout/vList2"/>
    <dgm:cxn modelId="{10D5032D-E945-46AF-863C-7FCEF797B0C7}" srcId="{593FD145-2DA9-4153-A9E3-2E557CC15DA4}" destId="{9950A9CA-6699-43B6-84D3-BA5CBA4B9751}" srcOrd="4" destOrd="0" parTransId="{B6ACDF4C-664E-4C10-947D-D01581275BF9}" sibTransId="{BE1B0B87-C498-4545-8963-A64D2A0B6919}"/>
    <dgm:cxn modelId="{C0B81739-5592-4A1F-B83F-350972E03120}" srcId="{593FD145-2DA9-4153-A9E3-2E557CC15DA4}" destId="{702F672B-0EDF-48A2-9A45-DB10F43B20D7}" srcOrd="2" destOrd="0" parTransId="{B87C6587-75A7-42F0-8C40-9BB8EB5F41B0}" sibTransId="{54903892-EF21-461E-AC5D-B3EB07434E95}"/>
    <dgm:cxn modelId="{8BBEB662-4FF1-435A-A11F-06E20F886DF7}" type="presOf" srcId="{946C0A59-1A3B-4F33-BD6F-35DDFEC2F36E}" destId="{1E42F424-9068-4ACA-B062-2C6E84D2F9A8}" srcOrd="0" destOrd="0" presId="urn:microsoft.com/office/officeart/2005/8/layout/vList2"/>
    <dgm:cxn modelId="{004A4363-74DF-40E1-BF90-2FDFF611C6EA}" srcId="{593FD145-2DA9-4153-A9E3-2E557CC15DA4}" destId="{7C4CA92E-9A30-49F3-A85F-3BC4894FD6D5}" srcOrd="6" destOrd="0" parTransId="{CFEEEBA4-E8FF-477C-93C3-BAA2C5321CDA}" sibTransId="{8C09F8AD-1286-477C-B33A-10D6BDE1D329}"/>
    <dgm:cxn modelId="{D9248859-CD42-4945-94F9-67E2D113B408}" type="presOf" srcId="{702F672B-0EDF-48A2-9A45-DB10F43B20D7}" destId="{B792C29B-7738-49C1-8D74-951DCFC46123}" srcOrd="0" destOrd="0" presId="urn:microsoft.com/office/officeart/2005/8/layout/vList2"/>
    <dgm:cxn modelId="{7E0A777A-262D-4450-8067-576F281408ED}" type="presOf" srcId="{9950A9CA-6699-43B6-84D3-BA5CBA4B9751}" destId="{49B455C0-6430-471F-B880-38CBBA2C360F}" srcOrd="0" destOrd="0" presId="urn:microsoft.com/office/officeart/2005/8/layout/vList2"/>
    <dgm:cxn modelId="{EFEECF94-3FA6-4063-AF3C-05AA815AE873}" srcId="{593FD145-2DA9-4153-A9E3-2E557CC15DA4}" destId="{ECFFCA5E-5793-43E4-99BD-E224922AE070}" srcOrd="1" destOrd="0" parTransId="{9CAF2395-CA2F-4E30-872C-8FA5AAB0D61F}" sibTransId="{0781F262-9972-4070-B05B-38E4813DE178}"/>
    <dgm:cxn modelId="{2E3BA1A4-66E4-4F1A-9CF1-53A58619EF12}" srcId="{593FD145-2DA9-4153-A9E3-2E557CC15DA4}" destId="{946C0A59-1A3B-4F33-BD6F-35DDFEC2F36E}" srcOrd="5" destOrd="0" parTransId="{C6FD2B4B-AC5C-49FC-BD1A-372320685452}" sibTransId="{F55785D2-6296-4B59-9CCF-FA061CDD8EFD}"/>
    <dgm:cxn modelId="{391CAEB9-ADE9-4784-9937-9ABB88AF5207}" type="presOf" srcId="{7C4CA92E-9A30-49F3-A85F-3BC4894FD6D5}" destId="{3DAA95E7-D1C4-40EE-9A28-2EE8B5211BBF}" srcOrd="0" destOrd="0" presId="urn:microsoft.com/office/officeart/2005/8/layout/vList2"/>
    <dgm:cxn modelId="{BA668EE2-38E5-4A0F-9A53-F547037E9C6F}" type="presOf" srcId="{4BE351E9-C5CF-4C62-AA1B-6539DD7EA3D7}" destId="{064BA7D1-2531-4C9A-AFA9-F415C4801ED8}" srcOrd="0" destOrd="0" presId="urn:microsoft.com/office/officeart/2005/8/layout/vList2"/>
    <dgm:cxn modelId="{D93707E4-C86C-4F3A-ACAA-5BC40BFE76B7}" type="presOf" srcId="{593FD145-2DA9-4153-A9E3-2E557CC15DA4}" destId="{31B660F0-A4FB-4E8B-9911-2DA9C0CF765F}" srcOrd="0" destOrd="0" presId="urn:microsoft.com/office/officeart/2005/8/layout/vList2"/>
    <dgm:cxn modelId="{E341DFE5-BA7C-4E29-B4BE-A3DCDC9ECAC2}" srcId="{593FD145-2DA9-4153-A9E3-2E557CC15DA4}" destId="{C2E39B1A-CCF3-4E27-8B64-812B565730C8}" srcOrd="0" destOrd="0" parTransId="{E26A9E7F-9146-4645-94AC-C88F6163239D}" sibTransId="{40BE3F4F-CF5C-450B-94C6-21DF5FF6DCD9}"/>
    <dgm:cxn modelId="{F72F57EC-3568-4EDE-8E4F-D1EB38FF0131}" type="presOf" srcId="{C2E39B1A-CCF3-4E27-8B64-812B565730C8}" destId="{B9D7F201-F52D-4F73-A66F-C8C7435846BD}" srcOrd="0" destOrd="0" presId="urn:microsoft.com/office/officeart/2005/8/layout/vList2"/>
    <dgm:cxn modelId="{50C1354F-AA6B-4D7B-B388-6F16FDFC3A18}" type="presParOf" srcId="{31B660F0-A4FB-4E8B-9911-2DA9C0CF765F}" destId="{B9D7F201-F52D-4F73-A66F-C8C7435846BD}" srcOrd="0" destOrd="0" presId="urn:microsoft.com/office/officeart/2005/8/layout/vList2"/>
    <dgm:cxn modelId="{CE6360B2-6B78-44AE-9147-8479F7D81086}" type="presParOf" srcId="{31B660F0-A4FB-4E8B-9911-2DA9C0CF765F}" destId="{2F5B70A3-9E81-4ADD-BA70-8D6FBC6FF55D}" srcOrd="1" destOrd="0" presId="urn:microsoft.com/office/officeart/2005/8/layout/vList2"/>
    <dgm:cxn modelId="{81926522-F7E2-43B3-88A2-61E5D08174F0}" type="presParOf" srcId="{31B660F0-A4FB-4E8B-9911-2DA9C0CF765F}" destId="{2C24D748-4580-4B10-8721-795F90B7DFBD}" srcOrd="2" destOrd="0" presId="urn:microsoft.com/office/officeart/2005/8/layout/vList2"/>
    <dgm:cxn modelId="{CD1C09CB-21D6-40AB-AC66-4A2CF62536BC}" type="presParOf" srcId="{31B660F0-A4FB-4E8B-9911-2DA9C0CF765F}" destId="{55B3D694-1E8E-4411-A800-BD35A5CBEEC4}" srcOrd="3" destOrd="0" presId="urn:microsoft.com/office/officeart/2005/8/layout/vList2"/>
    <dgm:cxn modelId="{6E4BA992-BA69-4A4C-81E7-31CB72551409}" type="presParOf" srcId="{31B660F0-A4FB-4E8B-9911-2DA9C0CF765F}" destId="{B792C29B-7738-49C1-8D74-951DCFC46123}" srcOrd="4" destOrd="0" presId="urn:microsoft.com/office/officeart/2005/8/layout/vList2"/>
    <dgm:cxn modelId="{BB986EF1-EC2C-4D7D-9F4D-38BB0EFB0683}" type="presParOf" srcId="{31B660F0-A4FB-4E8B-9911-2DA9C0CF765F}" destId="{F18B517E-9140-4644-BE1B-3BA38CED6BF7}" srcOrd="5" destOrd="0" presId="urn:microsoft.com/office/officeart/2005/8/layout/vList2"/>
    <dgm:cxn modelId="{73001BC2-1DAA-4EB6-AD58-D101178CFC41}" type="presParOf" srcId="{31B660F0-A4FB-4E8B-9911-2DA9C0CF765F}" destId="{064BA7D1-2531-4C9A-AFA9-F415C4801ED8}" srcOrd="6" destOrd="0" presId="urn:microsoft.com/office/officeart/2005/8/layout/vList2"/>
    <dgm:cxn modelId="{6BDEF00E-611A-4C29-97FE-057B7EBB57F7}" type="presParOf" srcId="{31B660F0-A4FB-4E8B-9911-2DA9C0CF765F}" destId="{3A8789B5-2766-4DB9-86AC-0B7F9968B69D}" srcOrd="7" destOrd="0" presId="urn:microsoft.com/office/officeart/2005/8/layout/vList2"/>
    <dgm:cxn modelId="{9BDDC323-CC4F-41C4-A7AD-E4BBDAB1A101}" type="presParOf" srcId="{31B660F0-A4FB-4E8B-9911-2DA9C0CF765F}" destId="{49B455C0-6430-471F-B880-38CBBA2C360F}" srcOrd="8" destOrd="0" presId="urn:microsoft.com/office/officeart/2005/8/layout/vList2"/>
    <dgm:cxn modelId="{C70186EA-0668-47AD-8E0C-97A184DD1FFA}" type="presParOf" srcId="{31B660F0-A4FB-4E8B-9911-2DA9C0CF765F}" destId="{9922BE0F-7ECC-48DA-A587-B94393AA4714}" srcOrd="9" destOrd="0" presId="urn:microsoft.com/office/officeart/2005/8/layout/vList2"/>
    <dgm:cxn modelId="{BAF64BA5-0E16-4316-B279-842828B09996}" type="presParOf" srcId="{31B660F0-A4FB-4E8B-9911-2DA9C0CF765F}" destId="{1E42F424-9068-4ACA-B062-2C6E84D2F9A8}" srcOrd="10" destOrd="0" presId="urn:microsoft.com/office/officeart/2005/8/layout/vList2"/>
    <dgm:cxn modelId="{06FD3E93-AC45-431E-98E6-180B7F4636A0}" type="presParOf" srcId="{31B660F0-A4FB-4E8B-9911-2DA9C0CF765F}" destId="{CCDEB07A-999C-46CA-97F0-2DFB14B78B83}" srcOrd="11" destOrd="0" presId="urn:microsoft.com/office/officeart/2005/8/layout/vList2"/>
    <dgm:cxn modelId="{FBDF8FC9-F879-47BF-97A5-56BD63A17BEA}" type="presParOf" srcId="{31B660F0-A4FB-4E8B-9911-2DA9C0CF765F}" destId="{3DAA95E7-D1C4-40EE-9A28-2EE8B5211BB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8B0D2C0-7AD4-496B-95C7-1040F7C22AD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DA28DD1-CC71-4687-828E-54FA2CFB72C6}">
      <dgm:prSet/>
      <dgm:spPr/>
      <dgm:t>
        <a:bodyPr/>
        <a:lstStyle/>
        <a:p>
          <a:r>
            <a:rPr lang="de-DE"/>
            <a:t>Russische Exporte wurden nicht abrupt eingestellt sondern sind durch Sanktionen eingeschränkt worden, die teilweise substituiert wurden</a:t>
          </a:r>
          <a:endParaRPr lang="en-US"/>
        </a:p>
      </dgm:t>
    </dgm:pt>
    <dgm:pt modelId="{6E6F57C6-6E70-4C86-8C17-2317209D3819}" type="parTrans" cxnId="{36EEDC00-EC7D-4F3B-9E9B-52D4B0247C95}">
      <dgm:prSet/>
      <dgm:spPr/>
      <dgm:t>
        <a:bodyPr/>
        <a:lstStyle/>
        <a:p>
          <a:endParaRPr lang="en-US"/>
        </a:p>
      </dgm:t>
    </dgm:pt>
    <dgm:pt modelId="{2F3AADED-D163-4B5D-829D-3894C75C1123}" type="sibTrans" cxnId="{36EEDC00-EC7D-4F3B-9E9B-52D4B0247C95}">
      <dgm:prSet/>
      <dgm:spPr/>
      <dgm:t>
        <a:bodyPr/>
        <a:lstStyle/>
        <a:p>
          <a:endParaRPr lang="en-US"/>
        </a:p>
      </dgm:t>
    </dgm:pt>
    <dgm:pt modelId="{02822852-A7EE-4A7D-8C60-908FB7EE2F0F}">
      <dgm:prSet/>
      <dgm:spPr/>
      <dgm:t>
        <a:bodyPr/>
        <a:lstStyle/>
        <a:p>
          <a:r>
            <a:rPr lang="de-DE"/>
            <a:t>Sanktionen gegen Russland wurden nicht von der ganzen Welt mitgetragen</a:t>
          </a:r>
          <a:endParaRPr lang="en-US"/>
        </a:p>
      </dgm:t>
    </dgm:pt>
    <dgm:pt modelId="{DCB282C7-E004-4ECF-8744-292E3204C16C}" type="parTrans" cxnId="{1BA793A0-BF3E-4F84-9C18-3A416731921F}">
      <dgm:prSet/>
      <dgm:spPr/>
      <dgm:t>
        <a:bodyPr/>
        <a:lstStyle/>
        <a:p>
          <a:endParaRPr lang="en-US"/>
        </a:p>
      </dgm:t>
    </dgm:pt>
    <dgm:pt modelId="{DC2911E3-FBB5-4EFB-9ACD-E6A3B03A08FC}" type="sibTrans" cxnId="{1BA793A0-BF3E-4F84-9C18-3A416731921F}">
      <dgm:prSet/>
      <dgm:spPr/>
      <dgm:t>
        <a:bodyPr/>
        <a:lstStyle/>
        <a:p>
          <a:endParaRPr lang="en-US"/>
        </a:p>
      </dgm:t>
    </dgm:pt>
    <dgm:pt modelId="{D771D0EC-FE4E-43C5-8855-774990F5D3A1}">
      <dgm:prSet/>
      <dgm:spPr/>
      <dgm:t>
        <a:bodyPr/>
        <a:lstStyle/>
        <a:p>
          <a:r>
            <a:rPr lang="de-DE"/>
            <a:t>Die Straße von Hormus wurde vom Iran für nicht Iranische Schiffe gesperrt, abgesehen von denen, die China als Ziel haben</a:t>
          </a:r>
          <a:endParaRPr lang="en-US"/>
        </a:p>
      </dgm:t>
    </dgm:pt>
    <dgm:pt modelId="{B8CBF164-4242-4115-9D29-505FA5AAF8FC}" type="parTrans" cxnId="{B30DF25A-C3CD-48D0-B787-48DC13C1A2B1}">
      <dgm:prSet/>
      <dgm:spPr/>
      <dgm:t>
        <a:bodyPr/>
        <a:lstStyle/>
        <a:p>
          <a:endParaRPr lang="en-US"/>
        </a:p>
      </dgm:t>
    </dgm:pt>
    <dgm:pt modelId="{5204309B-9D20-40B9-8A81-F56C69F26249}" type="sibTrans" cxnId="{B30DF25A-C3CD-48D0-B787-48DC13C1A2B1}">
      <dgm:prSet/>
      <dgm:spPr/>
      <dgm:t>
        <a:bodyPr/>
        <a:lstStyle/>
        <a:p>
          <a:endParaRPr lang="en-US"/>
        </a:p>
      </dgm:t>
    </dgm:pt>
    <dgm:pt modelId="{7001C10A-2A4F-4976-B8C6-BA266563FF51}">
      <dgm:prSet/>
      <dgm:spPr/>
      <dgm:t>
        <a:bodyPr/>
        <a:lstStyle/>
        <a:p>
          <a:r>
            <a:rPr lang="de-DE"/>
            <a:t>Die USA hat dann die Straße von Hormus für alle weiteren Schiffe gesperrt</a:t>
          </a:r>
          <a:endParaRPr lang="en-US"/>
        </a:p>
      </dgm:t>
    </dgm:pt>
    <dgm:pt modelId="{B11E5E29-CA8D-4784-910F-6652D13A2B2A}" type="parTrans" cxnId="{AA56A9CE-2E5D-45C4-89ED-49D367788F6A}">
      <dgm:prSet/>
      <dgm:spPr/>
      <dgm:t>
        <a:bodyPr/>
        <a:lstStyle/>
        <a:p>
          <a:endParaRPr lang="en-US"/>
        </a:p>
      </dgm:t>
    </dgm:pt>
    <dgm:pt modelId="{A607E394-BF46-41FD-A12F-809458CACD0A}" type="sibTrans" cxnId="{AA56A9CE-2E5D-45C4-89ED-49D367788F6A}">
      <dgm:prSet/>
      <dgm:spPr/>
      <dgm:t>
        <a:bodyPr/>
        <a:lstStyle/>
        <a:p>
          <a:endParaRPr lang="en-US"/>
        </a:p>
      </dgm:t>
    </dgm:pt>
    <dgm:pt modelId="{E8E4FD90-5CA4-435E-A590-CA04DE4D9AAB}">
      <dgm:prSet/>
      <dgm:spPr/>
      <dgm:t>
        <a:bodyPr/>
        <a:lstStyle/>
        <a:p>
          <a:r>
            <a:rPr lang="de-DE"/>
            <a:t>Vergleich: Limitierte umgehbare Sanktionen vs Rigoroser Shut Down</a:t>
          </a:r>
          <a:endParaRPr lang="en-US"/>
        </a:p>
      </dgm:t>
    </dgm:pt>
    <dgm:pt modelId="{1291EB06-5ED4-4367-B42E-1CFF306F40E8}" type="parTrans" cxnId="{8ACD30A4-98EB-4C41-BF01-2CD5F28AEB4B}">
      <dgm:prSet/>
      <dgm:spPr/>
      <dgm:t>
        <a:bodyPr/>
        <a:lstStyle/>
        <a:p>
          <a:endParaRPr lang="en-US"/>
        </a:p>
      </dgm:t>
    </dgm:pt>
    <dgm:pt modelId="{F7764B31-D2C9-4A02-980A-84F7A9D78B4E}" type="sibTrans" cxnId="{8ACD30A4-98EB-4C41-BF01-2CD5F28AEB4B}">
      <dgm:prSet/>
      <dgm:spPr/>
      <dgm:t>
        <a:bodyPr/>
        <a:lstStyle/>
        <a:p>
          <a:endParaRPr lang="en-US"/>
        </a:p>
      </dgm:t>
    </dgm:pt>
    <dgm:pt modelId="{FFD80432-7E07-4461-AFC0-0F281314E3D2}" type="pres">
      <dgm:prSet presAssocID="{08B0D2C0-7AD4-496B-95C7-1040F7C22ADD}" presName="linear" presStyleCnt="0">
        <dgm:presLayoutVars>
          <dgm:animLvl val="lvl"/>
          <dgm:resizeHandles val="exact"/>
        </dgm:presLayoutVars>
      </dgm:prSet>
      <dgm:spPr/>
    </dgm:pt>
    <dgm:pt modelId="{98E99977-9FE2-4552-8B21-1581D4CF299B}" type="pres">
      <dgm:prSet presAssocID="{EDA28DD1-CC71-4687-828E-54FA2CFB72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61061A5-6A67-4BA7-B5B3-17EA3185BAA5}" type="pres">
      <dgm:prSet presAssocID="{2F3AADED-D163-4B5D-829D-3894C75C1123}" presName="spacer" presStyleCnt="0"/>
      <dgm:spPr/>
    </dgm:pt>
    <dgm:pt modelId="{804EFFEC-60AA-4988-8AF5-BDE0EB00F2A2}" type="pres">
      <dgm:prSet presAssocID="{02822852-A7EE-4A7D-8C60-908FB7EE2F0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970FFB1-E84B-4B0C-82B2-DEFABE00BF61}" type="pres">
      <dgm:prSet presAssocID="{DC2911E3-FBB5-4EFB-9ACD-E6A3B03A08FC}" presName="spacer" presStyleCnt="0"/>
      <dgm:spPr/>
    </dgm:pt>
    <dgm:pt modelId="{704B281D-BA9B-4A54-BB03-2A72FB304DE4}" type="pres">
      <dgm:prSet presAssocID="{D771D0EC-FE4E-43C5-8855-774990F5D3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3A3CE5-D8E7-459F-8C46-71BBDB592FDA}" type="pres">
      <dgm:prSet presAssocID="{5204309B-9D20-40B9-8A81-F56C69F26249}" presName="spacer" presStyleCnt="0"/>
      <dgm:spPr/>
    </dgm:pt>
    <dgm:pt modelId="{65A78E11-7829-4326-9A15-D77E6947F1AC}" type="pres">
      <dgm:prSet presAssocID="{7001C10A-2A4F-4976-B8C6-BA266563FF5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DF78077-2FBF-4C55-BC0A-43F3A30CCC68}" type="pres">
      <dgm:prSet presAssocID="{A607E394-BF46-41FD-A12F-809458CACD0A}" presName="spacer" presStyleCnt="0"/>
      <dgm:spPr/>
    </dgm:pt>
    <dgm:pt modelId="{ABF4F4E7-817D-4527-9235-35865AD7F7C8}" type="pres">
      <dgm:prSet presAssocID="{E8E4FD90-5CA4-435E-A590-CA04DE4D9AA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6EEDC00-EC7D-4F3B-9E9B-52D4B0247C95}" srcId="{08B0D2C0-7AD4-496B-95C7-1040F7C22ADD}" destId="{EDA28DD1-CC71-4687-828E-54FA2CFB72C6}" srcOrd="0" destOrd="0" parTransId="{6E6F57C6-6E70-4C86-8C17-2317209D3819}" sibTransId="{2F3AADED-D163-4B5D-829D-3894C75C1123}"/>
    <dgm:cxn modelId="{360F9F08-FCFB-4807-9799-4D314A3217E3}" type="presOf" srcId="{EDA28DD1-CC71-4687-828E-54FA2CFB72C6}" destId="{98E99977-9FE2-4552-8B21-1581D4CF299B}" srcOrd="0" destOrd="0" presId="urn:microsoft.com/office/officeart/2005/8/layout/vList2"/>
    <dgm:cxn modelId="{D8E0F828-2846-4BBA-BB90-FFEACBE7A68A}" type="presOf" srcId="{7001C10A-2A4F-4976-B8C6-BA266563FF51}" destId="{65A78E11-7829-4326-9A15-D77E6947F1AC}" srcOrd="0" destOrd="0" presId="urn:microsoft.com/office/officeart/2005/8/layout/vList2"/>
    <dgm:cxn modelId="{B30DF25A-C3CD-48D0-B787-48DC13C1A2B1}" srcId="{08B0D2C0-7AD4-496B-95C7-1040F7C22ADD}" destId="{D771D0EC-FE4E-43C5-8855-774990F5D3A1}" srcOrd="2" destOrd="0" parTransId="{B8CBF164-4242-4115-9D29-505FA5AAF8FC}" sibTransId="{5204309B-9D20-40B9-8A81-F56C69F26249}"/>
    <dgm:cxn modelId="{8DA12B81-FFB0-43BF-AB31-A0EB7E4EE573}" type="presOf" srcId="{02822852-A7EE-4A7D-8C60-908FB7EE2F0F}" destId="{804EFFEC-60AA-4988-8AF5-BDE0EB00F2A2}" srcOrd="0" destOrd="0" presId="urn:microsoft.com/office/officeart/2005/8/layout/vList2"/>
    <dgm:cxn modelId="{84F70A98-3315-429E-824D-33BAF02A985A}" type="presOf" srcId="{E8E4FD90-5CA4-435E-A590-CA04DE4D9AAB}" destId="{ABF4F4E7-817D-4527-9235-35865AD7F7C8}" srcOrd="0" destOrd="0" presId="urn:microsoft.com/office/officeart/2005/8/layout/vList2"/>
    <dgm:cxn modelId="{1BA793A0-BF3E-4F84-9C18-3A416731921F}" srcId="{08B0D2C0-7AD4-496B-95C7-1040F7C22ADD}" destId="{02822852-A7EE-4A7D-8C60-908FB7EE2F0F}" srcOrd="1" destOrd="0" parTransId="{DCB282C7-E004-4ECF-8744-292E3204C16C}" sibTransId="{DC2911E3-FBB5-4EFB-9ACD-E6A3B03A08FC}"/>
    <dgm:cxn modelId="{8ACD30A4-98EB-4C41-BF01-2CD5F28AEB4B}" srcId="{08B0D2C0-7AD4-496B-95C7-1040F7C22ADD}" destId="{E8E4FD90-5CA4-435E-A590-CA04DE4D9AAB}" srcOrd="4" destOrd="0" parTransId="{1291EB06-5ED4-4367-B42E-1CFF306F40E8}" sibTransId="{F7764B31-D2C9-4A02-980A-84F7A9D78B4E}"/>
    <dgm:cxn modelId="{057071B3-F779-4073-BEFD-A1F132A18CAC}" type="presOf" srcId="{D771D0EC-FE4E-43C5-8855-774990F5D3A1}" destId="{704B281D-BA9B-4A54-BB03-2A72FB304DE4}" srcOrd="0" destOrd="0" presId="urn:microsoft.com/office/officeart/2005/8/layout/vList2"/>
    <dgm:cxn modelId="{AA56A9CE-2E5D-45C4-89ED-49D367788F6A}" srcId="{08B0D2C0-7AD4-496B-95C7-1040F7C22ADD}" destId="{7001C10A-2A4F-4976-B8C6-BA266563FF51}" srcOrd="3" destOrd="0" parTransId="{B11E5E29-CA8D-4784-910F-6652D13A2B2A}" sibTransId="{A607E394-BF46-41FD-A12F-809458CACD0A}"/>
    <dgm:cxn modelId="{A97D7CD6-6E3D-4653-BD80-A86113BA6480}" type="presOf" srcId="{08B0D2C0-7AD4-496B-95C7-1040F7C22ADD}" destId="{FFD80432-7E07-4461-AFC0-0F281314E3D2}" srcOrd="0" destOrd="0" presId="urn:microsoft.com/office/officeart/2005/8/layout/vList2"/>
    <dgm:cxn modelId="{1AF01526-2BDD-40E0-B2E0-6D35EF6DBDB1}" type="presParOf" srcId="{FFD80432-7E07-4461-AFC0-0F281314E3D2}" destId="{98E99977-9FE2-4552-8B21-1581D4CF299B}" srcOrd="0" destOrd="0" presId="urn:microsoft.com/office/officeart/2005/8/layout/vList2"/>
    <dgm:cxn modelId="{7C97CA44-8564-4A79-9E06-226A3D41DFAC}" type="presParOf" srcId="{FFD80432-7E07-4461-AFC0-0F281314E3D2}" destId="{561061A5-6A67-4BA7-B5B3-17EA3185BAA5}" srcOrd="1" destOrd="0" presId="urn:microsoft.com/office/officeart/2005/8/layout/vList2"/>
    <dgm:cxn modelId="{955558DD-00CD-4E28-A6F5-3B71FF3D2309}" type="presParOf" srcId="{FFD80432-7E07-4461-AFC0-0F281314E3D2}" destId="{804EFFEC-60AA-4988-8AF5-BDE0EB00F2A2}" srcOrd="2" destOrd="0" presId="urn:microsoft.com/office/officeart/2005/8/layout/vList2"/>
    <dgm:cxn modelId="{4F8C04A0-0DFF-4815-A95C-634B2D33184D}" type="presParOf" srcId="{FFD80432-7E07-4461-AFC0-0F281314E3D2}" destId="{A970FFB1-E84B-4B0C-82B2-DEFABE00BF61}" srcOrd="3" destOrd="0" presId="urn:microsoft.com/office/officeart/2005/8/layout/vList2"/>
    <dgm:cxn modelId="{C6933371-38D7-4CDC-A5DA-A20F534FD3C0}" type="presParOf" srcId="{FFD80432-7E07-4461-AFC0-0F281314E3D2}" destId="{704B281D-BA9B-4A54-BB03-2A72FB304DE4}" srcOrd="4" destOrd="0" presId="urn:microsoft.com/office/officeart/2005/8/layout/vList2"/>
    <dgm:cxn modelId="{C1F76D96-AB9A-4408-B733-959B8B938463}" type="presParOf" srcId="{FFD80432-7E07-4461-AFC0-0F281314E3D2}" destId="{E23A3CE5-D8E7-459F-8C46-71BBDB592FDA}" srcOrd="5" destOrd="0" presId="urn:microsoft.com/office/officeart/2005/8/layout/vList2"/>
    <dgm:cxn modelId="{E7D1840E-D4E4-4D61-A66E-A59CE01482FC}" type="presParOf" srcId="{FFD80432-7E07-4461-AFC0-0F281314E3D2}" destId="{65A78E11-7829-4326-9A15-D77E6947F1AC}" srcOrd="6" destOrd="0" presId="urn:microsoft.com/office/officeart/2005/8/layout/vList2"/>
    <dgm:cxn modelId="{316FB94E-E2DE-4A44-903E-276285990B64}" type="presParOf" srcId="{FFD80432-7E07-4461-AFC0-0F281314E3D2}" destId="{9DF78077-2FBF-4C55-BC0A-43F3A30CCC68}" srcOrd="7" destOrd="0" presId="urn:microsoft.com/office/officeart/2005/8/layout/vList2"/>
    <dgm:cxn modelId="{D32DFF78-6EB5-40E1-9612-2B85B07B3020}" type="presParOf" srcId="{FFD80432-7E07-4461-AFC0-0F281314E3D2}" destId="{ABF4F4E7-817D-4527-9235-35865AD7F7C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34B60AA-05F4-42C1-8CB9-163BCCAE8A2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CDBCDF-9844-4114-89B4-4A5EBCBA3CD8}">
      <dgm:prSet/>
      <dgm:spPr/>
      <dgm:t>
        <a:bodyPr/>
        <a:lstStyle/>
        <a:p>
          <a:r>
            <a:rPr lang="de-DE"/>
            <a:t>Fiskalpolitik hat die Effekte des Russischen Angriffskriegs deutlich abgedämpft</a:t>
          </a:r>
          <a:endParaRPr lang="en-US"/>
        </a:p>
      </dgm:t>
    </dgm:pt>
    <dgm:pt modelId="{2C8119F6-32D8-45D9-8237-D2C2F10EE7BF}" type="parTrans" cxnId="{7B7892E5-B470-4D76-BCB7-372324D251E9}">
      <dgm:prSet/>
      <dgm:spPr/>
      <dgm:t>
        <a:bodyPr/>
        <a:lstStyle/>
        <a:p>
          <a:endParaRPr lang="en-US"/>
        </a:p>
      </dgm:t>
    </dgm:pt>
    <dgm:pt modelId="{49BE2E03-F26A-4506-9C30-43AE98224733}" type="sibTrans" cxnId="{7B7892E5-B470-4D76-BCB7-372324D251E9}">
      <dgm:prSet/>
      <dgm:spPr/>
      <dgm:t>
        <a:bodyPr/>
        <a:lstStyle/>
        <a:p>
          <a:endParaRPr lang="en-US"/>
        </a:p>
      </dgm:t>
    </dgm:pt>
    <dgm:pt modelId="{0B4C2972-AA25-4A47-9D81-7B476BD479DB}">
      <dgm:prSet/>
      <dgm:spPr/>
      <dgm:t>
        <a:bodyPr/>
        <a:lstStyle/>
        <a:p>
          <a:r>
            <a:rPr lang="de-DE"/>
            <a:t>EZB passt Geldpolitik zu Gunsten der Preisstabilität an</a:t>
          </a:r>
          <a:endParaRPr lang="en-US"/>
        </a:p>
      </dgm:t>
    </dgm:pt>
    <dgm:pt modelId="{B95378AC-42D0-41E2-82D6-918EC85A7B02}" type="parTrans" cxnId="{B8CFC142-B53B-4672-A277-181F29BBF55D}">
      <dgm:prSet/>
      <dgm:spPr/>
      <dgm:t>
        <a:bodyPr/>
        <a:lstStyle/>
        <a:p>
          <a:endParaRPr lang="en-US"/>
        </a:p>
      </dgm:t>
    </dgm:pt>
    <dgm:pt modelId="{64B90567-975A-436A-B92D-91CBBDA9CE45}" type="sibTrans" cxnId="{B8CFC142-B53B-4672-A277-181F29BBF55D}">
      <dgm:prSet/>
      <dgm:spPr/>
      <dgm:t>
        <a:bodyPr/>
        <a:lstStyle/>
        <a:p>
          <a:endParaRPr lang="en-US"/>
        </a:p>
      </dgm:t>
    </dgm:pt>
    <dgm:pt modelId="{947BF902-027F-46C1-A7F1-621FCA2E42B8}">
      <dgm:prSet/>
      <dgm:spPr/>
      <dgm:t>
        <a:bodyPr/>
        <a:lstStyle/>
        <a:p>
          <a:r>
            <a:rPr lang="de-DE"/>
            <a:t>Hohe Staatsausgaben (2020 – 2026) machen es schwer, auf die Krise durch die Straße von Hormuz zu reagieren</a:t>
          </a:r>
          <a:endParaRPr lang="en-US"/>
        </a:p>
      </dgm:t>
    </dgm:pt>
    <dgm:pt modelId="{01AF988E-3BBA-48D4-91F0-5AA2AEF625AB}" type="parTrans" cxnId="{499F8523-F7BB-4559-8B10-4557F4D24335}">
      <dgm:prSet/>
      <dgm:spPr/>
      <dgm:t>
        <a:bodyPr/>
        <a:lstStyle/>
        <a:p>
          <a:endParaRPr lang="en-US"/>
        </a:p>
      </dgm:t>
    </dgm:pt>
    <dgm:pt modelId="{3E94C90F-7607-469B-BF64-F2038637B3E2}" type="sibTrans" cxnId="{499F8523-F7BB-4559-8B10-4557F4D24335}">
      <dgm:prSet/>
      <dgm:spPr/>
      <dgm:t>
        <a:bodyPr/>
        <a:lstStyle/>
        <a:p>
          <a:endParaRPr lang="en-US"/>
        </a:p>
      </dgm:t>
    </dgm:pt>
    <dgm:pt modelId="{320B2087-844C-4001-B322-D99DE74EA0E6}">
      <dgm:prSet/>
      <dgm:spPr/>
      <dgm:t>
        <a:bodyPr/>
        <a:lstStyle/>
        <a:p>
          <a:r>
            <a:rPr lang="de-DE"/>
            <a:t>Keine baldige Lösung für die Öffnung der Straße von Hormuz in Aussicht -&gt; Langfristige Krise, geringere Wirkung der Produktionssteigerung</a:t>
          </a:r>
          <a:endParaRPr lang="en-US"/>
        </a:p>
      </dgm:t>
    </dgm:pt>
    <dgm:pt modelId="{9FC59D65-833A-41F6-8936-29573D6BC5F7}" type="parTrans" cxnId="{3C5DD8D8-782D-42F4-8E09-FFE915789DDD}">
      <dgm:prSet/>
      <dgm:spPr/>
      <dgm:t>
        <a:bodyPr/>
        <a:lstStyle/>
        <a:p>
          <a:endParaRPr lang="en-US"/>
        </a:p>
      </dgm:t>
    </dgm:pt>
    <dgm:pt modelId="{50B42B64-3514-4D95-9B6F-78DAB8C312D9}" type="sibTrans" cxnId="{3C5DD8D8-782D-42F4-8E09-FFE915789DDD}">
      <dgm:prSet/>
      <dgm:spPr/>
      <dgm:t>
        <a:bodyPr/>
        <a:lstStyle/>
        <a:p>
          <a:endParaRPr lang="en-US"/>
        </a:p>
      </dgm:t>
    </dgm:pt>
    <dgm:pt modelId="{13150F37-81B0-4F3F-BB46-0A03CD76B80E}">
      <dgm:prSet/>
      <dgm:spPr/>
      <dgm:t>
        <a:bodyPr/>
        <a:lstStyle/>
        <a:p>
          <a:r>
            <a:rPr lang="de-DE"/>
            <a:t>Produktion, Löhne und Arbeitslosigkeit zu Beginn der Krise sehr dramatisch, Verbesserung mittelfristig und langfristig sehr wahrscheinlich</a:t>
          </a:r>
          <a:endParaRPr lang="en-US"/>
        </a:p>
      </dgm:t>
    </dgm:pt>
    <dgm:pt modelId="{2E71427C-604E-42F6-9DA9-04EC7B1C9499}" type="parTrans" cxnId="{188CAEA3-FB31-4EF3-B3E9-268E60F41C83}">
      <dgm:prSet/>
      <dgm:spPr/>
      <dgm:t>
        <a:bodyPr/>
        <a:lstStyle/>
        <a:p>
          <a:endParaRPr lang="en-US"/>
        </a:p>
      </dgm:t>
    </dgm:pt>
    <dgm:pt modelId="{C83CB04D-1654-4C67-AB58-60326B5F3537}" type="sibTrans" cxnId="{188CAEA3-FB31-4EF3-B3E9-268E60F41C83}">
      <dgm:prSet/>
      <dgm:spPr/>
      <dgm:t>
        <a:bodyPr/>
        <a:lstStyle/>
        <a:p>
          <a:endParaRPr lang="en-US"/>
        </a:p>
      </dgm:t>
    </dgm:pt>
    <dgm:pt modelId="{6EF2205F-A629-4DDB-B3C4-F8CBD4524B83}">
      <dgm:prSet/>
      <dgm:spPr/>
      <dgm:t>
        <a:bodyPr/>
        <a:lstStyle/>
        <a:p>
          <a:r>
            <a:rPr lang="de-DE"/>
            <a:t>Inflation durch Krise gegeben, Volkswirtschaftlich mittelfristig stärker, durch EZB Geldpolitik mittelfristig schwächer als kurzfristig</a:t>
          </a:r>
          <a:endParaRPr lang="en-US"/>
        </a:p>
      </dgm:t>
    </dgm:pt>
    <dgm:pt modelId="{41553F11-ACAB-49FB-844A-CC77AC911D8B}" type="parTrans" cxnId="{36C25D34-2F73-417B-AB5A-8EC7190388F6}">
      <dgm:prSet/>
      <dgm:spPr/>
      <dgm:t>
        <a:bodyPr/>
        <a:lstStyle/>
        <a:p>
          <a:endParaRPr lang="en-US"/>
        </a:p>
      </dgm:t>
    </dgm:pt>
    <dgm:pt modelId="{13CA930C-E503-469A-9B07-F17C1D20C7F4}" type="sibTrans" cxnId="{36C25D34-2F73-417B-AB5A-8EC7190388F6}">
      <dgm:prSet/>
      <dgm:spPr/>
      <dgm:t>
        <a:bodyPr/>
        <a:lstStyle/>
        <a:p>
          <a:endParaRPr lang="en-US"/>
        </a:p>
      </dgm:t>
    </dgm:pt>
    <dgm:pt modelId="{CA7EFD6F-DCA1-419A-ACBF-CCACA20836F9}" type="pres">
      <dgm:prSet presAssocID="{834B60AA-05F4-42C1-8CB9-163BCCAE8A2F}" presName="linear" presStyleCnt="0">
        <dgm:presLayoutVars>
          <dgm:animLvl val="lvl"/>
          <dgm:resizeHandles val="exact"/>
        </dgm:presLayoutVars>
      </dgm:prSet>
      <dgm:spPr/>
    </dgm:pt>
    <dgm:pt modelId="{9A0FFAF9-188A-4D9A-828F-889A9CF3E358}" type="pres">
      <dgm:prSet presAssocID="{DCCDBCDF-9844-4114-89B4-4A5EBCBA3CD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E8CFB7F-044F-4F23-9318-8211D0DAC933}" type="pres">
      <dgm:prSet presAssocID="{49BE2E03-F26A-4506-9C30-43AE98224733}" presName="spacer" presStyleCnt="0"/>
      <dgm:spPr/>
    </dgm:pt>
    <dgm:pt modelId="{2A6DF587-2E25-4935-96CE-39D9D9AA80D6}" type="pres">
      <dgm:prSet presAssocID="{0B4C2972-AA25-4A47-9D81-7B476BD479D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AD1FE2D-67A8-4618-A871-3F5D2CA609F0}" type="pres">
      <dgm:prSet presAssocID="{64B90567-975A-436A-B92D-91CBBDA9CE45}" presName="spacer" presStyleCnt="0"/>
      <dgm:spPr/>
    </dgm:pt>
    <dgm:pt modelId="{64CC63EB-9D42-4D2E-BAED-202AC7825813}" type="pres">
      <dgm:prSet presAssocID="{947BF902-027F-46C1-A7F1-621FCA2E42B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E46658E-9EDF-4042-8E03-B6E8951C2F72}" type="pres">
      <dgm:prSet presAssocID="{3E94C90F-7607-469B-BF64-F2038637B3E2}" presName="spacer" presStyleCnt="0"/>
      <dgm:spPr/>
    </dgm:pt>
    <dgm:pt modelId="{62AE397A-D52E-4AD6-B5E6-CB9BC0EAE604}" type="pres">
      <dgm:prSet presAssocID="{320B2087-844C-4001-B322-D99DE74EA0E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1A54FA5-29A2-4C9F-868B-F4A6352655CF}" type="pres">
      <dgm:prSet presAssocID="{50B42B64-3514-4D95-9B6F-78DAB8C312D9}" presName="spacer" presStyleCnt="0"/>
      <dgm:spPr/>
    </dgm:pt>
    <dgm:pt modelId="{D04FD8D1-6F1D-434E-B689-78C328657AE2}" type="pres">
      <dgm:prSet presAssocID="{13150F37-81B0-4F3F-BB46-0A03CD76B80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EABD35-5DD5-4A92-9F9A-ACB8C795BD55}" type="pres">
      <dgm:prSet presAssocID="{C83CB04D-1654-4C67-AB58-60326B5F3537}" presName="spacer" presStyleCnt="0"/>
      <dgm:spPr/>
    </dgm:pt>
    <dgm:pt modelId="{4061EE45-C9CD-4489-9182-665084CDD498}" type="pres">
      <dgm:prSet presAssocID="{6EF2205F-A629-4DDB-B3C4-F8CBD4524B8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B112C1D-1C36-4DB7-8603-8C8F8DD0644D}" type="presOf" srcId="{947BF902-027F-46C1-A7F1-621FCA2E42B8}" destId="{64CC63EB-9D42-4D2E-BAED-202AC7825813}" srcOrd="0" destOrd="0" presId="urn:microsoft.com/office/officeart/2005/8/layout/vList2"/>
    <dgm:cxn modelId="{499F8523-F7BB-4559-8B10-4557F4D24335}" srcId="{834B60AA-05F4-42C1-8CB9-163BCCAE8A2F}" destId="{947BF902-027F-46C1-A7F1-621FCA2E42B8}" srcOrd="2" destOrd="0" parTransId="{01AF988E-3BBA-48D4-91F0-5AA2AEF625AB}" sibTransId="{3E94C90F-7607-469B-BF64-F2038637B3E2}"/>
    <dgm:cxn modelId="{36C25D34-2F73-417B-AB5A-8EC7190388F6}" srcId="{834B60AA-05F4-42C1-8CB9-163BCCAE8A2F}" destId="{6EF2205F-A629-4DDB-B3C4-F8CBD4524B83}" srcOrd="5" destOrd="0" parTransId="{41553F11-ACAB-49FB-844A-CC77AC911D8B}" sibTransId="{13CA930C-E503-469A-9B07-F17C1D20C7F4}"/>
    <dgm:cxn modelId="{5924033D-7585-4B7C-876D-E8E4930C9E9D}" type="presOf" srcId="{DCCDBCDF-9844-4114-89B4-4A5EBCBA3CD8}" destId="{9A0FFAF9-188A-4D9A-828F-889A9CF3E358}" srcOrd="0" destOrd="0" presId="urn:microsoft.com/office/officeart/2005/8/layout/vList2"/>
    <dgm:cxn modelId="{B8CFC142-B53B-4672-A277-181F29BBF55D}" srcId="{834B60AA-05F4-42C1-8CB9-163BCCAE8A2F}" destId="{0B4C2972-AA25-4A47-9D81-7B476BD479DB}" srcOrd="1" destOrd="0" parTransId="{B95378AC-42D0-41E2-82D6-918EC85A7B02}" sibTransId="{64B90567-975A-436A-B92D-91CBBDA9CE45}"/>
    <dgm:cxn modelId="{CF7CEA6C-1CE5-4D14-B079-DE7D92FABAC6}" type="presOf" srcId="{0B4C2972-AA25-4A47-9D81-7B476BD479DB}" destId="{2A6DF587-2E25-4935-96CE-39D9D9AA80D6}" srcOrd="0" destOrd="0" presId="urn:microsoft.com/office/officeart/2005/8/layout/vList2"/>
    <dgm:cxn modelId="{553ED755-73A4-48A4-AB8E-A9DE7BDAEA2E}" type="presOf" srcId="{6EF2205F-A629-4DDB-B3C4-F8CBD4524B83}" destId="{4061EE45-C9CD-4489-9182-665084CDD498}" srcOrd="0" destOrd="0" presId="urn:microsoft.com/office/officeart/2005/8/layout/vList2"/>
    <dgm:cxn modelId="{506CAB59-785E-4A61-9E41-86A8F1DC9B12}" type="presOf" srcId="{320B2087-844C-4001-B322-D99DE74EA0E6}" destId="{62AE397A-D52E-4AD6-B5E6-CB9BC0EAE604}" srcOrd="0" destOrd="0" presId="urn:microsoft.com/office/officeart/2005/8/layout/vList2"/>
    <dgm:cxn modelId="{188CAEA3-FB31-4EF3-B3E9-268E60F41C83}" srcId="{834B60AA-05F4-42C1-8CB9-163BCCAE8A2F}" destId="{13150F37-81B0-4F3F-BB46-0A03CD76B80E}" srcOrd="4" destOrd="0" parTransId="{2E71427C-604E-42F6-9DA9-04EC7B1C9499}" sibTransId="{C83CB04D-1654-4C67-AB58-60326B5F3537}"/>
    <dgm:cxn modelId="{758D8FD0-2B5F-416D-8A68-DB4D84AA9FFF}" type="presOf" srcId="{13150F37-81B0-4F3F-BB46-0A03CD76B80E}" destId="{D04FD8D1-6F1D-434E-B689-78C328657AE2}" srcOrd="0" destOrd="0" presId="urn:microsoft.com/office/officeart/2005/8/layout/vList2"/>
    <dgm:cxn modelId="{3C5DD8D8-782D-42F4-8E09-FFE915789DDD}" srcId="{834B60AA-05F4-42C1-8CB9-163BCCAE8A2F}" destId="{320B2087-844C-4001-B322-D99DE74EA0E6}" srcOrd="3" destOrd="0" parTransId="{9FC59D65-833A-41F6-8936-29573D6BC5F7}" sibTransId="{50B42B64-3514-4D95-9B6F-78DAB8C312D9}"/>
    <dgm:cxn modelId="{3BAFA2DD-B1AD-42E4-B79E-64D2ABBB5908}" type="presOf" srcId="{834B60AA-05F4-42C1-8CB9-163BCCAE8A2F}" destId="{CA7EFD6F-DCA1-419A-ACBF-CCACA20836F9}" srcOrd="0" destOrd="0" presId="urn:microsoft.com/office/officeart/2005/8/layout/vList2"/>
    <dgm:cxn modelId="{7B7892E5-B470-4D76-BCB7-372324D251E9}" srcId="{834B60AA-05F4-42C1-8CB9-163BCCAE8A2F}" destId="{DCCDBCDF-9844-4114-89B4-4A5EBCBA3CD8}" srcOrd="0" destOrd="0" parTransId="{2C8119F6-32D8-45D9-8237-D2C2F10EE7BF}" sibTransId="{49BE2E03-F26A-4506-9C30-43AE98224733}"/>
    <dgm:cxn modelId="{FE03DE94-184E-4C53-95D3-0C7903ECAE41}" type="presParOf" srcId="{CA7EFD6F-DCA1-419A-ACBF-CCACA20836F9}" destId="{9A0FFAF9-188A-4D9A-828F-889A9CF3E358}" srcOrd="0" destOrd="0" presId="urn:microsoft.com/office/officeart/2005/8/layout/vList2"/>
    <dgm:cxn modelId="{5CA1302C-5FDB-4DFB-A45A-23BE27D4C6AA}" type="presParOf" srcId="{CA7EFD6F-DCA1-419A-ACBF-CCACA20836F9}" destId="{9E8CFB7F-044F-4F23-9318-8211D0DAC933}" srcOrd="1" destOrd="0" presId="urn:microsoft.com/office/officeart/2005/8/layout/vList2"/>
    <dgm:cxn modelId="{286E81BE-BBE0-4FD9-8B95-CEB0354B8666}" type="presParOf" srcId="{CA7EFD6F-DCA1-419A-ACBF-CCACA20836F9}" destId="{2A6DF587-2E25-4935-96CE-39D9D9AA80D6}" srcOrd="2" destOrd="0" presId="urn:microsoft.com/office/officeart/2005/8/layout/vList2"/>
    <dgm:cxn modelId="{2169E0CD-23FE-4864-91E7-598770DA6FB1}" type="presParOf" srcId="{CA7EFD6F-DCA1-419A-ACBF-CCACA20836F9}" destId="{7AD1FE2D-67A8-4618-A871-3F5D2CA609F0}" srcOrd="3" destOrd="0" presId="urn:microsoft.com/office/officeart/2005/8/layout/vList2"/>
    <dgm:cxn modelId="{63ECCBAB-C59D-4DFD-B97C-33DE9C7FD558}" type="presParOf" srcId="{CA7EFD6F-DCA1-419A-ACBF-CCACA20836F9}" destId="{64CC63EB-9D42-4D2E-BAED-202AC7825813}" srcOrd="4" destOrd="0" presId="urn:microsoft.com/office/officeart/2005/8/layout/vList2"/>
    <dgm:cxn modelId="{44656380-55BA-4C58-9C67-A57577EBF73C}" type="presParOf" srcId="{CA7EFD6F-DCA1-419A-ACBF-CCACA20836F9}" destId="{5E46658E-9EDF-4042-8E03-B6E8951C2F72}" srcOrd="5" destOrd="0" presId="urn:microsoft.com/office/officeart/2005/8/layout/vList2"/>
    <dgm:cxn modelId="{C87F21BD-F8ED-41B2-83C1-A8ABF96EABBB}" type="presParOf" srcId="{CA7EFD6F-DCA1-419A-ACBF-CCACA20836F9}" destId="{62AE397A-D52E-4AD6-B5E6-CB9BC0EAE604}" srcOrd="6" destOrd="0" presId="urn:microsoft.com/office/officeart/2005/8/layout/vList2"/>
    <dgm:cxn modelId="{3317B701-043A-440A-A438-96DA83B5B63F}" type="presParOf" srcId="{CA7EFD6F-DCA1-419A-ACBF-CCACA20836F9}" destId="{41A54FA5-29A2-4C9F-868B-F4A6352655CF}" srcOrd="7" destOrd="0" presId="urn:microsoft.com/office/officeart/2005/8/layout/vList2"/>
    <dgm:cxn modelId="{A2ED507D-4E6E-4B8D-8729-02517AAEF833}" type="presParOf" srcId="{CA7EFD6F-DCA1-419A-ACBF-CCACA20836F9}" destId="{D04FD8D1-6F1D-434E-B689-78C328657AE2}" srcOrd="8" destOrd="0" presId="urn:microsoft.com/office/officeart/2005/8/layout/vList2"/>
    <dgm:cxn modelId="{83B0C62D-F384-4D26-9AE5-B7853F90A881}" type="presParOf" srcId="{CA7EFD6F-DCA1-419A-ACBF-CCACA20836F9}" destId="{AAEABD35-5DD5-4A92-9F9A-ACB8C795BD55}" srcOrd="9" destOrd="0" presId="urn:microsoft.com/office/officeart/2005/8/layout/vList2"/>
    <dgm:cxn modelId="{1BDD7D31-44BC-4FDF-AC71-A228AADB744E}" type="presParOf" srcId="{CA7EFD6F-DCA1-419A-ACBF-CCACA20836F9}" destId="{4061EE45-C9CD-4489-9182-665084CDD49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DF0D00E-E208-4E6B-8EBC-85805BA7CC1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A2C886-FCC9-483A-A68E-31F44FB49D87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de-DE" dirty="0"/>
            <a:t>Für Regierung:</a:t>
          </a:r>
          <a:endParaRPr lang="en-US" dirty="0"/>
        </a:p>
      </dgm:t>
    </dgm:pt>
    <dgm:pt modelId="{70E3DA1E-921C-4A11-8593-BD9C553CFB4C}" type="parTrans" cxnId="{85CB18A5-300A-49C9-A677-B18B40909DFD}">
      <dgm:prSet/>
      <dgm:spPr/>
      <dgm:t>
        <a:bodyPr/>
        <a:lstStyle/>
        <a:p>
          <a:endParaRPr lang="en-US"/>
        </a:p>
      </dgm:t>
    </dgm:pt>
    <dgm:pt modelId="{447CD1AE-19DE-46A4-8050-03A28DE525E6}" type="sibTrans" cxnId="{85CB18A5-300A-49C9-A677-B18B40909DFD}">
      <dgm:prSet/>
      <dgm:spPr/>
      <dgm:t>
        <a:bodyPr/>
        <a:lstStyle/>
        <a:p>
          <a:endParaRPr lang="en-US"/>
        </a:p>
      </dgm:t>
    </dgm:pt>
    <dgm:pt modelId="{906B6F1E-04D8-45D9-9E7E-E93B77D1A590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de-DE" sz="1400" dirty="0"/>
            <a:t>Subventionierung von Unternehmen mit Zukunftsperspektive und gegebener Abhängigkeit durch Gas, Öl, Elektrizität, Transport</a:t>
          </a:r>
          <a:endParaRPr lang="en-US" sz="1400" dirty="0"/>
        </a:p>
      </dgm:t>
    </dgm:pt>
    <dgm:pt modelId="{5EC9EB9C-E6D0-42C9-85CD-6EF2A5F99F42}" type="parTrans" cxnId="{BD7EF748-5CC5-436B-A70A-CAFB2690980C}">
      <dgm:prSet/>
      <dgm:spPr/>
      <dgm:t>
        <a:bodyPr/>
        <a:lstStyle/>
        <a:p>
          <a:endParaRPr lang="en-US"/>
        </a:p>
      </dgm:t>
    </dgm:pt>
    <dgm:pt modelId="{ACBB73A4-95AA-44AC-BB7F-C0A94681BA41}" type="sibTrans" cxnId="{BD7EF748-5CC5-436B-A70A-CAFB2690980C}">
      <dgm:prSet/>
      <dgm:spPr/>
      <dgm:t>
        <a:bodyPr/>
        <a:lstStyle/>
        <a:p>
          <a:endParaRPr lang="en-US"/>
        </a:p>
      </dgm:t>
    </dgm:pt>
    <dgm:pt modelId="{BFA7545A-40A4-4768-98BD-F382BCC73096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de-DE" sz="1400" dirty="0"/>
            <a:t>Unterstützung der Bevölkerung, Kompensation für hohe Energie- und Lebensmittelkosten</a:t>
          </a:r>
          <a:endParaRPr lang="en-US" sz="1400" dirty="0"/>
        </a:p>
      </dgm:t>
    </dgm:pt>
    <dgm:pt modelId="{3BD23A18-D403-4217-AC12-5FC0717794EA}" type="parTrans" cxnId="{CA8EC94F-79AF-47AA-8670-FAD936BD6F81}">
      <dgm:prSet/>
      <dgm:spPr/>
      <dgm:t>
        <a:bodyPr/>
        <a:lstStyle/>
        <a:p>
          <a:endParaRPr lang="en-US"/>
        </a:p>
      </dgm:t>
    </dgm:pt>
    <dgm:pt modelId="{FC1EA33D-586E-46E2-BD86-FD0FE946ACB4}" type="sibTrans" cxnId="{CA8EC94F-79AF-47AA-8670-FAD936BD6F81}">
      <dgm:prSet/>
      <dgm:spPr/>
      <dgm:t>
        <a:bodyPr/>
        <a:lstStyle/>
        <a:p>
          <a:endParaRPr lang="en-US"/>
        </a:p>
      </dgm:t>
    </dgm:pt>
    <dgm:pt modelId="{AD2703E5-1285-41CF-8CE2-C7A644F275E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de-DE" sz="1400" dirty="0" err="1"/>
            <a:t>Ggf</a:t>
          </a:r>
          <a:r>
            <a:rPr lang="de-DE" sz="1400" dirty="0"/>
            <a:t> Steuersenkungen auf Lebensmittel und Energieprodukte (z.B. Benzin, Strom, Gas, </a:t>
          </a:r>
          <a:r>
            <a:rPr lang="de-DE" sz="1400" dirty="0" err="1"/>
            <a:t>etc</a:t>
          </a:r>
          <a:r>
            <a:rPr lang="de-DE" sz="1400" dirty="0"/>
            <a:t>)</a:t>
          </a:r>
          <a:endParaRPr lang="en-US" sz="1400" dirty="0"/>
        </a:p>
      </dgm:t>
    </dgm:pt>
    <dgm:pt modelId="{71528397-37DE-4DD4-96FA-678E1DD28CDA}" type="parTrans" cxnId="{26E165C4-E3EF-4AD6-A789-84F15B555665}">
      <dgm:prSet/>
      <dgm:spPr/>
      <dgm:t>
        <a:bodyPr/>
        <a:lstStyle/>
        <a:p>
          <a:endParaRPr lang="en-US"/>
        </a:p>
      </dgm:t>
    </dgm:pt>
    <dgm:pt modelId="{A952F2F7-069B-49F0-9A26-2B132AD6B2A4}" type="sibTrans" cxnId="{26E165C4-E3EF-4AD6-A789-84F15B555665}">
      <dgm:prSet/>
      <dgm:spPr/>
      <dgm:t>
        <a:bodyPr/>
        <a:lstStyle/>
        <a:p>
          <a:endParaRPr lang="en-US"/>
        </a:p>
      </dgm:t>
    </dgm:pt>
    <dgm:pt modelId="{BE7F7E7E-5AEF-4574-88BB-8815F522BFFE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de-DE" sz="1400" dirty="0"/>
            <a:t>Energiewende auf Erneuerbare Energien, sofern realistisch auch Atomenergie</a:t>
          </a:r>
          <a:endParaRPr lang="en-US" sz="1400" dirty="0"/>
        </a:p>
      </dgm:t>
    </dgm:pt>
    <dgm:pt modelId="{21A6C49A-8276-4003-A2BD-2B83590CE258}" type="parTrans" cxnId="{90F52400-AFC1-4E39-A91A-2826AD28FA3E}">
      <dgm:prSet/>
      <dgm:spPr/>
      <dgm:t>
        <a:bodyPr/>
        <a:lstStyle/>
        <a:p>
          <a:endParaRPr lang="en-US"/>
        </a:p>
      </dgm:t>
    </dgm:pt>
    <dgm:pt modelId="{ABC5DA90-E4EF-4565-8BEC-7C507E83975F}" type="sibTrans" cxnId="{90F52400-AFC1-4E39-A91A-2826AD28FA3E}">
      <dgm:prSet/>
      <dgm:spPr/>
      <dgm:t>
        <a:bodyPr/>
        <a:lstStyle/>
        <a:p>
          <a:endParaRPr lang="en-US"/>
        </a:p>
      </dgm:t>
    </dgm:pt>
    <dgm:pt modelId="{F228ACCB-A2F4-4191-A50E-3212E78972D9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de-DE" dirty="0"/>
            <a:t>Für Investoren:</a:t>
          </a:r>
          <a:endParaRPr lang="en-US" dirty="0"/>
        </a:p>
      </dgm:t>
    </dgm:pt>
    <dgm:pt modelId="{E63C6897-A326-40A6-B0FD-65DC694DDBF0}" type="parTrans" cxnId="{1E49043D-DEBD-4364-B979-236D8A60B719}">
      <dgm:prSet/>
      <dgm:spPr/>
      <dgm:t>
        <a:bodyPr/>
        <a:lstStyle/>
        <a:p>
          <a:endParaRPr lang="en-US"/>
        </a:p>
      </dgm:t>
    </dgm:pt>
    <dgm:pt modelId="{11FDA7DF-F81E-457E-8E97-093C54133C5D}" type="sibTrans" cxnId="{1E49043D-DEBD-4364-B979-236D8A60B719}">
      <dgm:prSet/>
      <dgm:spPr/>
      <dgm:t>
        <a:bodyPr/>
        <a:lstStyle/>
        <a:p>
          <a:endParaRPr lang="en-US"/>
        </a:p>
      </dgm:t>
    </dgm:pt>
    <dgm:pt modelId="{49D397F5-FB0E-468E-9428-E0F4BCE9EA39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de-DE" dirty="0"/>
            <a:t>Identifizieren des Portfolios von Aktien mit hohem Input von Gas, Kerosin, Öl, Abhängigkeit von Transport</a:t>
          </a:r>
          <a:endParaRPr lang="en-US" dirty="0"/>
        </a:p>
      </dgm:t>
    </dgm:pt>
    <dgm:pt modelId="{EB4E896A-A42A-4C2D-8AB9-3CA6590D2159}" type="parTrans" cxnId="{7501E64C-DA7A-4A30-BFC0-BEC302E7B515}">
      <dgm:prSet/>
      <dgm:spPr/>
      <dgm:t>
        <a:bodyPr/>
        <a:lstStyle/>
        <a:p>
          <a:endParaRPr lang="en-US"/>
        </a:p>
      </dgm:t>
    </dgm:pt>
    <dgm:pt modelId="{1B6A7E2A-96DE-40A5-A9D1-5A40527AE22C}" type="sibTrans" cxnId="{7501E64C-DA7A-4A30-BFC0-BEC302E7B515}">
      <dgm:prSet/>
      <dgm:spPr/>
      <dgm:t>
        <a:bodyPr/>
        <a:lstStyle/>
        <a:p>
          <a:endParaRPr lang="en-US"/>
        </a:p>
      </dgm:t>
    </dgm:pt>
    <dgm:pt modelId="{7B5B1E9A-E020-40D4-8CBD-21C020EDD49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de-DE" dirty="0"/>
            <a:t>Kurzfristig: Verkauf, sofern der Preis noch nicht eingebrochen ist</a:t>
          </a:r>
          <a:endParaRPr lang="en-US" dirty="0"/>
        </a:p>
      </dgm:t>
    </dgm:pt>
    <dgm:pt modelId="{E392A6D9-250E-4B9A-99F6-95835E971D59}" type="parTrans" cxnId="{D72C2110-9906-4D78-9454-C8A142291ABF}">
      <dgm:prSet/>
      <dgm:spPr/>
      <dgm:t>
        <a:bodyPr/>
        <a:lstStyle/>
        <a:p>
          <a:endParaRPr lang="en-US"/>
        </a:p>
      </dgm:t>
    </dgm:pt>
    <dgm:pt modelId="{CED2F4F2-2C35-4D02-858C-F47489D623EB}" type="sibTrans" cxnId="{D72C2110-9906-4D78-9454-C8A142291ABF}">
      <dgm:prSet/>
      <dgm:spPr/>
      <dgm:t>
        <a:bodyPr/>
        <a:lstStyle/>
        <a:p>
          <a:endParaRPr lang="en-US"/>
        </a:p>
      </dgm:t>
    </dgm:pt>
    <dgm:pt modelId="{45FA8C09-0377-4C96-8F77-0B4CAB86CDBF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de-DE" dirty="0"/>
            <a:t>Mittelfristig: Kauf bei Preisstagnation der Aktie für Second Round Effekte</a:t>
          </a:r>
          <a:endParaRPr lang="en-US" dirty="0"/>
        </a:p>
      </dgm:t>
    </dgm:pt>
    <dgm:pt modelId="{DF301561-5708-479A-AF9E-CC77D68534E6}" type="parTrans" cxnId="{45528FB9-9B14-45A8-AC77-9FB9B6DB105E}">
      <dgm:prSet/>
      <dgm:spPr/>
      <dgm:t>
        <a:bodyPr/>
        <a:lstStyle/>
        <a:p>
          <a:endParaRPr lang="en-US"/>
        </a:p>
      </dgm:t>
    </dgm:pt>
    <dgm:pt modelId="{82800468-3C93-4333-AC0A-B2A8D0038625}" type="sibTrans" cxnId="{45528FB9-9B14-45A8-AC77-9FB9B6DB105E}">
      <dgm:prSet/>
      <dgm:spPr/>
      <dgm:t>
        <a:bodyPr/>
        <a:lstStyle/>
        <a:p>
          <a:endParaRPr lang="en-US"/>
        </a:p>
      </dgm:t>
    </dgm:pt>
    <dgm:pt modelId="{E7BCC790-1E67-4A47-848A-BA20FDFA5440}" type="pres">
      <dgm:prSet presAssocID="{2DF0D00E-E208-4E6B-8EBC-85805BA7CC1C}" presName="root" presStyleCnt="0">
        <dgm:presLayoutVars>
          <dgm:dir/>
          <dgm:resizeHandles val="exact"/>
        </dgm:presLayoutVars>
      </dgm:prSet>
      <dgm:spPr/>
    </dgm:pt>
    <dgm:pt modelId="{2A804589-1E15-4B8C-8903-AF3819DAEE1B}" type="pres">
      <dgm:prSet presAssocID="{90A2C886-FCC9-483A-A68E-31F44FB49D87}" presName="compNode" presStyleCnt="0"/>
      <dgm:spPr/>
    </dgm:pt>
    <dgm:pt modelId="{BDCDFF67-F666-4F95-8AE1-FE8E39210495}" type="pres">
      <dgm:prSet presAssocID="{90A2C886-FCC9-483A-A68E-31F44FB49D87}" presName="iconRect" presStyleLbl="node1" presStyleIdx="0" presStyleCnt="2" custLinFactNeighborX="84619" custLinFactNeighborY="-232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70C4092-B81E-44EE-927F-67EBAAB40104}" type="pres">
      <dgm:prSet presAssocID="{90A2C886-FCC9-483A-A68E-31F44FB49D87}" presName="iconSpace" presStyleCnt="0"/>
      <dgm:spPr/>
    </dgm:pt>
    <dgm:pt modelId="{0017B664-3431-40B7-B08B-027D4A2BB333}" type="pres">
      <dgm:prSet presAssocID="{90A2C886-FCC9-483A-A68E-31F44FB49D87}" presName="parTx" presStyleLbl="revTx" presStyleIdx="0" presStyleCnt="4">
        <dgm:presLayoutVars>
          <dgm:chMax val="0"/>
          <dgm:chPref val="0"/>
        </dgm:presLayoutVars>
      </dgm:prSet>
      <dgm:spPr/>
    </dgm:pt>
    <dgm:pt modelId="{11733B69-919B-4A08-B827-73DEFE616148}" type="pres">
      <dgm:prSet presAssocID="{90A2C886-FCC9-483A-A68E-31F44FB49D87}" presName="txSpace" presStyleCnt="0"/>
      <dgm:spPr/>
    </dgm:pt>
    <dgm:pt modelId="{CDC67E13-204C-4BDD-B72C-929F179D5A90}" type="pres">
      <dgm:prSet presAssocID="{90A2C886-FCC9-483A-A68E-31F44FB49D87}" presName="desTx" presStyleLbl="revTx" presStyleIdx="1" presStyleCnt="4">
        <dgm:presLayoutVars/>
      </dgm:prSet>
      <dgm:spPr/>
    </dgm:pt>
    <dgm:pt modelId="{7C5C7AD9-E43A-4E6D-948E-3CD59FF702CB}" type="pres">
      <dgm:prSet presAssocID="{447CD1AE-19DE-46A4-8050-03A28DE525E6}" presName="sibTrans" presStyleCnt="0"/>
      <dgm:spPr/>
    </dgm:pt>
    <dgm:pt modelId="{6ECE4109-146A-4D4C-906A-E9B3A6A25545}" type="pres">
      <dgm:prSet presAssocID="{F228ACCB-A2F4-4191-A50E-3212E78972D9}" presName="compNode" presStyleCnt="0"/>
      <dgm:spPr/>
    </dgm:pt>
    <dgm:pt modelId="{EA53E5A9-C2C8-457E-9568-5A84F081EE90}" type="pres">
      <dgm:prSet presAssocID="{F228ACCB-A2F4-4191-A50E-3212E78972D9}" presName="iconRect" presStyleLbl="node1" presStyleIdx="1" presStyleCnt="2" custLinFactNeighborX="87874" custLinFactNeighborY="-232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DD8FA26-EA2A-4968-BF97-897E8B57E76A}" type="pres">
      <dgm:prSet presAssocID="{F228ACCB-A2F4-4191-A50E-3212E78972D9}" presName="iconSpace" presStyleCnt="0"/>
      <dgm:spPr/>
    </dgm:pt>
    <dgm:pt modelId="{65C12E1D-7599-4932-B70D-E80A75AE780D}" type="pres">
      <dgm:prSet presAssocID="{F228ACCB-A2F4-4191-A50E-3212E78972D9}" presName="parTx" presStyleLbl="revTx" presStyleIdx="2" presStyleCnt="4">
        <dgm:presLayoutVars>
          <dgm:chMax val="0"/>
          <dgm:chPref val="0"/>
        </dgm:presLayoutVars>
      </dgm:prSet>
      <dgm:spPr/>
    </dgm:pt>
    <dgm:pt modelId="{93B52801-7759-4414-9A4F-0BD9CF8A1474}" type="pres">
      <dgm:prSet presAssocID="{F228ACCB-A2F4-4191-A50E-3212E78972D9}" presName="txSpace" presStyleCnt="0"/>
      <dgm:spPr/>
    </dgm:pt>
    <dgm:pt modelId="{AE88DD3C-222F-41F2-8C8A-0A4C2D66790E}" type="pres">
      <dgm:prSet presAssocID="{F228ACCB-A2F4-4191-A50E-3212E78972D9}" presName="desTx" presStyleLbl="revTx" presStyleIdx="3" presStyleCnt="4">
        <dgm:presLayoutVars/>
      </dgm:prSet>
      <dgm:spPr/>
    </dgm:pt>
  </dgm:ptLst>
  <dgm:cxnLst>
    <dgm:cxn modelId="{90F52400-AFC1-4E39-A91A-2826AD28FA3E}" srcId="{90A2C886-FCC9-483A-A68E-31F44FB49D87}" destId="{BE7F7E7E-5AEF-4574-88BB-8815F522BFFE}" srcOrd="3" destOrd="0" parTransId="{21A6C49A-8276-4003-A2BD-2B83590CE258}" sibTransId="{ABC5DA90-E4EF-4565-8BEC-7C507E83975F}"/>
    <dgm:cxn modelId="{372B8707-0F69-4268-A1DA-B12582F1E1C5}" type="presOf" srcId="{906B6F1E-04D8-45D9-9E7E-E93B77D1A590}" destId="{CDC67E13-204C-4BDD-B72C-929F179D5A90}" srcOrd="0" destOrd="0" presId="urn:microsoft.com/office/officeart/2018/2/layout/IconLabelDescriptionList"/>
    <dgm:cxn modelId="{D72C2110-9906-4D78-9454-C8A142291ABF}" srcId="{F228ACCB-A2F4-4191-A50E-3212E78972D9}" destId="{7B5B1E9A-E020-40D4-8CBD-21C020EDD495}" srcOrd="1" destOrd="0" parTransId="{E392A6D9-250E-4B9A-99F6-95835E971D59}" sibTransId="{CED2F4F2-2C35-4D02-858C-F47489D623EB}"/>
    <dgm:cxn modelId="{2D08471B-B31B-408C-B48E-4E396C197347}" type="presOf" srcId="{45FA8C09-0377-4C96-8F77-0B4CAB86CDBF}" destId="{AE88DD3C-222F-41F2-8C8A-0A4C2D66790E}" srcOrd="0" destOrd="2" presId="urn:microsoft.com/office/officeart/2018/2/layout/IconLabelDescriptionList"/>
    <dgm:cxn modelId="{EAD03824-2A73-48C5-AA80-0CD9A72F3973}" type="presOf" srcId="{F228ACCB-A2F4-4191-A50E-3212E78972D9}" destId="{65C12E1D-7599-4932-B70D-E80A75AE780D}" srcOrd="0" destOrd="0" presId="urn:microsoft.com/office/officeart/2018/2/layout/IconLabelDescriptionList"/>
    <dgm:cxn modelId="{806FFE28-9F92-4F7A-A137-6BE09E8EE5B5}" type="presOf" srcId="{90A2C886-FCC9-483A-A68E-31F44FB49D87}" destId="{0017B664-3431-40B7-B08B-027D4A2BB333}" srcOrd="0" destOrd="0" presId="urn:microsoft.com/office/officeart/2018/2/layout/IconLabelDescriptionList"/>
    <dgm:cxn modelId="{2A019F34-E8D7-43A5-953C-4B3356C52BE0}" type="presOf" srcId="{7B5B1E9A-E020-40D4-8CBD-21C020EDD495}" destId="{AE88DD3C-222F-41F2-8C8A-0A4C2D66790E}" srcOrd="0" destOrd="1" presId="urn:microsoft.com/office/officeart/2018/2/layout/IconLabelDescriptionList"/>
    <dgm:cxn modelId="{1E49043D-DEBD-4364-B979-236D8A60B719}" srcId="{2DF0D00E-E208-4E6B-8EBC-85805BA7CC1C}" destId="{F228ACCB-A2F4-4191-A50E-3212E78972D9}" srcOrd="1" destOrd="0" parTransId="{E63C6897-A326-40A6-B0FD-65DC694DDBF0}" sibTransId="{11FDA7DF-F81E-457E-8E97-093C54133C5D}"/>
    <dgm:cxn modelId="{BD7EF748-5CC5-436B-A70A-CAFB2690980C}" srcId="{90A2C886-FCC9-483A-A68E-31F44FB49D87}" destId="{906B6F1E-04D8-45D9-9E7E-E93B77D1A590}" srcOrd="0" destOrd="0" parTransId="{5EC9EB9C-E6D0-42C9-85CD-6EF2A5F99F42}" sibTransId="{ACBB73A4-95AA-44AC-BB7F-C0A94681BA41}"/>
    <dgm:cxn modelId="{7501E64C-DA7A-4A30-BFC0-BEC302E7B515}" srcId="{F228ACCB-A2F4-4191-A50E-3212E78972D9}" destId="{49D397F5-FB0E-468E-9428-E0F4BCE9EA39}" srcOrd="0" destOrd="0" parTransId="{EB4E896A-A42A-4C2D-8AB9-3CA6590D2159}" sibTransId="{1B6A7E2A-96DE-40A5-A9D1-5A40527AE22C}"/>
    <dgm:cxn modelId="{CA8EC94F-79AF-47AA-8670-FAD936BD6F81}" srcId="{90A2C886-FCC9-483A-A68E-31F44FB49D87}" destId="{BFA7545A-40A4-4768-98BD-F382BCC73096}" srcOrd="1" destOrd="0" parTransId="{3BD23A18-D403-4217-AC12-5FC0717794EA}" sibTransId="{FC1EA33D-586E-46E2-BD86-FD0FE946ACB4}"/>
    <dgm:cxn modelId="{1F187889-6E55-4BDA-B81C-A4BCF12BF60C}" type="presOf" srcId="{AD2703E5-1285-41CF-8CE2-C7A644F275E3}" destId="{CDC67E13-204C-4BDD-B72C-929F179D5A90}" srcOrd="0" destOrd="2" presId="urn:microsoft.com/office/officeart/2018/2/layout/IconLabelDescriptionList"/>
    <dgm:cxn modelId="{85CB18A5-300A-49C9-A677-B18B40909DFD}" srcId="{2DF0D00E-E208-4E6B-8EBC-85805BA7CC1C}" destId="{90A2C886-FCC9-483A-A68E-31F44FB49D87}" srcOrd="0" destOrd="0" parTransId="{70E3DA1E-921C-4A11-8593-BD9C553CFB4C}" sibTransId="{447CD1AE-19DE-46A4-8050-03A28DE525E6}"/>
    <dgm:cxn modelId="{8B866EB2-5651-4FF3-93EA-6383213E0B2E}" type="presOf" srcId="{2DF0D00E-E208-4E6B-8EBC-85805BA7CC1C}" destId="{E7BCC790-1E67-4A47-848A-BA20FDFA5440}" srcOrd="0" destOrd="0" presId="urn:microsoft.com/office/officeart/2018/2/layout/IconLabelDescriptionList"/>
    <dgm:cxn modelId="{45528FB9-9B14-45A8-AC77-9FB9B6DB105E}" srcId="{F228ACCB-A2F4-4191-A50E-3212E78972D9}" destId="{45FA8C09-0377-4C96-8F77-0B4CAB86CDBF}" srcOrd="2" destOrd="0" parTransId="{DF301561-5708-479A-AF9E-CC77D68534E6}" sibTransId="{82800468-3C93-4333-AC0A-B2A8D0038625}"/>
    <dgm:cxn modelId="{0F04C8BE-C2F0-4230-B2BA-E1F9D7278264}" type="presOf" srcId="{BE7F7E7E-5AEF-4574-88BB-8815F522BFFE}" destId="{CDC67E13-204C-4BDD-B72C-929F179D5A90}" srcOrd="0" destOrd="3" presId="urn:microsoft.com/office/officeart/2018/2/layout/IconLabelDescriptionList"/>
    <dgm:cxn modelId="{26E165C4-E3EF-4AD6-A789-84F15B555665}" srcId="{90A2C886-FCC9-483A-A68E-31F44FB49D87}" destId="{AD2703E5-1285-41CF-8CE2-C7A644F275E3}" srcOrd="2" destOrd="0" parTransId="{71528397-37DE-4DD4-96FA-678E1DD28CDA}" sibTransId="{A952F2F7-069B-49F0-9A26-2B132AD6B2A4}"/>
    <dgm:cxn modelId="{D441D0C6-45D2-4483-9AF8-5FFDCFC93EDE}" type="presOf" srcId="{49D397F5-FB0E-468E-9428-E0F4BCE9EA39}" destId="{AE88DD3C-222F-41F2-8C8A-0A4C2D66790E}" srcOrd="0" destOrd="0" presId="urn:microsoft.com/office/officeart/2018/2/layout/IconLabelDescriptionList"/>
    <dgm:cxn modelId="{B1EA04D3-B7A7-4265-9B5F-AE1EC6966092}" type="presOf" srcId="{BFA7545A-40A4-4768-98BD-F382BCC73096}" destId="{CDC67E13-204C-4BDD-B72C-929F179D5A90}" srcOrd="0" destOrd="1" presId="urn:microsoft.com/office/officeart/2018/2/layout/IconLabelDescriptionList"/>
    <dgm:cxn modelId="{ECD2F671-2265-416A-8226-06E069A90AD3}" type="presParOf" srcId="{E7BCC790-1E67-4A47-848A-BA20FDFA5440}" destId="{2A804589-1E15-4B8C-8903-AF3819DAEE1B}" srcOrd="0" destOrd="0" presId="urn:microsoft.com/office/officeart/2018/2/layout/IconLabelDescriptionList"/>
    <dgm:cxn modelId="{44771CFB-3F0D-47A4-AF52-43F012A586F3}" type="presParOf" srcId="{2A804589-1E15-4B8C-8903-AF3819DAEE1B}" destId="{BDCDFF67-F666-4F95-8AE1-FE8E39210495}" srcOrd="0" destOrd="0" presId="urn:microsoft.com/office/officeart/2018/2/layout/IconLabelDescriptionList"/>
    <dgm:cxn modelId="{846A12B1-A538-4997-9813-1EC7AF8B3ACC}" type="presParOf" srcId="{2A804589-1E15-4B8C-8903-AF3819DAEE1B}" destId="{870C4092-B81E-44EE-927F-67EBAAB40104}" srcOrd="1" destOrd="0" presId="urn:microsoft.com/office/officeart/2018/2/layout/IconLabelDescriptionList"/>
    <dgm:cxn modelId="{504BFEB5-A15B-47BA-95AF-FE7BA154EAB9}" type="presParOf" srcId="{2A804589-1E15-4B8C-8903-AF3819DAEE1B}" destId="{0017B664-3431-40B7-B08B-027D4A2BB333}" srcOrd="2" destOrd="0" presId="urn:microsoft.com/office/officeart/2018/2/layout/IconLabelDescriptionList"/>
    <dgm:cxn modelId="{AB561D13-96D2-41A3-B9FC-69CA85E04A59}" type="presParOf" srcId="{2A804589-1E15-4B8C-8903-AF3819DAEE1B}" destId="{11733B69-919B-4A08-B827-73DEFE616148}" srcOrd="3" destOrd="0" presId="urn:microsoft.com/office/officeart/2018/2/layout/IconLabelDescriptionList"/>
    <dgm:cxn modelId="{D7F1391C-137D-4314-80F9-574BBC23C010}" type="presParOf" srcId="{2A804589-1E15-4B8C-8903-AF3819DAEE1B}" destId="{CDC67E13-204C-4BDD-B72C-929F179D5A90}" srcOrd="4" destOrd="0" presId="urn:microsoft.com/office/officeart/2018/2/layout/IconLabelDescriptionList"/>
    <dgm:cxn modelId="{3B55BE20-1F7D-4C22-A01D-599931021751}" type="presParOf" srcId="{E7BCC790-1E67-4A47-848A-BA20FDFA5440}" destId="{7C5C7AD9-E43A-4E6D-948E-3CD59FF702CB}" srcOrd="1" destOrd="0" presId="urn:microsoft.com/office/officeart/2018/2/layout/IconLabelDescriptionList"/>
    <dgm:cxn modelId="{3F62C9DD-877E-4100-8BD4-2A45C1111088}" type="presParOf" srcId="{E7BCC790-1E67-4A47-848A-BA20FDFA5440}" destId="{6ECE4109-146A-4D4C-906A-E9B3A6A25545}" srcOrd="2" destOrd="0" presId="urn:microsoft.com/office/officeart/2018/2/layout/IconLabelDescriptionList"/>
    <dgm:cxn modelId="{031CF423-9CEE-46FB-8E5C-06CC2CAED0D0}" type="presParOf" srcId="{6ECE4109-146A-4D4C-906A-E9B3A6A25545}" destId="{EA53E5A9-C2C8-457E-9568-5A84F081EE90}" srcOrd="0" destOrd="0" presId="urn:microsoft.com/office/officeart/2018/2/layout/IconLabelDescriptionList"/>
    <dgm:cxn modelId="{33147441-07D5-4ED8-9CB0-FE96539FD0E6}" type="presParOf" srcId="{6ECE4109-146A-4D4C-906A-E9B3A6A25545}" destId="{ADD8FA26-EA2A-4968-BF97-897E8B57E76A}" srcOrd="1" destOrd="0" presId="urn:microsoft.com/office/officeart/2018/2/layout/IconLabelDescriptionList"/>
    <dgm:cxn modelId="{43AB7C64-200F-44CF-89FC-D6C97C1CD5DD}" type="presParOf" srcId="{6ECE4109-146A-4D4C-906A-E9B3A6A25545}" destId="{65C12E1D-7599-4932-B70D-E80A75AE780D}" srcOrd="2" destOrd="0" presId="urn:microsoft.com/office/officeart/2018/2/layout/IconLabelDescriptionList"/>
    <dgm:cxn modelId="{97E30455-DB69-493A-8AA3-EFE2565D5C66}" type="presParOf" srcId="{6ECE4109-146A-4D4C-906A-E9B3A6A25545}" destId="{93B52801-7759-4414-9A4F-0BD9CF8A1474}" srcOrd="3" destOrd="0" presId="urn:microsoft.com/office/officeart/2018/2/layout/IconLabelDescriptionList"/>
    <dgm:cxn modelId="{476D90A7-297A-48F8-AE89-989927FF7CC2}" type="presParOf" srcId="{6ECE4109-146A-4D4C-906A-E9B3A6A25545}" destId="{AE88DD3C-222F-41F2-8C8A-0A4C2D66790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DF0D00E-E208-4E6B-8EBC-85805BA7CC1C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A2C886-FCC9-483A-A68E-31F44FB49D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dirty="0"/>
            <a:t>Für Erwerbspersonen:</a:t>
          </a:r>
          <a:endParaRPr lang="en-US" dirty="0"/>
        </a:p>
      </dgm:t>
    </dgm:pt>
    <dgm:pt modelId="{70E3DA1E-921C-4A11-8593-BD9C553CFB4C}" type="parTrans" cxnId="{85CB18A5-300A-49C9-A677-B18B40909DFD}">
      <dgm:prSet/>
      <dgm:spPr/>
      <dgm:t>
        <a:bodyPr/>
        <a:lstStyle/>
        <a:p>
          <a:endParaRPr lang="en-US"/>
        </a:p>
      </dgm:t>
    </dgm:pt>
    <dgm:pt modelId="{447CD1AE-19DE-46A4-8050-03A28DE525E6}" type="sibTrans" cxnId="{85CB18A5-300A-49C9-A677-B18B40909DFD}">
      <dgm:prSet/>
      <dgm:spPr/>
      <dgm:t>
        <a:bodyPr/>
        <a:lstStyle/>
        <a:p>
          <a:endParaRPr lang="en-US"/>
        </a:p>
      </dgm:t>
    </dgm:pt>
    <dgm:pt modelId="{906B6F1E-04D8-45D9-9E7E-E93B77D1A5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Position halten bis sich die wirtschaftliche Lage verbessert</a:t>
          </a:r>
          <a:endParaRPr lang="en-US" sz="1400" dirty="0"/>
        </a:p>
      </dgm:t>
    </dgm:pt>
    <dgm:pt modelId="{5EC9EB9C-E6D0-42C9-85CD-6EF2A5F99F42}" type="parTrans" cxnId="{BD7EF748-5CC5-436B-A70A-CAFB2690980C}">
      <dgm:prSet/>
      <dgm:spPr/>
      <dgm:t>
        <a:bodyPr/>
        <a:lstStyle/>
        <a:p>
          <a:endParaRPr lang="en-US"/>
        </a:p>
      </dgm:t>
    </dgm:pt>
    <dgm:pt modelId="{ACBB73A4-95AA-44AC-BB7F-C0A94681BA41}" type="sibTrans" cxnId="{BD7EF748-5CC5-436B-A70A-CAFB2690980C}">
      <dgm:prSet/>
      <dgm:spPr/>
      <dgm:t>
        <a:bodyPr/>
        <a:lstStyle/>
        <a:p>
          <a:endParaRPr lang="en-US"/>
        </a:p>
      </dgm:t>
    </dgm:pt>
    <dgm:pt modelId="{BFA7545A-40A4-4768-98BD-F382BCC730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Lohnverhandlungen nach Realisierung der Inflation</a:t>
          </a:r>
          <a:endParaRPr lang="en-US" sz="1400" dirty="0"/>
        </a:p>
      </dgm:t>
    </dgm:pt>
    <dgm:pt modelId="{3BD23A18-D403-4217-AC12-5FC0717794EA}" type="parTrans" cxnId="{CA8EC94F-79AF-47AA-8670-FAD936BD6F81}">
      <dgm:prSet/>
      <dgm:spPr/>
      <dgm:t>
        <a:bodyPr/>
        <a:lstStyle/>
        <a:p>
          <a:endParaRPr lang="en-US"/>
        </a:p>
      </dgm:t>
    </dgm:pt>
    <dgm:pt modelId="{FC1EA33D-586E-46E2-BD86-FD0FE946ACB4}" type="sibTrans" cxnId="{CA8EC94F-79AF-47AA-8670-FAD936BD6F81}">
      <dgm:prSet/>
      <dgm:spPr/>
      <dgm:t>
        <a:bodyPr/>
        <a:lstStyle/>
        <a:p>
          <a:endParaRPr lang="en-US"/>
        </a:p>
      </dgm:t>
    </dgm:pt>
    <dgm:pt modelId="{AD2703E5-1285-41CF-8CE2-C7A644F275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Positionswechsel bei erwartbarer Steigung des Bruttoinlandsprodukts oder Expansion der eigenen Branche</a:t>
          </a:r>
          <a:endParaRPr lang="en-US" sz="1400" dirty="0"/>
        </a:p>
      </dgm:t>
    </dgm:pt>
    <dgm:pt modelId="{71528397-37DE-4DD4-96FA-678E1DD28CDA}" type="parTrans" cxnId="{26E165C4-E3EF-4AD6-A789-84F15B555665}">
      <dgm:prSet/>
      <dgm:spPr/>
      <dgm:t>
        <a:bodyPr/>
        <a:lstStyle/>
        <a:p>
          <a:endParaRPr lang="en-US"/>
        </a:p>
      </dgm:t>
    </dgm:pt>
    <dgm:pt modelId="{A952F2F7-069B-49F0-9A26-2B132AD6B2A4}" type="sibTrans" cxnId="{26E165C4-E3EF-4AD6-A789-84F15B555665}">
      <dgm:prSet/>
      <dgm:spPr/>
      <dgm:t>
        <a:bodyPr/>
        <a:lstStyle/>
        <a:p>
          <a:endParaRPr lang="en-US"/>
        </a:p>
      </dgm:t>
    </dgm:pt>
    <dgm:pt modelId="{BE7F7E7E-5AEF-4574-88BB-8815F522BF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Jobsuche wird erwartbar einfacher mittel- und langfristig</a:t>
          </a:r>
          <a:endParaRPr lang="en-US" sz="1400" dirty="0"/>
        </a:p>
      </dgm:t>
    </dgm:pt>
    <dgm:pt modelId="{21A6C49A-8276-4003-A2BD-2B83590CE258}" type="parTrans" cxnId="{90F52400-AFC1-4E39-A91A-2826AD28FA3E}">
      <dgm:prSet/>
      <dgm:spPr/>
      <dgm:t>
        <a:bodyPr/>
        <a:lstStyle/>
        <a:p>
          <a:endParaRPr lang="en-US"/>
        </a:p>
      </dgm:t>
    </dgm:pt>
    <dgm:pt modelId="{ABC5DA90-E4EF-4565-8BEC-7C507E83975F}" type="sibTrans" cxnId="{90F52400-AFC1-4E39-A91A-2826AD28FA3E}">
      <dgm:prSet/>
      <dgm:spPr/>
      <dgm:t>
        <a:bodyPr/>
        <a:lstStyle/>
        <a:p>
          <a:endParaRPr lang="en-US"/>
        </a:p>
      </dgm:t>
    </dgm:pt>
    <dgm:pt modelId="{F228ACCB-A2F4-4191-A50E-3212E78972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dirty="0"/>
            <a:t>Für Firmen:</a:t>
          </a:r>
          <a:endParaRPr lang="en-US" dirty="0"/>
        </a:p>
      </dgm:t>
    </dgm:pt>
    <dgm:pt modelId="{E63C6897-A326-40A6-B0FD-65DC694DDBF0}" type="parTrans" cxnId="{1E49043D-DEBD-4364-B979-236D8A60B719}">
      <dgm:prSet/>
      <dgm:spPr/>
      <dgm:t>
        <a:bodyPr/>
        <a:lstStyle/>
        <a:p>
          <a:endParaRPr lang="en-US"/>
        </a:p>
      </dgm:t>
    </dgm:pt>
    <dgm:pt modelId="{11FDA7DF-F81E-457E-8E97-093C54133C5D}" type="sibTrans" cxnId="{1E49043D-DEBD-4364-B979-236D8A60B719}">
      <dgm:prSet/>
      <dgm:spPr/>
      <dgm:t>
        <a:bodyPr/>
        <a:lstStyle/>
        <a:p>
          <a:endParaRPr lang="en-US"/>
        </a:p>
      </dgm:t>
    </dgm:pt>
    <dgm:pt modelId="{49D397F5-FB0E-468E-9428-E0F4BCE9EA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Fähiges Personal halten bei schwieriger Auftragslage, </a:t>
          </a:r>
          <a:r>
            <a:rPr lang="de-DE" sz="1400" dirty="0" err="1"/>
            <a:t>ggf</a:t>
          </a:r>
          <a:r>
            <a:rPr lang="de-DE" sz="1400" dirty="0"/>
            <a:t> Kurzarbeit anbieten</a:t>
          </a:r>
          <a:endParaRPr lang="en-US" sz="1400" dirty="0"/>
        </a:p>
      </dgm:t>
    </dgm:pt>
    <dgm:pt modelId="{EB4E896A-A42A-4C2D-8AB9-3CA6590D2159}" type="parTrans" cxnId="{7501E64C-DA7A-4A30-BFC0-BEC302E7B515}">
      <dgm:prSet/>
      <dgm:spPr/>
      <dgm:t>
        <a:bodyPr/>
        <a:lstStyle/>
        <a:p>
          <a:endParaRPr lang="en-US"/>
        </a:p>
      </dgm:t>
    </dgm:pt>
    <dgm:pt modelId="{1B6A7E2A-96DE-40A5-A9D1-5A40527AE22C}" type="sibTrans" cxnId="{7501E64C-DA7A-4A30-BFC0-BEC302E7B515}">
      <dgm:prSet/>
      <dgm:spPr/>
      <dgm:t>
        <a:bodyPr/>
        <a:lstStyle/>
        <a:p>
          <a:endParaRPr lang="en-US"/>
        </a:p>
      </dgm:t>
    </dgm:pt>
    <dgm:pt modelId="{7B5B1E9A-E020-40D4-8CBD-21C020EDD4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Keine Expansion in Wirtschaftsbereiche, die stark von Energieträgern abgängig sind (Gas, Öl, Kerosin, Transport, Strom)</a:t>
          </a:r>
          <a:endParaRPr lang="en-US" sz="1400" dirty="0"/>
        </a:p>
      </dgm:t>
    </dgm:pt>
    <dgm:pt modelId="{E392A6D9-250E-4B9A-99F6-95835E971D59}" type="parTrans" cxnId="{D72C2110-9906-4D78-9454-C8A142291ABF}">
      <dgm:prSet/>
      <dgm:spPr/>
      <dgm:t>
        <a:bodyPr/>
        <a:lstStyle/>
        <a:p>
          <a:endParaRPr lang="en-US"/>
        </a:p>
      </dgm:t>
    </dgm:pt>
    <dgm:pt modelId="{CED2F4F2-2C35-4D02-858C-F47489D623EB}" type="sibTrans" cxnId="{D72C2110-9906-4D78-9454-C8A142291ABF}">
      <dgm:prSet/>
      <dgm:spPr/>
      <dgm:t>
        <a:bodyPr/>
        <a:lstStyle/>
        <a:p>
          <a:endParaRPr lang="en-US"/>
        </a:p>
      </dgm:t>
    </dgm:pt>
    <dgm:pt modelId="{45FA8C09-0377-4C96-8F77-0B4CAB86CD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400" dirty="0"/>
            <a:t>Expansion im Dienstleistungssektor kann hilfreich sein</a:t>
          </a:r>
        </a:p>
        <a:p>
          <a:pPr>
            <a:lnSpc>
              <a:spcPct val="100000"/>
            </a:lnSpc>
          </a:pPr>
          <a:r>
            <a:rPr lang="de-DE" sz="1400" dirty="0"/>
            <a:t>Starke Chance für Expansion in Restrukturierungsprojekte</a:t>
          </a:r>
          <a:endParaRPr lang="en-US" sz="1400" dirty="0"/>
        </a:p>
      </dgm:t>
    </dgm:pt>
    <dgm:pt modelId="{DF301561-5708-479A-AF9E-CC77D68534E6}" type="parTrans" cxnId="{45528FB9-9B14-45A8-AC77-9FB9B6DB105E}">
      <dgm:prSet/>
      <dgm:spPr/>
      <dgm:t>
        <a:bodyPr/>
        <a:lstStyle/>
        <a:p>
          <a:endParaRPr lang="en-US"/>
        </a:p>
      </dgm:t>
    </dgm:pt>
    <dgm:pt modelId="{82800468-3C93-4333-AC0A-B2A8D0038625}" type="sibTrans" cxnId="{45528FB9-9B14-45A8-AC77-9FB9B6DB105E}">
      <dgm:prSet/>
      <dgm:spPr/>
      <dgm:t>
        <a:bodyPr/>
        <a:lstStyle/>
        <a:p>
          <a:endParaRPr lang="en-US"/>
        </a:p>
      </dgm:t>
    </dgm:pt>
    <dgm:pt modelId="{BC31FF72-AD26-44B9-9116-F6A39A563A0B}" type="pres">
      <dgm:prSet presAssocID="{2DF0D00E-E208-4E6B-8EBC-85805BA7CC1C}" presName="root" presStyleCnt="0">
        <dgm:presLayoutVars>
          <dgm:dir/>
          <dgm:resizeHandles val="exact"/>
        </dgm:presLayoutVars>
      </dgm:prSet>
      <dgm:spPr/>
    </dgm:pt>
    <dgm:pt modelId="{A8B705C6-DCF8-460E-8272-03C06E2F7BCC}" type="pres">
      <dgm:prSet presAssocID="{90A2C886-FCC9-483A-A68E-31F44FB49D87}" presName="compNode" presStyleCnt="0"/>
      <dgm:spPr/>
    </dgm:pt>
    <dgm:pt modelId="{729781E1-0E45-4257-8355-8E84AD8A1CE2}" type="pres">
      <dgm:prSet presAssocID="{90A2C886-FCC9-483A-A68E-31F44FB49D8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B77EF62B-FD16-4D90-833A-D7287B4E00F6}" type="pres">
      <dgm:prSet presAssocID="{90A2C886-FCC9-483A-A68E-31F44FB49D87}" presName="iconSpace" presStyleCnt="0"/>
      <dgm:spPr/>
    </dgm:pt>
    <dgm:pt modelId="{7088BD2A-8A92-46A3-B2CF-AE0D3F0345A0}" type="pres">
      <dgm:prSet presAssocID="{90A2C886-FCC9-483A-A68E-31F44FB49D87}" presName="parTx" presStyleLbl="revTx" presStyleIdx="0" presStyleCnt="4">
        <dgm:presLayoutVars>
          <dgm:chMax val="0"/>
          <dgm:chPref val="0"/>
        </dgm:presLayoutVars>
      </dgm:prSet>
      <dgm:spPr/>
    </dgm:pt>
    <dgm:pt modelId="{A6C355CF-C74B-48BD-AA8A-4F3A7BBF0B55}" type="pres">
      <dgm:prSet presAssocID="{90A2C886-FCC9-483A-A68E-31F44FB49D87}" presName="txSpace" presStyleCnt="0"/>
      <dgm:spPr/>
    </dgm:pt>
    <dgm:pt modelId="{CC0C6C03-9DF1-473B-A56B-BB552421307E}" type="pres">
      <dgm:prSet presAssocID="{90A2C886-FCC9-483A-A68E-31F44FB49D87}" presName="desTx" presStyleLbl="revTx" presStyleIdx="1" presStyleCnt="4">
        <dgm:presLayoutVars/>
      </dgm:prSet>
      <dgm:spPr/>
    </dgm:pt>
    <dgm:pt modelId="{A8BCC9C5-90A4-4C4C-872D-4DE299799F14}" type="pres">
      <dgm:prSet presAssocID="{447CD1AE-19DE-46A4-8050-03A28DE525E6}" presName="sibTrans" presStyleCnt="0"/>
      <dgm:spPr/>
    </dgm:pt>
    <dgm:pt modelId="{DC8B1253-434F-4260-B4F3-AF12877934F0}" type="pres">
      <dgm:prSet presAssocID="{F228ACCB-A2F4-4191-A50E-3212E78972D9}" presName="compNode" presStyleCnt="0"/>
      <dgm:spPr/>
    </dgm:pt>
    <dgm:pt modelId="{97AD1472-669E-45E5-A5D1-13BD9095F0FE}" type="pres">
      <dgm:prSet presAssocID="{F228ACCB-A2F4-4191-A50E-3212E78972D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03A6F7E-FECE-4F09-B63F-9B96F018324E}" type="pres">
      <dgm:prSet presAssocID="{F228ACCB-A2F4-4191-A50E-3212E78972D9}" presName="iconSpace" presStyleCnt="0"/>
      <dgm:spPr/>
    </dgm:pt>
    <dgm:pt modelId="{5A3FC535-952A-41EF-B747-660657F2458B}" type="pres">
      <dgm:prSet presAssocID="{F228ACCB-A2F4-4191-A50E-3212E78972D9}" presName="parTx" presStyleLbl="revTx" presStyleIdx="2" presStyleCnt="4">
        <dgm:presLayoutVars>
          <dgm:chMax val="0"/>
          <dgm:chPref val="0"/>
        </dgm:presLayoutVars>
      </dgm:prSet>
      <dgm:spPr/>
    </dgm:pt>
    <dgm:pt modelId="{1AE13596-7B1B-4D79-A23D-352B90055270}" type="pres">
      <dgm:prSet presAssocID="{F228ACCB-A2F4-4191-A50E-3212E78972D9}" presName="txSpace" presStyleCnt="0"/>
      <dgm:spPr/>
    </dgm:pt>
    <dgm:pt modelId="{6B1C5C76-FA89-4084-8C04-818B634007C5}" type="pres">
      <dgm:prSet presAssocID="{F228ACCB-A2F4-4191-A50E-3212E78972D9}" presName="desTx" presStyleLbl="revTx" presStyleIdx="3" presStyleCnt="4">
        <dgm:presLayoutVars/>
      </dgm:prSet>
      <dgm:spPr/>
    </dgm:pt>
  </dgm:ptLst>
  <dgm:cxnLst>
    <dgm:cxn modelId="{90F52400-AFC1-4E39-A91A-2826AD28FA3E}" srcId="{90A2C886-FCC9-483A-A68E-31F44FB49D87}" destId="{BE7F7E7E-5AEF-4574-88BB-8815F522BFFE}" srcOrd="3" destOrd="0" parTransId="{21A6C49A-8276-4003-A2BD-2B83590CE258}" sibTransId="{ABC5DA90-E4EF-4565-8BEC-7C507E83975F}"/>
    <dgm:cxn modelId="{11623506-CE95-4A96-9C65-8FADA72B4531}" type="presOf" srcId="{BE7F7E7E-5AEF-4574-88BB-8815F522BFFE}" destId="{CC0C6C03-9DF1-473B-A56B-BB552421307E}" srcOrd="0" destOrd="3" presId="urn:microsoft.com/office/officeart/2018/5/layout/CenteredIconLabelDescriptionList"/>
    <dgm:cxn modelId="{D72C2110-9906-4D78-9454-C8A142291ABF}" srcId="{F228ACCB-A2F4-4191-A50E-3212E78972D9}" destId="{7B5B1E9A-E020-40D4-8CBD-21C020EDD495}" srcOrd="1" destOrd="0" parTransId="{E392A6D9-250E-4B9A-99F6-95835E971D59}" sibTransId="{CED2F4F2-2C35-4D02-858C-F47489D623EB}"/>
    <dgm:cxn modelId="{D6713921-6708-486E-A39E-08A66C33BEBB}" type="presOf" srcId="{49D397F5-FB0E-468E-9428-E0F4BCE9EA39}" destId="{6B1C5C76-FA89-4084-8C04-818B634007C5}" srcOrd="0" destOrd="0" presId="urn:microsoft.com/office/officeart/2018/5/layout/CenteredIconLabelDescriptionList"/>
    <dgm:cxn modelId="{1E49043D-DEBD-4364-B979-236D8A60B719}" srcId="{2DF0D00E-E208-4E6B-8EBC-85805BA7CC1C}" destId="{F228ACCB-A2F4-4191-A50E-3212E78972D9}" srcOrd="1" destOrd="0" parTransId="{E63C6897-A326-40A6-B0FD-65DC694DDBF0}" sibTransId="{11FDA7DF-F81E-457E-8E97-093C54133C5D}"/>
    <dgm:cxn modelId="{65DD7C43-E495-459C-AEDB-9D586EC749AD}" type="presOf" srcId="{2DF0D00E-E208-4E6B-8EBC-85805BA7CC1C}" destId="{BC31FF72-AD26-44B9-9116-F6A39A563A0B}" srcOrd="0" destOrd="0" presId="urn:microsoft.com/office/officeart/2018/5/layout/CenteredIconLabelDescriptionList"/>
    <dgm:cxn modelId="{BD7EF748-5CC5-436B-A70A-CAFB2690980C}" srcId="{90A2C886-FCC9-483A-A68E-31F44FB49D87}" destId="{906B6F1E-04D8-45D9-9E7E-E93B77D1A590}" srcOrd="0" destOrd="0" parTransId="{5EC9EB9C-E6D0-42C9-85CD-6EF2A5F99F42}" sibTransId="{ACBB73A4-95AA-44AC-BB7F-C0A94681BA41}"/>
    <dgm:cxn modelId="{7501E64C-DA7A-4A30-BFC0-BEC302E7B515}" srcId="{F228ACCB-A2F4-4191-A50E-3212E78972D9}" destId="{49D397F5-FB0E-468E-9428-E0F4BCE9EA39}" srcOrd="0" destOrd="0" parTransId="{EB4E896A-A42A-4C2D-8AB9-3CA6590D2159}" sibTransId="{1B6A7E2A-96DE-40A5-A9D1-5A40527AE22C}"/>
    <dgm:cxn modelId="{CA8EC94F-79AF-47AA-8670-FAD936BD6F81}" srcId="{90A2C886-FCC9-483A-A68E-31F44FB49D87}" destId="{BFA7545A-40A4-4768-98BD-F382BCC73096}" srcOrd="1" destOrd="0" parTransId="{3BD23A18-D403-4217-AC12-5FC0717794EA}" sibTransId="{FC1EA33D-586E-46E2-BD86-FD0FE946ACB4}"/>
    <dgm:cxn modelId="{5410108A-959B-4664-8D9B-DD7F4855206B}" type="presOf" srcId="{90A2C886-FCC9-483A-A68E-31F44FB49D87}" destId="{7088BD2A-8A92-46A3-B2CF-AE0D3F0345A0}" srcOrd="0" destOrd="0" presId="urn:microsoft.com/office/officeart/2018/5/layout/CenteredIconLabelDescriptionList"/>
    <dgm:cxn modelId="{67FAB592-9EC4-44FB-A41F-D2C3F06424B6}" type="presOf" srcId="{F228ACCB-A2F4-4191-A50E-3212E78972D9}" destId="{5A3FC535-952A-41EF-B747-660657F2458B}" srcOrd="0" destOrd="0" presId="urn:microsoft.com/office/officeart/2018/5/layout/CenteredIconLabelDescriptionList"/>
    <dgm:cxn modelId="{FF63FD96-DBC6-425E-8C04-41BDDF06E854}" type="presOf" srcId="{BFA7545A-40A4-4768-98BD-F382BCC73096}" destId="{CC0C6C03-9DF1-473B-A56B-BB552421307E}" srcOrd="0" destOrd="1" presId="urn:microsoft.com/office/officeart/2018/5/layout/CenteredIconLabelDescriptionList"/>
    <dgm:cxn modelId="{C360E3A3-CEFC-4238-A137-4C9F5BC1B58E}" type="presOf" srcId="{AD2703E5-1285-41CF-8CE2-C7A644F275E3}" destId="{CC0C6C03-9DF1-473B-A56B-BB552421307E}" srcOrd="0" destOrd="2" presId="urn:microsoft.com/office/officeart/2018/5/layout/CenteredIconLabelDescriptionList"/>
    <dgm:cxn modelId="{85CB18A5-300A-49C9-A677-B18B40909DFD}" srcId="{2DF0D00E-E208-4E6B-8EBC-85805BA7CC1C}" destId="{90A2C886-FCC9-483A-A68E-31F44FB49D87}" srcOrd="0" destOrd="0" parTransId="{70E3DA1E-921C-4A11-8593-BD9C553CFB4C}" sibTransId="{447CD1AE-19DE-46A4-8050-03A28DE525E6}"/>
    <dgm:cxn modelId="{45528FB9-9B14-45A8-AC77-9FB9B6DB105E}" srcId="{F228ACCB-A2F4-4191-A50E-3212E78972D9}" destId="{45FA8C09-0377-4C96-8F77-0B4CAB86CDBF}" srcOrd="2" destOrd="0" parTransId="{DF301561-5708-479A-AF9E-CC77D68534E6}" sibTransId="{82800468-3C93-4333-AC0A-B2A8D0038625}"/>
    <dgm:cxn modelId="{8EFF33C4-10DD-4D3C-9B08-1A4DEEDCC99E}" type="presOf" srcId="{45FA8C09-0377-4C96-8F77-0B4CAB86CDBF}" destId="{6B1C5C76-FA89-4084-8C04-818B634007C5}" srcOrd="0" destOrd="2" presId="urn:microsoft.com/office/officeart/2018/5/layout/CenteredIconLabelDescriptionList"/>
    <dgm:cxn modelId="{26E165C4-E3EF-4AD6-A789-84F15B555665}" srcId="{90A2C886-FCC9-483A-A68E-31F44FB49D87}" destId="{AD2703E5-1285-41CF-8CE2-C7A644F275E3}" srcOrd="2" destOrd="0" parTransId="{71528397-37DE-4DD4-96FA-678E1DD28CDA}" sibTransId="{A952F2F7-069B-49F0-9A26-2B132AD6B2A4}"/>
    <dgm:cxn modelId="{B4B43FC9-8446-4F4E-A4A1-0F5871195F3B}" type="presOf" srcId="{906B6F1E-04D8-45D9-9E7E-E93B77D1A590}" destId="{CC0C6C03-9DF1-473B-A56B-BB552421307E}" srcOrd="0" destOrd="0" presId="urn:microsoft.com/office/officeart/2018/5/layout/CenteredIconLabelDescriptionList"/>
    <dgm:cxn modelId="{A8B4CFD9-25BF-4A27-BB58-475330C4DE84}" type="presOf" srcId="{7B5B1E9A-E020-40D4-8CBD-21C020EDD495}" destId="{6B1C5C76-FA89-4084-8C04-818B634007C5}" srcOrd="0" destOrd="1" presId="urn:microsoft.com/office/officeart/2018/5/layout/CenteredIconLabelDescriptionList"/>
    <dgm:cxn modelId="{93D8D5D0-D072-453F-B857-DB5ECAF22B63}" type="presParOf" srcId="{BC31FF72-AD26-44B9-9116-F6A39A563A0B}" destId="{A8B705C6-DCF8-460E-8272-03C06E2F7BCC}" srcOrd="0" destOrd="0" presId="urn:microsoft.com/office/officeart/2018/5/layout/CenteredIconLabelDescriptionList"/>
    <dgm:cxn modelId="{0329C028-7775-49DB-9753-9F032ECFDAD7}" type="presParOf" srcId="{A8B705C6-DCF8-460E-8272-03C06E2F7BCC}" destId="{729781E1-0E45-4257-8355-8E84AD8A1CE2}" srcOrd="0" destOrd="0" presId="urn:microsoft.com/office/officeart/2018/5/layout/CenteredIconLabelDescriptionList"/>
    <dgm:cxn modelId="{D7D08F2C-471C-4929-81CF-C7DBC1A4A333}" type="presParOf" srcId="{A8B705C6-DCF8-460E-8272-03C06E2F7BCC}" destId="{B77EF62B-FD16-4D90-833A-D7287B4E00F6}" srcOrd="1" destOrd="0" presId="urn:microsoft.com/office/officeart/2018/5/layout/CenteredIconLabelDescriptionList"/>
    <dgm:cxn modelId="{F6B3A6EF-B55B-46DA-9C8D-EA3BB2B35DE1}" type="presParOf" srcId="{A8B705C6-DCF8-460E-8272-03C06E2F7BCC}" destId="{7088BD2A-8A92-46A3-B2CF-AE0D3F0345A0}" srcOrd="2" destOrd="0" presId="urn:microsoft.com/office/officeart/2018/5/layout/CenteredIconLabelDescriptionList"/>
    <dgm:cxn modelId="{C1FF6719-21A6-4892-B28B-86BD4D1EAA14}" type="presParOf" srcId="{A8B705C6-DCF8-460E-8272-03C06E2F7BCC}" destId="{A6C355CF-C74B-48BD-AA8A-4F3A7BBF0B55}" srcOrd="3" destOrd="0" presId="urn:microsoft.com/office/officeart/2018/5/layout/CenteredIconLabelDescriptionList"/>
    <dgm:cxn modelId="{9B0C3EE9-6974-49D4-9D7A-6682230B90A7}" type="presParOf" srcId="{A8B705C6-DCF8-460E-8272-03C06E2F7BCC}" destId="{CC0C6C03-9DF1-473B-A56B-BB552421307E}" srcOrd="4" destOrd="0" presId="urn:microsoft.com/office/officeart/2018/5/layout/CenteredIconLabelDescriptionList"/>
    <dgm:cxn modelId="{0A9EEE18-BDCA-49CA-A33B-679EF31D6386}" type="presParOf" srcId="{BC31FF72-AD26-44B9-9116-F6A39A563A0B}" destId="{A8BCC9C5-90A4-4C4C-872D-4DE299799F14}" srcOrd="1" destOrd="0" presId="urn:microsoft.com/office/officeart/2018/5/layout/CenteredIconLabelDescriptionList"/>
    <dgm:cxn modelId="{02532FCB-89BD-4C9C-99DD-4B62AA0C9F76}" type="presParOf" srcId="{BC31FF72-AD26-44B9-9116-F6A39A563A0B}" destId="{DC8B1253-434F-4260-B4F3-AF12877934F0}" srcOrd="2" destOrd="0" presId="urn:microsoft.com/office/officeart/2018/5/layout/CenteredIconLabelDescriptionList"/>
    <dgm:cxn modelId="{A9BCE26B-52D4-4F5C-B08C-760967B50A79}" type="presParOf" srcId="{DC8B1253-434F-4260-B4F3-AF12877934F0}" destId="{97AD1472-669E-45E5-A5D1-13BD9095F0FE}" srcOrd="0" destOrd="0" presId="urn:microsoft.com/office/officeart/2018/5/layout/CenteredIconLabelDescriptionList"/>
    <dgm:cxn modelId="{230221D5-BC84-431B-8716-DF93B19A76D4}" type="presParOf" srcId="{DC8B1253-434F-4260-B4F3-AF12877934F0}" destId="{303A6F7E-FECE-4F09-B63F-9B96F018324E}" srcOrd="1" destOrd="0" presId="urn:microsoft.com/office/officeart/2018/5/layout/CenteredIconLabelDescriptionList"/>
    <dgm:cxn modelId="{ABECAFA0-E04F-4E2D-8CFF-1E1E2A2C7FE1}" type="presParOf" srcId="{DC8B1253-434F-4260-B4F3-AF12877934F0}" destId="{5A3FC535-952A-41EF-B747-660657F2458B}" srcOrd="2" destOrd="0" presId="urn:microsoft.com/office/officeart/2018/5/layout/CenteredIconLabelDescriptionList"/>
    <dgm:cxn modelId="{64CFBC8F-8060-4678-8ED2-19970B7F9C1C}" type="presParOf" srcId="{DC8B1253-434F-4260-B4F3-AF12877934F0}" destId="{1AE13596-7B1B-4D79-A23D-352B90055270}" srcOrd="3" destOrd="0" presId="urn:microsoft.com/office/officeart/2018/5/layout/CenteredIconLabelDescriptionList"/>
    <dgm:cxn modelId="{ABAA2FC0-883D-4D6E-A68B-C8F6513EB366}" type="presParOf" srcId="{DC8B1253-434F-4260-B4F3-AF12877934F0}" destId="{6B1C5C76-FA89-4084-8C04-818B634007C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AD01D-AC98-48DD-ACA5-358C6E988C0C}">
      <dsp:nvSpPr>
        <dsp:cNvPr id="0" name=""/>
        <dsp:cNvSpPr/>
      </dsp:nvSpPr>
      <dsp:spPr>
        <a:xfrm>
          <a:off x="0" y="58723"/>
          <a:ext cx="6949440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Datenquellen					S. 3</a:t>
          </a:r>
          <a:endParaRPr lang="en-US" sz="1800" kern="1200"/>
        </a:p>
      </dsp:txBody>
      <dsp:txXfrm>
        <a:off x="21075" y="79798"/>
        <a:ext cx="6907290" cy="389580"/>
      </dsp:txXfrm>
    </dsp:sp>
    <dsp:sp modelId="{80939779-15A8-4B2D-8B4D-F16B9321D590}">
      <dsp:nvSpPr>
        <dsp:cNvPr id="0" name=""/>
        <dsp:cNvSpPr/>
      </dsp:nvSpPr>
      <dsp:spPr>
        <a:xfrm>
          <a:off x="0" y="542293"/>
          <a:ext cx="6949440" cy="431730"/>
        </a:xfrm>
        <a:prstGeom prst="roundRect">
          <a:avLst/>
        </a:prstGeom>
        <a:solidFill>
          <a:schemeClr val="accent5">
            <a:hueOff val="1302047"/>
            <a:satOff val="-586"/>
            <a:lumOff val="-7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Krisenüberblick				S. 4-6</a:t>
          </a:r>
          <a:endParaRPr lang="en-US" sz="1800" kern="1200"/>
        </a:p>
      </dsp:txBody>
      <dsp:txXfrm>
        <a:off x="21075" y="563368"/>
        <a:ext cx="6907290" cy="389580"/>
      </dsp:txXfrm>
    </dsp:sp>
    <dsp:sp modelId="{56596CA9-3BEA-4100-B5B5-2D409DCD6709}">
      <dsp:nvSpPr>
        <dsp:cNvPr id="0" name=""/>
        <dsp:cNvSpPr/>
      </dsp:nvSpPr>
      <dsp:spPr>
        <a:xfrm>
          <a:off x="0" y="974023"/>
          <a:ext cx="694944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Globale Finanzkrise 2007-2009			S. 4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Corona Pandemie 2020				S. 5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Russischer Angriffskrieg auf Ukraine 2022		S. 6</a:t>
          </a:r>
          <a:endParaRPr lang="en-US" sz="1400" kern="1200" dirty="0"/>
        </a:p>
      </dsp:txBody>
      <dsp:txXfrm>
        <a:off x="0" y="974023"/>
        <a:ext cx="6949440" cy="726570"/>
      </dsp:txXfrm>
    </dsp:sp>
    <dsp:sp modelId="{21CCCA6B-4234-4DC4-B00F-CEB84EBBCD29}">
      <dsp:nvSpPr>
        <dsp:cNvPr id="0" name=""/>
        <dsp:cNvSpPr/>
      </dsp:nvSpPr>
      <dsp:spPr>
        <a:xfrm>
          <a:off x="0" y="1700593"/>
          <a:ext cx="6949440" cy="431730"/>
        </a:xfrm>
        <a:prstGeom prst="roundRect">
          <a:avLst/>
        </a:prstGeom>
        <a:solidFill>
          <a:schemeClr val="accent5">
            <a:hueOff val="2604094"/>
            <a:satOff val="-1173"/>
            <a:lumOff val="-14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Dashboard					S. 7</a:t>
          </a:r>
          <a:endParaRPr lang="en-US" sz="1800" kern="1200"/>
        </a:p>
      </dsp:txBody>
      <dsp:txXfrm>
        <a:off x="21075" y="1721668"/>
        <a:ext cx="6907290" cy="389580"/>
      </dsp:txXfrm>
    </dsp:sp>
    <dsp:sp modelId="{D12A9C39-D30E-4564-9DF1-B9A3F15E15B0}">
      <dsp:nvSpPr>
        <dsp:cNvPr id="0" name=""/>
        <dsp:cNvSpPr/>
      </dsp:nvSpPr>
      <dsp:spPr>
        <a:xfrm>
          <a:off x="0" y="2184163"/>
          <a:ext cx="6949440" cy="431730"/>
        </a:xfrm>
        <a:prstGeom prst="roundRect">
          <a:avLst/>
        </a:prstGeom>
        <a:solidFill>
          <a:schemeClr val="accent5">
            <a:hueOff val="3906140"/>
            <a:satOff val="-1759"/>
            <a:lumOff val="-21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Zusammenfassung				S. 8</a:t>
          </a:r>
          <a:endParaRPr lang="en-US" sz="1800" kern="1200"/>
        </a:p>
      </dsp:txBody>
      <dsp:txXfrm>
        <a:off x="21075" y="2205238"/>
        <a:ext cx="6907290" cy="389580"/>
      </dsp:txXfrm>
    </dsp:sp>
    <dsp:sp modelId="{A56CDE98-BEAD-490E-BC19-A93991063FD8}">
      <dsp:nvSpPr>
        <dsp:cNvPr id="0" name=""/>
        <dsp:cNvSpPr/>
      </dsp:nvSpPr>
      <dsp:spPr>
        <a:xfrm>
          <a:off x="0" y="2667733"/>
          <a:ext cx="6949440" cy="431730"/>
        </a:xfrm>
        <a:prstGeom prst="roundRect">
          <a:avLst/>
        </a:prstGeom>
        <a:solidFill>
          <a:schemeClr val="accent5">
            <a:hueOff val="5208187"/>
            <a:satOff val="-2345"/>
            <a:lumOff val="-29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Überblick Ökonomische Modelle		S. 9-13</a:t>
          </a:r>
          <a:endParaRPr lang="en-US" sz="1800" kern="1200"/>
        </a:p>
      </dsp:txBody>
      <dsp:txXfrm>
        <a:off x="21075" y="2688808"/>
        <a:ext cx="6907290" cy="389580"/>
      </dsp:txXfrm>
    </dsp:sp>
    <dsp:sp modelId="{23995AEC-BCA6-4DFB-A5B6-17A92B65D46A}">
      <dsp:nvSpPr>
        <dsp:cNvPr id="0" name=""/>
        <dsp:cNvSpPr/>
      </dsp:nvSpPr>
      <dsp:spPr>
        <a:xfrm>
          <a:off x="0" y="3099463"/>
          <a:ext cx="6949440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IS-LM Modell						S. 9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Arbeitsmarktmodell					S. 10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AS-AD Modell					S. 11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Cobb-Douglas Produktionsfunktion			S. 12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400" kern="1200" dirty="0"/>
            <a:t>Geldmarkt						S. 13</a:t>
          </a:r>
          <a:endParaRPr lang="en-US" sz="1400" kern="1200" dirty="0"/>
        </a:p>
      </dsp:txBody>
      <dsp:txXfrm>
        <a:off x="0" y="3099463"/>
        <a:ext cx="6949440" cy="1229580"/>
      </dsp:txXfrm>
    </dsp:sp>
    <dsp:sp modelId="{DF4B411A-A371-4E32-8C42-5690B52E7EEE}">
      <dsp:nvSpPr>
        <dsp:cNvPr id="0" name=""/>
        <dsp:cNvSpPr/>
      </dsp:nvSpPr>
      <dsp:spPr>
        <a:xfrm>
          <a:off x="0" y="4329043"/>
          <a:ext cx="6949440" cy="431730"/>
        </a:xfrm>
        <a:prstGeom prst="roundRect">
          <a:avLst/>
        </a:prstGeom>
        <a:solidFill>
          <a:schemeClr val="accent5">
            <a:hueOff val="6510234"/>
            <a:satOff val="-2931"/>
            <a:lumOff val="-3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Ökonomische Analyse				S. 14-22</a:t>
          </a:r>
          <a:endParaRPr lang="en-US" sz="1800" kern="1200"/>
        </a:p>
      </dsp:txBody>
      <dsp:txXfrm>
        <a:off x="21075" y="4350118"/>
        <a:ext cx="6907290" cy="389580"/>
      </dsp:txXfrm>
    </dsp:sp>
    <dsp:sp modelId="{D8F758DC-A882-4E88-926E-662570E82C14}">
      <dsp:nvSpPr>
        <dsp:cNvPr id="0" name=""/>
        <dsp:cNvSpPr/>
      </dsp:nvSpPr>
      <dsp:spPr>
        <a:xfrm>
          <a:off x="0" y="4812614"/>
          <a:ext cx="6949440" cy="431730"/>
        </a:xfrm>
        <a:prstGeom prst="roundRect">
          <a:avLst/>
        </a:prstGeom>
        <a:solidFill>
          <a:schemeClr val="accent5">
            <a:hueOff val="7812281"/>
            <a:satOff val="-3518"/>
            <a:lumOff val="-43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Straße von Hormuz				S. 23-25</a:t>
          </a:r>
          <a:endParaRPr lang="en-US" sz="1800" kern="1200"/>
        </a:p>
      </dsp:txBody>
      <dsp:txXfrm>
        <a:off x="21075" y="4833689"/>
        <a:ext cx="6907290" cy="389580"/>
      </dsp:txXfrm>
    </dsp:sp>
    <dsp:sp modelId="{038FC76B-DC06-4ECA-9FBA-B48DC4435ED0}">
      <dsp:nvSpPr>
        <dsp:cNvPr id="0" name=""/>
        <dsp:cNvSpPr/>
      </dsp:nvSpPr>
      <dsp:spPr>
        <a:xfrm>
          <a:off x="0" y="5296184"/>
          <a:ext cx="6949440" cy="43173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Fazit						S. 26-28</a:t>
          </a:r>
          <a:endParaRPr lang="en-US" sz="1800" kern="1200" dirty="0"/>
        </a:p>
      </dsp:txBody>
      <dsp:txXfrm>
        <a:off x="21075" y="5317259"/>
        <a:ext cx="6907290" cy="3895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F1EF0-ABCF-43EC-8AC7-968AD0B89382}">
      <dsp:nvSpPr>
        <dsp:cNvPr id="0" name=""/>
        <dsp:cNvSpPr/>
      </dsp:nvSpPr>
      <dsp:spPr>
        <a:xfrm>
          <a:off x="0" y="483789"/>
          <a:ext cx="5916169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USA Immobilien Blase platzt, Lehmon Brothers geht pleite</a:t>
          </a:r>
          <a:endParaRPr lang="en-US" sz="2500" kern="1200"/>
        </a:p>
      </dsp:txBody>
      <dsp:txXfrm>
        <a:off x="48547" y="532336"/>
        <a:ext cx="5819075" cy="897406"/>
      </dsp:txXfrm>
    </dsp:sp>
    <dsp:sp modelId="{BEAEBC4D-028F-4F30-885C-E8C0E04A1D7F}">
      <dsp:nvSpPr>
        <dsp:cNvPr id="0" name=""/>
        <dsp:cNvSpPr/>
      </dsp:nvSpPr>
      <dsp:spPr>
        <a:xfrm>
          <a:off x="0" y="1550289"/>
          <a:ext cx="5916169" cy="994500"/>
        </a:xfrm>
        <a:prstGeom prst="roundRect">
          <a:avLst/>
        </a:prstGeom>
        <a:gradFill rotWithShape="0">
          <a:gsLst>
            <a:gs pos="0">
              <a:schemeClr val="accent5">
                <a:hueOff val="4557164"/>
                <a:satOff val="-2052"/>
                <a:lumOff val="-25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4557164"/>
                <a:satOff val="-2052"/>
                <a:lumOff val="-25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4557164"/>
                <a:satOff val="-2052"/>
                <a:lumOff val="-25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Weltweite Spill Over Effekte sorgen für eine Reihe der Firmeninsolvenzen</a:t>
          </a:r>
          <a:endParaRPr lang="en-US" sz="2500" kern="1200"/>
        </a:p>
      </dsp:txBody>
      <dsp:txXfrm>
        <a:off x="48547" y="1598836"/>
        <a:ext cx="5819075" cy="897406"/>
      </dsp:txXfrm>
    </dsp:sp>
    <dsp:sp modelId="{DE71E523-DCB5-4CBD-82F4-CA3F44C90615}">
      <dsp:nvSpPr>
        <dsp:cNvPr id="0" name=""/>
        <dsp:cNvSpPr/>
      </dsp:nvSpPr>
      <dsp:spPr>
        <a:xfrm>
          <a:off x="0" y="2616788"/>
          <a:ext cx="5916169" cy="994500"/>
        </a:xfrm>
        <a:prstGeom prst="roundRect">
          <a:avLst/>
        </a:prstGeom>
        <a:gradFill rotWithShape="0">
          <a:gsLst>
            <a:gs pos="0">
              <a:schemeClr val="accent5">
                <a:hueOff val="9114327"/>
                <a:satOff val="-4104"/>
                <a:lumOff val="-509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9114327"/>
                <a:satOff val="-4104"/>
                <a:lumOff val="-509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9114327"/>
                <a:satOff val="-4104"/>
                <a:lumOff val="-509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Staatliche Garantien stabilisieren die Finanzmärkte in Europa</a:t>
          </a:r>
          <a:endParaRPr lang="en-US" sz="2500" kern="1200"/>
        </a:p>
      </dsp:txBody>
      <dsp:txXfrm>
        <a:off x="48547" y="2665335"/>
        <a:ext cx="5819075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5713C-11A5-4E21-9937-1206E76BC8E5}">
      <dsp:nvSpPr>
        <dsp:cNvPr id="0" name=""/>
        <dsp:cNvSpPr/>
      </dsp:nvSpPr>
      <dsp:spPr>
        <a:xfrm>
          <a:off x="0" y="0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Januar 2020: Neuartiges tödliches Virus breitet sich aus</a:t>
          </a:r>
          <a:endParaRPr lang="en-US" sz="1900" kern="1200" dirty="0"/>
        </a:p>
      </dsp:txBody>
      <dsp:txXfrm>
        <a:off x="25141" y="25141"/>
        <a:ext cx="4776179" cy="808104"/>
      </dsp:txXfrm>
    </dsp:sp>
    <dsp:sp modelId="{762104F6-D3C2-423A-A9AC-79FEAB29DD27}">
      <dsp:nvSpPr>
        <dsp:cNvPr id="0" name=""/>
        <dsp:cNvSpPr/>
      </dsp:nvSpPr>
      <dsp:spPr>
        <a:xfrm>
          <a:off x="433331" y="977606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Lock Downs und Reiseeinschränkungen</a:t>
          </a:r>
          <a:endParaRPr lang="en-US" sz="1900" kern="1200" dirty="0"/>
        </a:p>
      </dsp:txBody>
      <dsp:txXfrm>
        <a:off x="458472" y="1002747"/>
        <a:ext cx="4761311" cy="808104"/>
      </dsp:txXfrm>
    </dsp:sp>
    <dsp:sp modelId="{209EF8AB-207D-4BB9-B813-F1E567A67AA2}">
      <dsp:nvSpPr>
        <dsp:cNvPr id="0" name=""/>
        <dsp:cNvSpPr/>
      </dsp:nvSpPr>
      <dsp:spPr>
        <a:xfrm>
          <a:off x="866663" y="1955213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Dezember 2020: </a:t>
          </a:r>
          <a:r>
            <a:rPr lang="de-DE" sz="1900" kern="1200" dirty="0" err="1"/>
            <a:t>Biontech</a:t>
          </a:r>
          <a:r>
            <a:rPr lang="de-DE" sz="1900" kern="1200" dirty="0"/>
            <a:t>/Pfizer Impfung kommt auf den Markt</a:t>
          </a:r>
          <a:endParaRPr lang="en-US" sz="1900" kern="1200" dirty="0"/>
        </a:p>
      </dsp:txBody>
      <dsp:txXfrm>
        <a:off x="891804" y="1980354"/>
        <a:ext cx="4761311" cy="808104"/>
      </dsp:txXfrm>
    </dsp:sp>
    <dsp:sp modelId="{51FD16BA-EDFF-410D-A636-32E20A4D2985}">
      <dsp:nvSpPr>
        <dsp:cNvPr id="0" name=""/>
        <dsp:cNvSpPr/>
      </dsp:nvSpPr>
      <dsp:spPr>
        <a:xfrm>
          <a:off x="1299995" y="2932820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Virus wird ansteckender und weniger tödlich</a:t>
          </a:r>
          <a:endParaRPr lang="en-US" sz="1900" kern="1200" dirty="0"/>
        </a:p>
      </dsp:txBody>
      <dsp:txXfrm>
        <a:off x="1325136" y="2957961"/>
        <a:ext cx="4761311" cy="808104"/>
      </dsp:txXfrm>
    </dsp:sp>
    <dsp:sp modelId="{2B1F7F92-0D5A-410B-B32F-89A130367CE6}">
      <dsp:nvSpPr>
        <dsp:cNvPr id="0" name=""/>
        <dsp:cNvSpPr/>
      </dsp:nvSpPr>
      <dsp:spPr>
        <a:xfrm>
          <a:off x="1733326" y="3910427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Maßnahmen werden über 2021 und 2022 Stück für Stück zurückgenommen</a:t>
          </a:r>
          <a:endParaRPr lang="en-US" sz="1900" kern="1200" dirty="0"/>
        </a:p>
      </dsp:txBody>
      <dsp:txXfrm>
        <a:off x="1758467" y="3935568"/>
        <a:ext cx="4761311" cy="808104"/>
      </dsp:txXfrm>
    </dsp:sp>
    <dsp:sp modelId="{A89FB7A1-64A7-4888-AA2B-9ED3AE466A04}">
      <dsp:nvSpPr>
        <dsp:cNvPr id="0" name=""/>
        <dsp:cNvSpPr/>
      </dsp:nvSpPr>
      <dsp:spPr>
        <a:xfrm>
          <a:off x="5244925" y="627099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370464" y="627099"/>
        <a:ext cx="306873" cy="419858"/>
      </dsp:txXfrm>
    </dsp:sp>
    <dsp:sp modelId="{BC870143-CB6B-4FE1-AB10-699A615610F0}">
      <dsp:nvSpPr>
        <dsp:cNvPr id="0" name=""/>
        <dsp:cNvSpPr/>
      </dsp:nvSpPr>
      <dsp:spPr>
        <a:xfrm>
          <a:off x="5678256" y="1604705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2968394"/>
            <a:satOff val="-2748"/>
            <a:lumOff val="-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803795" y="1604705"/>
        <a:ext cx="306873" cy="419858"/>
      </dsp:txXfrm>
    </dsp:sp>
    <dsp:sp modelId="{9D012C46-56F3-4222-B4CA-E5FB2BF530F3}">
      <dsp:nvSpPr>
        <dsp:cNvPr id="0" name=""/>
        <dsp:cNvSpPr/>
      </dsp:nvSpPr>
      <dsp:spPr>
        <a:xfrm>
          <a:off x="6111588" y="2568006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936787"/>
            <a:satOff val="-5496"/>
            <a:lumOff val="-79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237127" y="2568006"/>
        <a:ext cx="306873" cy="419858"/>
      </dsp:txXfrm>
    </dsp:sp>
    <dsp:sp modelId="{57501FD1-0960-4E37-B547-E476A908E420}">
      <dsp:nvSpPr>
        <dsp:cNvPr id="0" name=""/>
        <dsp:cNvSpPr/>
      </dsp:nvSpPr>
      <dsp:spPr>
        <a:xfrm>
          <a:off x="6544920" y="3555150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670459" y="3555150"/>
        <a:ext cx="306873" cy="4198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5713C-11A5-4E21-9937-1206E76BC8E5}">
      <dsp:nvSpPr>
        <dsp:cNvPr id="0" name=""/>
        <dsp:cNvSpPr/>
      </dsp:nvSpPr>
      <dsp:spPr>
        <a:xfrm>
          <a:off x="0" y="0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24. Februar 2022: Russland beginnt eine Invasion gegen die Ukraine</a:t>
          </a:r>
          <a:endParaRPr lang="en-US" sz="1600" kern="1200"/>
        </a:p>
      </dsp:txBody>
      <dsp:txXfrm>
        <a:off x="25141" y="25141"/>
        <a:ext cx="4776179" cy="808104"/>
      </dsp:txXfrm>
    </dsp:sp>
    <dsp:sp modelId="{762104F6-D3C2-423A-A9AC-79FEAB29DD27}">
      <dsp:nvSpPr>
        <dsp:cNvPr id="0" name=""/>
        <dsp:cNvSpPr/>
      </dsp:nvSpPr>
      <dsp:spPr>
        <a:xfrm>
          <a:off x="433331" y="977606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Anhaltender Krieg bis Dato</a:t>
          </a:r>
          <a:endParaRPr lang="en-US" sz="1600" kern="1200"/>
        </a:p>
      </dsp:txBody>
      <dsp:txXfrm>
        <a:off x="458472" y="1002747"/>
        <a:ext cx="4761311" cy="808104"/>
      </dsp:txXfrm>
    </dsp:sp>
    <dsp:sp modelId="{209EF8AB-207D-4BB9-B813-F1E567A67AA2}">
      <dsp:nvSpPr>
        <dsp:cNvPr id="0" name=""/>
        <dsp:cNvSpPr/>
      </dsp:nvSpPr>
      <dsp:spPr>
        <a:xfrm>
          <a:off x="866663" y="1955213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Sanktionen durch EU, Canada, USA gegen Russland</a:t>
          </a:r>
          <a:endParaRPr lang="en-US" sz="1600" kern="1200"/>
        </a:p>
      </dsp:txBody>
      <dsp:txXfrm>
        <a:off x="891804" y="1980354"/>
        <a:ext cx="4761311" cy="808104"/>
      </dsp:txXfrm>
    </dsp:sp>
    <dsp:sp modelId="{51FD16BA-EDFF-410D-A636-32E20A4D2985}">
      <dsp:nvSpPr>
        <dsp:cNvPr id="0" name=""/>
        <dsp:cNvSpPr/>
      </dsp:nvSpPr>
      <dsp:spPr>
        <a:xfrm>
          <a:off x="1299995" y="2932820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Angebotsschock für Erdöl / Erdgas, Kohle und Nuklearbrennstoffe aus Russland</a:t>
          </a:r>
          <a:endParaRPr lang="en-US" sz="1600" kern="1200"/>
        </a:p>
      </dsp:txBody>
      <dsp:txXfrm>
        <a:off x="1325136" y="2957961"/>
        <a:ext cx="4761311" cy="808104"/>
      </dsp:txXfrm>
    </dsp:sp>
    <dsp:sp modelId="{2B1F7F92-0D5A-410B-B32F-89A130367CE6}">
      <dsp:nvSpPr>
        <dsp:cNvPr id="0" name=""/>
        <dsp:cNvSpPr/>
      </dsp:nvSpPr>
      <dsp:spPr>
        <a:xfrm>
          <a:off x="1733326" y="3910427"/>
          <a:ext cx="5802876" cy="858386"/>
        </a:xfrm>
        <a:prstGeom prst="roundRect">
          <a:avLst>
            <a:gd name="adj" fmla="val 10000"/>
          </a:avLst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Weltweiter Angebotsschock für Getreide, Mais, Sonnenblumenöl, Stahl und Inputgüter für Düngemittel aus der Ukraine</a:t>
          </a:r>
          <a:endParaRPr lang="en-US" sz="1600" kern="1200"/>
        </a:p>
      </dsp:txBody>
      <dsp:txXfrm>
        <a:off x="1758467" y="3935568"/>
        <a:ext cx="4761311" cy="808104"/>
      </dsp:txXfrm>
    </dsp:sp>
    <dsp:sp modelId="{A89FB7A1-64A7-4888-AA2B-9ED3AE466A04}">
      <dsp:nvSpPr>
        <dsp:cNvPr id="0" name=""/>
        <dsp:cNvSpPr/>
      </dsp:nvSpPr>
      <dsp:spPr>
        <a:xfrm>
          <a:off x="5244925" y="627099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370464" y="627099"/>
        <a:ext cx="306873" cy="419858"/>
      </dsp:txXfrm>
    </dsp:sp>
    <dsp:sp modelId="{BC870143-CB6B-4FE1-AB10-699A615610F0}">
      <dsp:nvSpPr>
        <dsp:cNvPr id="0" name=""/>
        <dsp:cNvSpPr/>
      </dsp:nvSpPr>
      <dsp:spPr>
        <a:xfrm>
          <a:off x="5678256" y="1604705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2968394"/>
            <a:satOff val="-2748"/>
            <a:lumOff val="-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5803795" y="1604705"/>
        <a:ext cx="306873" cy="419858"/>
      </dsp:txXfrm>
    </dsp:sp>
    <dsp:sp modelId="{9D012C46-56F3-4222-B4CA-E5FB2BF530F3}">
      <dsp:nvSpPr>
        <dsp:cNvPr id="0" name=""/>
        <dsp:cNvSpPr/>
      </dsp:nvSpPr>
      <dsp:spPr>
        <a:xfrm>
          <a:off x="6111588" y="2568006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936787"/>
            <a:satOff val="-5496"/>
            <a:lumOff val="-79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237127" y="2568006"/>
        <a:ext cx="306873" cy="419858"/>
      </dsp:txXfrm>
    </dsp:sp>
    <dsp:sp modelId="{57501FD1-0960-4E37-B547-E476A908E420}">
      <dsp:nvSpPr>
        <dsp:cNvPr id="0" name=""/>
        <dsp:cNvSpPr/>
      </dsp:nvSpPr>
      <dsp:spPr>
        <a:xfrm>
          <a:off x="6544920" y="3555150"/>
          <a:ext cx="557951" cy="55795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670459" y="3555150"/>
        <a:ext cx="306873" cy="4198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F038F-9B98-4AC4-A6D9-F14C21F2B425}">
      <dsp:nvSpPr>
        <dsp:cNvPr id="0" name=""/>
        <dsp:cNvSpPr/>
      </dsp:nvSpPr>
      <dsp:spPr>
        <a:xfrm>
          <a:off x="0" y="11330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GDP stagniert</a:t>
          </a:r>
          <a:endParaRPr lang="en-US" sz="2200" kern="1200"/>
        </a:p>
      </dsp:txBody>
      <dsp:txXfrm>
        <a:off x="25759" y="37089"/>
        <a:ext cx="5983523" cy="476152"/>
      </dsp:txXfrm>
    </dsp:sp>
    <dsp:sp modelId="{E28E5E9C-E7C8-4F81-B585-81E53B77192D}">
      <dsp:nvSpPr>
        <dsp:cNvPr id="0" name=""/>
        <dsp:cNvSpPr/>
      </dsp:nvSpPr>
      <dsp:spPr>
        <a:xfrm>
          <a:off x="0" y="602360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Investments stagnieren</a:t>
          </a:r>
          <a:endParaRPr lang="en-US" sz="2200" kern="1200"/>
        </a:p>
      </dsp:txBody>
      <dsp:txXfrm>
        <a:off x="25759" y="628119"/>
        <a:ext cx="5983523" cy="476152"/>
      </dsp:txXfrm>
    </dsp:sp>
    <dsp:sp modelId="{7325DDBB-24D3-4D20-8E85-E54E2019AB81}">
      <dsp:nvSpPr>
        <dsp:cNvPr id="0" name=""/>
        <dsp:cNvSpPr/>
      </dsp:nvSpPr>
      <dsp:spPr>
        <a:xfrm>
          <a:off x="0" y="1193390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Staatsausgaben steigen</a:t>
          </a:r>
          <a:endParaRPr lang="en-US" sz="2200" kern="1200"/>
        </a:p>
      </dsp:txBody>
      <dsp:txXfrm>
        <a:off x="25759" y="1219149"/>
        <a:ext cx="5983523" cy="476152"/>
      </dsp:txXfrm>
    </dsp:sp>
    <dsp:sp modelId="{E8E9C836-DB44-4F76-A1E8-0A447C3B9558}">
      <dsp:nvSpPr>
        <dsp:cNvPr id="0" name=""/>
        <dsp:cNvSpPr/>
      </dsp:nvSpPr>
      <dsp:spPr>
        <a:xfrm>
          <a:off x="0" y="1784421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Netto-Exporte brechen kurzfristig ein</a:t>
          </a:r>
          <a:endParaRPr lang="en-US" sz="2200" kern="1200"/>
        </a:p>
      </dsp:txBody>
      <dsp:txXfrm>
        <a:off x="25759" y="1810180"/>
        <a:ext cx="5983523" cy="476152"/>
      </dsp:txXfrm>
    </dsp:sp>
    <dsp:sp modelId="{4F3004A1-3BF4-48EC-BCED-2343A5523E45}">
      <dsp:nvSpPr>
        <dsp:cNvPr id="0" name=""/>
        <dsp:cNvSpPr/>
      </dsp:nvSpPr>
      <dsp:spPr>
        <a:xfrm>
          <a:off x="0" y="2375451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Nominallöhne steigen</a:t>
          </a:r>
          <a:endParaRPr lang="en-US" sz="2200" kern="1200"/>
        </a:p>
      </dsp:txBody>
      <dsp:txXfrm>
        <a:off x="25759" y="2401210"/>
        <a:ext cx="5983523" cy="476152"/>
      </dsp:txXfrm>
    </dsp:sp>
    <dsp:sp modelId="{B5E80D72-4DAC-42BB-812A-D9261DF498E4}">
      <dsp:nvSpPr>
        <dsp:cNvPr id="0" name=""/>
        <dsp:cNvSpPr/>
      </dsp:nvSpPr>
      <dsp:spPr>
        <a:xfrm>
          <a:off x="0" y="2966481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Inflation auf Jahrzehntrekord, flacht dann ab</a:t>
          </a:r>
          <a:endParaRPr lang="en-US" sz="2200" kern="1200"/>
        </a:p>
      </dsp:txBody>
      <dsp:txXfrm>
        <a:off x="25759" y="2992240"/>
        <a:ext cx="5983523" cy="476152"/>
      </dsp:txXfrm>
    </dsp:sp>
    <dsp:sp modelId="{1BDE4EEB-D277-468A-A111-7D961D2351F3}">
      <dsp:nvSpPr>
        <dsp:cNvPr id="0" name=""/>
        <dsp:cNvSpPr/>
      </dsp:nvSpPr>
      <dsp:spPr>
        <a:xfrm>
          <a:off x="0" y="3557511"/>
          <a:ext cx="6035041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Restriktive Geldpolitik mit Realzinserhöhung</a:t>
          </a:r>
          <a:endParaRPr lang="en-US" sz="2200" kern="1200"/>
        </a:p>
      </dsp:txBody>
      <dsp:txXfrm>
        <a:off x="25759" y="3583270"/>
        <a:ext cx="5983523" cy="4761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A0E82-482F-4106-8ED7-78A99ADDDAA2}">
      <dsp:nvSpPr>
        <dsp:cNvPr id="0" name=""/>
        <dsp:cNvSpPr/>
      </dsp:nvSpPr>
      <dsp:spPr>
        <a:xfrm>
          <a:off x="0" y="130362"/>
          <a:ext cx="6949440" cy="10614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Pauschalauszahlungen rechtsverschiebung der AD Kurve</a:t>
          </a:r>
          <a:endParaRPr lang="en-US" sz="1900" kern="1200"/>
        </a:p>
      </dsp:txBody>
      <dsp:txXfrm>
        <a:off x="51814" y="182176"/>
        <a:ext cx="6845812" cy="957778"/>
      </dsp:txXfrm>
    </dsp:sp>
    <dsp:sp modelId="{0A7F649D-E0CD-4764-BBA7-E0753BB7AF4C}">
      <dsp:nvSpPr>
        <dsp:cNvPr id="0" name=""/>
        <dsp:cNvSpPr/>
      </dsp:nvSpPr>
      <dsp:spPr>
        <a:xfrm>
          <a:off x="0" y="1246489"/>
          <a:ext cx="6949440" cy="1061406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Unterstützungen für Unternehmen rechtsverschiebung der SRAS Kurve</a:t>
          </a:r>
          <a:endParaRPr lang="en-US" sz="1900" kern="1200"/>
        </a:p>
      </dsp:txBody>
      <dsp:txXfrm>
        <a:off x="51814" y="1298303"/>
        <a:ext cx="6845812" cy="957778"/>
      </dsp:txXfrm>
    </dsp:sp>
    <dsp:sp modelId="{14D55018-376C-4295-BF38-DB18C47FFB71}">
      <dsp:nvSpPr>
        <dsp:cNvPr id="0" name=""/>
        <dsp:cNvSpPr/>
      </dsp:nvSpPr>
      <dsp:spPr>
        <a:xfrm>
          <a:off x="0" y="2362615"/>
          <a:ext cx="6949440" cy="1061406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Die zuvor analysierten Dynamiken würden nach wie vor geschehen, jedoch in der kurzen Frist abgeschwächt werden</a:t>
          </a:r>
          <a:endParaRPr lang="en-US" sz="1900" kern="1200"/>
        </a:p>
      </dsp:txBody>
      <dsp:txXfrm>
        <a:off x="51814" y="2414429"/>
        <a:ext cx="6845812" cy="957778"/>
      </dsp:txXfrm>
    </dsp:sp>
    <dsp:sp modelId="{39E6DB61-5497-459E-84D8-E3E79E9D3A16}">
      <dsp:nvSpPr>
        <dsp:cNvPr id="0" name=""/>
        <dsp:cNvSpPr/>
      </dsp:nvSpPr>
      <dsp:spPr>
        <a:xfrm>
          <a:off x="0" y="3478742"/>
          <a:ext cx="6949440" cy="1061406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Langfristig: Staatsausgaben werden über Steuern ausgeglichen</a:t>
          </a:r>
          <a:endParaRPr lang="en-US" sz="1900" kern="1200"/>
        </a:p>
      </dsp:txBody>
      <dsp:txXfrm>
        <a:off x="51814" y="3530556"/>
        <a:ext cx="6845812" cy="957778"/>
      </dsp:txXfrm>
    </dsp:sp>
    <dsp:sp modelId="{8C80626B-B4C0-495C-9D98-E15202581957}">
      <dsp:nvSpPr>
        <dsp:cNvPr id="0" name=""/>
        <dsp:cNvSpPr/>
      </dsp:nvSpPr>
      <dsp:spPr>
        <a:xfrm>
          <a:off x="0" y="4594868"/>
          <a:ext cx="6949440" cy="1061406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Daher: Langfristig weniger Konsum und niedrigeres BIP (GDP)</a:t>
          </a:r>
          <a:endParaRPr lang="en-US" sz="1900" kern="1200"/>
        </a:p>
      </dsp:txBody>
      <dsp:txXfrm>
        <a:off x="51814" y="4646682"/>
        <a:ext cx="6845812" cy="9577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295FF-4EA7-4924-9998-60A215D9F584}">
      <dsp:nvSpPr>
        <dsp:cNvPr id="0" name=""/>
        <dsp:cNvSpPr/>
      </dsp:nvSpPr>
      <dsp:spPr>
        <a:xfrm>
          <a:off x="0" y="791861"/>
          <a:ext cx="6949440" cy="7945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Nominallöhne bleiben konstant, Reallöhne fallen</a:t>
          </a:r>
          <a:endParaRPr lang="en-US" sz="2000" kern="1200"/>
        </a:p>
      </dsp:txBody>
      <dsp:txXfrm>
        <a:off x="38784" y="830645"/>
        <a:ext cx="6871872" cy="716935"/>
      </dsp:txXfrm>
    </dsp:sp>
    <dsp:sp modelId="{298B30B5-E812-45CD-A027-A60EC38A6F85}">
      <dsp:nvSpPr>
        <dsp:cNvPr id="0" name=""/>
        <dsp:cNvSpPr/>
      </dsp:nvSpPr>
      <dsp:spPr>
        <a:xfrm>
          <a:off x="0" y="1643964"/>
          <a:ext cx="6949440" cy="794503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Arbeitnehmer nehmen Reallohnverlust wahr und treffen neue Entscheidung über Freizeit- vs Arbeitspayoff</a:t>
          </a:r>
          <a:endParaRPr lang="en-US" sz="2000" kern="1200"/>
        </a:p>
      </dsp:txBody>
      <dsp:txXfrm>
        <a:off x="38784" y="1682748"/>
        <a:ext cx="6871872" cy="716935"/>
      </dsp:txXfrm>
    </dsp:sp>
    <dsp:sp modelId="{E1F7561E-FE6E-4EC4-A320-CC1E15B39580}">
      <dsp:nvSpPr>
        <dsp:cNvPr id="0" name=""/>
        <dsp:cNvSpPr/>
      </dsp:nvSpPr>
      <dsp:spPr>
        <a:xfrm>
          <a:off x="0" y="2496067"/>
          <a:ext cx="6949440" cy="794503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Substitutionseffekt: w+ -&gt; N+</a:t>
          </a:r>
          <a:endParaRPr lang="en-US" sz="2000" kern="1200"/>
        </a:p>
      </dsp:txBody>
      <dsp:txXfrm>
        <a:off x="38784" y="2534851"/>
        <a:ext cx="6871872" cy="716935"/>
      </dsp:txXfrm>
    </dsp:sp>
    <dsp:sp modelId="{59E1D622-17D2-4B32-AA11-20347A832278}">
      <dsp:nvSpPr>
        <dsp:cNvPr id="0" name=""/>
        <dsp:cNvSpPr/>
      </dsp:nvSpPr>
      <dsp:spPr>
        <a:xfrm>
          <a:off x="0" y="3348170"/>
          <a:ext cx="6949440" cy="794503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Einkommenseffekt: w+ -&gt; N-</a:t>
          </a:r>
          <a:endParaRPr lang="en-US" sz="2000" kern="1200"/>
        </a:p>
      </dsp:txBody>
      <dsp:txXfrm>
        <a:off x="38784" y="3386954"/>
        <a:ext cx="6871872" cy="716935"/>
      </dsp:txXfrm>
    </dsp:sp>
    <dsp:sp modelId="{2E590E54-9F2C-4ABB-BE35-6895347CD462}">
      <dsp:nvSpPr>
        <dsp:cNvPr id="0" name=""/>
        <dsp:cNvSpPr/>
      </dsp:nvSpPr>
      <dsp:spPr>
        <a:xfrm>
          <a:off x="0" y="4200273"/>
          <a:ext cx="6949440" cy="794503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Für Niedriglohnsektor: Substitutionseffekt &gt; Einkommenseffekt</a:t>
          </a:r>
          <a:endParaRPr lang="en-US" sz="2000" kern="1200"/>
        </a:p>
      </dsp:txBody>
      <dsp:txXfrm>
        <a:off x="38784" y="4239057"/>
        <a:ext cx="6871872" cy="716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7F201-F52D-4F73-A66F-C8C7435846BD}">
      <dsp:nvSpPr>
        <dsp:cNvPr id="0" name=""/>
        <dsp:cNvSpPr/>
      </dsp:nvSpPr>
      <dsp:spPr>
        <a:xfrm>
          <a:off x="0" y="632611"/>
          <a:ext cx="7093329" cy="5561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28. Februar 2026: Die USA und Israel greifen den Iran an.</a:t>
          </a:r>
          <a:endParaRPr lang="en-US" sz="1400" kern="1200"/>
        </a:p>
      </dsp:txBody>
      <dsp:txXfrm>
        <a:off x="27149" y="659760"/>
        <a:ext cx="7039031" cy="501854"/>
      </dsp:txXfrm>
    </dsp:sp>
    <dsp:sp modelId="{2C24D748-4580-4B10-8721-795F90B7DFBD}">
      <dsp:nvSpPr>
        <dsp:cNvPr id="0" name=""/>
        <dsp:cNvSpPr/>
      </dsp:nvSpPr>
      <dsp:spPr>
        <a:xfrm>
          <a:off x="0" y="1229083"/>
          <a:ext cx="7093329" cy="556152"/>
        </a:xfrm>
        <a:prstGeom prst="roundRect">
          <a:avLst/>
        </a:prstGeom>
        <a:solidFill>
          <a:schemeClr val="accent5">
            <a:hueOff val="1519055"/>
            <a:satOff val="-684"/>
            <a:lumOff val="-8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Blockade der Straße von Hormus am selben Tag für alle Exporte außer Chinesische</a:t>
          </a:r>
          <a:endParaRPr lang="en-US" sz="1400" kern="1200"/>
        </a:p>
      </dsp:txBody>
      <dsp:txXfrm>
        <a:off x="27149" y="1256232"/>
        <a:ext cx="7039031" cy="501854"/>
      </dsp:txXfrm>
    </dsp:sp>
    <dsp:sp modelId="{B792C29B-7738-49C1-8D74-951DCFC46123}">
      <dsp:nvSpPr>
        <dsp:cNvPr id="0" name=""/>
        <dsp:cNvSpPr/>
      </dsp:nvSpPr>
      <dsp:spPr>
        <a:xfrm>
          <a:off x="0" y="1825555"/>
          <a:ext cx="7093329" cy="556152"/>
        </a:xfrm>
        <a:prstGeom prst="round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Diplomatische Bemühungen schlagen fehl</a:t>
          </a:r>
          <a:endParaRPr lang="en-US" sz="1400" kern="1200"/>
        </a:p>
      </dsp:txBody>
      <dsp:txXfrm>
        <a:off x="27149" y="1852704"/>
        <a:ext cx="7039031" cy="501854"/>
      </dsp:txXfrm>
    </dsp:sp>
    <dsp:sp modelId="{064BA7D1-2531-4C9A-AFA9-F415C4801ED8}">
      <dsp:nvSpPr>
        <dsp:cNvPr id="0" name=""/>
        <dsp:cNvSpPr/>
      </dsp:nvSpPr>
      <dsp:spPr>
        <a:xfrm>
          <a:off x="0" y="2422027"/>
          <a:ext cx="7093329" cy="556152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13. April 2026: Die USA blockieren die Straße von Hormus ihrerseits</a:t>
          </a:r>
          <a:endParaRPr lang="en-US" sz="1400" kern="1200"/>
        </a:p>
      </dsp:txBody>
      <dsp:txXfrm>
        <a:off x="27149" y="2449176"/>
        <a:ext cx="7039031" cy="501854"/>
      </dsp:txXfrm>
    </dsp:sp>
    <dsp:sp modelId="{49B455C0-6430-471F-B880-38CBBA2C360F}">
      <dsp:nvSpPr>
        <dsp:cNvPr id="0" name=""/>
        <dsp:cNvSpPr/>
      </dsp:nvSpPr>
      <dsp:spPr>
        <a:xfrm>
          <a:off x="0" y="3018500"/>
          <a:ext cx="7093329" cy="556152"/>
        </a:xfrm>
        <a:prstGeom prst="round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25% des weltweiten Ölhandels durch Schifflieferungen führt durch die Passage, </a:t>
          </a:r>
          <a:r>
            <a:rPr lang="de-DE" sz="1400" kern="1200" dirty="0" err="1"/>
            <a:t>ca</a:t>
          </a:r>
          <a:r>
            <a:rPr lang="de-DE" sz="1400" kern="1200" dirty="0"/>
            <a:t> 80% des Öls wird nach Süd-Ost Asien geliefert, ca. 4% nach Europa [Q1]</a:t>
          </a:r>
          <a:endParaRPr lang="en-US" sz="1400" kern="1200" dirty="0"/>
        </a:p>
      </dsp:txBody>
      <dsp:txXfrm>
        <a:off x="27149" y="3045649"/>
        <a:ext cx="7039031" cy="501854"/>
      </dsp:txXfrm>
    </dsp:sp>
    <dsp:sp modelId="{1E42F424-9068-4ACA-B062-2C6E84D2F9A8}">
      <dsp:nvSpPr>
        <dsp:cNvPr id="0" name=""/>
        <dsp:cNvSpPr/>
      </dsp:nvSpPr>
      <dsp:spPr>
        <a:xfrm>
          <a:off x="0" y="3614972"/>
          <a:ext cx="7093329" cy="556152"/>
        </a:xfrm>
        <a:prstGeom prst="roundRect">
          <a:avLst/>
        </a:prstGeom>
        <a:solidFill>
          <a:schemeClr val="accent5">
            <a:hueOff val="7595273"/>
            <a:satOff val="-3420"/>
            <a:lumOff val="-42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Maximal ca. 24% - 38% des Rohölexports kann über Pipelines aus der Vereinigten Arabischen Emiraten und Saudi-Arabien umgeleitet werden [Q1]</a:t>
          </a:r>
          <a:endParaRPr lang="en-US" sz="1400" kern="1200"/>
        </a:p>
      </dsp:txBody>
      <dsp:txXfrm>
        <a:off x="27149" y="3642121"/>
        <a:ext cx="7039031" cy="501854"/>
      </dsp:txXfrm>
    </dsp:sp>
    <dsp:sp modelId="{3DAA95E7-D1C4-40EE-9A28-2EE8B5211BBF}">
      <dsp:nvSpPr>
        <dsp:cNvPr id="0" name=""/>
        <dsp:cNvSpPr/>
      </dsp:nvSpPr>
      <dsp:spPr>
        <a:xfrm>
          <a:off x="0" y="4211444"/>
          <a:ext cx="7093329" cy="556152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20% des weltweiten LNG Handels führt durch die Passage. 90% nach Asien, 10% nach Europa. Dies macht 8.7% der europäischen LNG Importe aus. [Q1, Q3]</a:t>
          </a:r>
          <a:endParaRPr lang="en-US" sz="1400" kern="1200" dirty="0"/>
        </a:p>
      </dsp:txBody>
      <dsp:txXfrm>
        <a:off x="27149" y="4238593"/>
        <a:ext cx="7039031" cy="5018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99977-9FE2-4552-8B21-1581D4CF299B}">
      <dsp:nvSpPr>
        <dsp:cNvPr id="0" name=""/>
        <dsp:cNvSpPr/>
      </dsp:nvSpPr>
      <dsp:spPr>
        <a:xfrm>
          <a:off x="0" y="28618"/>
          <a:ext cx="6949440" cy="1099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Russische Exporte wurden nicht abrupt eingestellt sondern sind durch Sanktionen eingeschränkt worden, die teilweise substituiert wurden</a:t>
          </a:r>
          <a:endParaRPr lang="en-US" sz="2000" kern="1200"/>
        </a:p>
      </dsp:txBody>
      <dsp:txXfrm>
        <a:off x="53688" y="82306"/>
        <a:ext cx="6842064" cy="992424"/>
      </dsp:txXfrm>
    </dsp:sp>
    <dsp:sp modelId="{804EFFEC-60AA-4988-8AF5-BDE0EB00F2A2}">
      <dsp:nvSpPr>
        <dsp:cNvPr id="0" name=""/>
        <dsp:cNvSpPr/>
      </dsp:nvSpPr>
      <dsp:spPr>
        <a:xfrm>
          <a:off x="0" y="1186018"/>
          <a:ext cx="6949440" cy="1099800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Sanktionen gegen Russland wurden nicht von der ganzen Welt mitgetragen</a:t>
          </a:r>
          <a:endParaRPr lang="en-US" sz="2000" kern="1200"/>
        </a:p>
      </dsp:txBody>
      <dsp:txXfrm>
        <a:off x="53688" y="1239706"/>
        <a:ext cx="6842064" cy="992424"/>
      </dsp:txXfrm>
    </dsp:sp>
    <dsp:sp modelId="{704B281D-BA9B-4A54-BB03-2A72FB304DE4}">
      <dsp:nvSpPr>
        <dsp:cNvPr id="0" name=""/>
        <dsp:cNvSpPr/>
      </dsp:nvSpPr>
      <dsp:spPr>
        <a:xfrm>
          <a:off x="0" y="2343418"/>
          <a:ext cx="6949440" cy="1099800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Die Straße von Hormus wurde vom Iran für nicht Iranische Schiffe gesperrt, abgesehen von denen, die China als Ziel haben</a:t>
          </a:r>
          <a:endParaRPr lang="en-US" sz="2000" kern="1200"/>
        </a:p>
      </dsp:txBody>
      <dsp:txXfrm>
        <a:off x="53688" y="2397106"/>
        <a:ext cx="6842064" cy="992424"/>
      </dsp:txXfrm>
    </dsp:sp>
    <dsp:sp modelId="{65A78E11-7829-4326-9A15-D77E6947F1AC}">
      <dsp:nvSpPr>
        <dsp:cNvPr id="0" name=""/>
        <dsp:cNvSpPr/>
      </dsp:nvSpPr>
      <dsp:spPr>
        <a:xfrm>
          <a:off x="0" y="3500818"/>
          <a:ext cx="6949440" cy="1099800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Die USA hat dann die Straße von Hormus für alle weiteren Schiffe gesperrt</a:t>
          </a:r>
          <a:endParaRPr lang="en-US" sz="2000" kern="1200"/>
        </a:p>
      </dsp:txBody>
      <dsp:txXfrm>
        <a:off x="53688" y="3554506"/>
        <a:ext cx="6842064" cy="992424"/>
      </dsp:txXfrm>
    </dsp:sp>
    <dsp:sp modelId="{ABF4F4E7-817D-4527-9235-35865AD7F7C8}">
      <dsp:nvSpPr>
        <dsp:cNvPr id="0" name=""/>
        <dsp:cNvSpPr/>
      </dsp:nvSpPr>
      <dsp:spPr>
        <a:xfrm>
          <a:off x="0" y="4658218"/>
          <a:ext cx="6949440" cy="109980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Vergleich: Limitierte umgehbare Sanktionen vs Rigoroser Shut Down</a:t>
          </a:r>
          <a:endParaRPr lang="en-US" sz="2000" kern="1200"/>
        </a:p>
      </dsp:txBody>
      <dsp:txXfrm>
        <a:off x="53688" y="4711906"/>
        <a:ext cx="6842064" cy="9924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FFAF9-188A-4D9A-828F-889A9CF3E358}">
      <dsp:nvSpPr>
        <dsp:cNvPr id="0" name=""/>
        <dsp:cNvSpPr/>
      </dsp:nvSpPr>
      <dsp:spPr>
        <a:xfrm>
          <a:off x="0" y="92968"/>
          <a:ext cx="6949440" cy="8950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Fiskalpolitik hat die Effekte des Russischen Angriffskriegs deutlich abgedämpft</a:t>
          </a:r>
          <a:endParaRPr lang="en-US" sz="1600" kern="1200"/>
        </a:p>
      </dsp:txBody>
      <dsp:txXfrm>
        <a:off x="43693" y="136661"/>
        <a:ext cx="6862054" cy="807664"/>
      </dsp:txXfrm>
    </dsp:sp>
    <dsp:sp modelId="{2A6DF587-2E25-4935-96CE-39D9D9AA80D6}">
      <dsp:nvSpPr>
        <dsp:cNvPr id="0" name=""/>
        <dsp:cNvSpPr/>
      </dsp:nvSpPr>
      <dsp:spPr>
        <a:xfrm>
          <a:off x="0" y="1034098"/>
          <a:ext cx="6949440" cy="895050"/>
        </a:xfrm>
        <a:prstGeom prst="roundRect">
          <a:avLst/>
        </a:prstGeom>
        <a:solidFill>
          <a:schemeClr val="accent5">
            <a:hueOff val="1822866"/>
            <a:satOff val="-821"/>
            <a:lumOff val="-1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EZB passt Geldpolitik zu Gunsten der Preisstabilität an</a:t>
          </a:r>
          <a:endParaRPr lang="en-US" sz="1600" kern="1200"/>
        </a:p>
      </dsp:txBody>
      <dsp:txXfrm>
        <a:off x="43693" y="1077791"/>
        <a:ext cx="6862054" cy="807664"/>
      </dsp:txXfrm>
    </dsp:sp>
    <dsp:sp modelId="{64CC63EB-9D42-4D2E-BAED-202AC7825813}">
      <dsp:nvSpPr>
        <dsp:cNvPr id="0" name=""/>
        <dsp:cNvSpPr/>
      </dsp:nvSpPr>
      <dsp:spPr>
        <a:xfrm>
          <a:off x="0" y="1975228"/>
          <a:ext cx="6949440" cy="895050"/>
        </a:xfrm>
        <a:prstGeom prst="roundRect">
          <a:avLst/>
        </a:prstGeom>
        <a:solidFill>
          <a:schemeClr val="accent5">
            <a:hueOff val="3645731"/>
            <a:satOff val="-1642"/>
            <a:lumOff val="-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Hohe Staatsausgaben (2020 – 2026) machen es schwer, auf die Krise durch die Straße von Hormuz zu reagieren</a:t>
          </a:r>
          <a:endParaRPr lang="en-US" sz="1600" kern="1200"/>
        </a:p>
      </dsp:txBody>
      <dsp:txXfrm>
        <a:off x="43693" y="2018921"/>
        <a:ext cx="6862054" cy="807664"/>
      </dsp:txXfrm>
    </dsp:sp>
    <dsp:sp modelId="{62AE397A-D52E-4AD6-B5E6-CB9BC0EAE604}">
      <dsp:nvSpPr>
        <dsp:cNvPr id="0" name=""/>
        <dsp:cNvSpPr/>
      </dsp:nvSpPr>
      <dsp:spPr>
        <a:xfrm>
          <a:off x="0" y="2916358"/>
          <a:ext cx="6949440" cy="895050"/>
        </a:xfrm>
        <a:prstGeom prst="roundRect">
          <a:avLst/>
        </a:prstGeom>
        <a:solidFill>
          <a:schemeClr val="accent5">
            <a:hueOff val="5468597"/>
            <a:satOff val="-2462"/>
            <a:lumOff val="-3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Keine baldige Lösung für die Öffnung der Straße von Hormuz in Aussicht -&gt; Langfristige Krise, geringere Wirkung der Produktionssteigerung</a:t>
          </a:r>
          <a:endParaRPr lang="en-US" sz="1600" kern="1200"/>
        </a:p>
      </dsp:txBody>
      <dsp:txXfrm>
        <a:off x="43693" y="2960051"/>
        <a:ext cx="6862054" cy="807664"/>
      </dsp:txXfrm>
    </dsp:sp>
    <dsp:sp modelId="{D04FD8D1-6F1D-434E-B689-78C328657AE2}">
      <dsp:nvSpPr>
        <dsp:cNvPr id="0" name=""/>
        <dsp:cNvSpPr/>
      </dsp:nvSpPr>
      <dsp:spPr>
        <a:xfrm>
          <a:off x="0" y="3857489"/>
          <a:ext cx="6949440" cy="895050"/>
        </a:xfrm>
        <a:prstGeom prst="roundRect">
          <a:avLst/>
        </a:prstGeom>
        <a:solidFill>
          <a:schemeClr val="accent5">
            <a:hueOff val="7291462"/>
            <a:satOff val="-3283"/>
            <a:lumOff val="-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Produktion, Löhne und Arbeitslosigkeit zu Beginn der Krise sehr dramatisch, Verbesserung mittelfristig und langfristig sehr wahrscheinlich</a:t>
          </a:r>
          <a:endParaRPr lang="en-US" sz="1600" kern="1200"/>
        </a:p>
      </dsp:txBody>
      <dsp:txXfrm>
        <a:off x="43693" y="3901182"/>
        <a:ext cx="6862054" cy="807664"/>
      </dsp:txXfrm>
    </dsp:sp>
    <dsp:sp modelId="{4061EE45-C9CD-4489-9182-665084CDD498}">
      <dsp:nvSpPr>
        <dsp:cNvPr id="0" name=""/>
        <dsp:cNvSpPr/>
      </dsp:nvSpPr>
      <dsp:spPr>
        <a:xfrm>
          <a:off x="0" y="4798619"/>
          <a:ext cx="6949440" cy="89505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Inflation durch Krise gegeben, Volkswirtschaftlich mittelfristig stärker, durch EZB Geldpolitik mittelfristig schwächer als kurzfristig</a:t>
          </a:r>
          <a:endParaRPr lang="en-US" sz="1600" kern="1200"/>
        </a:p>
      </dsp:txBody>
      <dsp:txXfrm>
        <a:off x="43693" y="4842312"/>
        <a:ext cx="6862054" cy="8076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DFF67-F666-4F95-8AE1-FE8E39210495}">
      <dsp:nvSpPr>
        <dsp:cNvPr id="0" name=""/>
        <dsp:cNvSpPr/>
      </dsp:nvSpPr>
      <dsp:spPr>
        <a:xfrm>
          <a:off x="1911567" y="0"/>
          <a:ext cx="1510523" cy="1488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7B664-3431-40B7-B08B-027D4A2BB333}">
      <dsp:nvSpPr>
        <dsp:cNvPr id="0" name=""/>
        <dsp:cNvSpPr/>
      </dsp:nvSpPr>
      <dsp:spPr>
        <a:xfrm>
          <a:off x="633377" y="1683475"/>
          <a:ext cx="4315781" cy="63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kern="1200" dirty="0"/>
            <a:t>Für Regierung:</a:t>
          </a:r>
          <a:endParaRPr lang="en-US" sz="3600" kern="1200" dirty="0"/>
        </a:p>
      </dsp:txBody>
      <dsp:txXfrm>
        <a:off x="633377" y="1683475"/>
        <a:ext cx="4315781" cy="638050"/>
      </dsp:txXfrm>
    </dsp:sp>
    <dsp:sp modelId="{CDC67E13-204C-4BDD-B72C-929F179D5A90}">
      <dsp:nvSpPr>
        <dsp:cNvPr id="0" name=""/>
        <dsp:cNvSpPr/>
      </dsp:nvSpPr>
      <dsp:spPr>
        <a:xfrm>
          <a:off x="633377" y="2412080"/>
          <a:ext cx="4315781" cy="218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Subventionierung von Unternehmen mit Zukunftsperspektive und gegebener Abhängigkeit durch Gas, Öl, Elektrizität, Transport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Unterstützung der Bevölkerung, Kompensation für hohe Energie- und Lebensmittelkosten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Ggf</a:t>
          </a:r>
          <a:r>
            <a:rPr lang="de-DE" sz="1400" kern="1200" dirty="0"/>
            <a:t> Steuersenkungen auf Lebensmittel und Energieprodukte (z.B. Benzin, Strom, Gas, </a:t>
          </a:r>
          <a:r>
            <a:rPr lang="de-DE" sz="1400" kern="1200" dirty="0" err="1"/>
            <a:t>etc</a:t>
          </a:r>
          <a:r>
            <a:rPr lang="de-DE" sz="1400" kern="1200" dirty="0"/>
            <a:t>)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Energiewende auf Erneuerbare Energien, sofern realistisch auch Atomenergie</a:t>
          </a:r>
          <a:endParaRPr lang="en-US" sz="1400" kern="1200" dirty="0"/>
        </a:p>
      </dsp:txBody>
      <dsp:txXfrm>
        <a:off x="633377" y="2412080"/>
        <a:ext cx="4315781" cy="2181747"/>
      </dsp:txXfrm>
    </dsp:sp>
    <dsp:sp modelId="{EA53E5A9-C2C8-457E-9568-5A84F081EE90}">
      <dsp:nvSpPr>
        <dsp:cNvPr id="0" name=""/>
        <dsp:cNvSpPr/>
      </dsp:nvSpPr>
      <dsp:spPr>
        <a:xfrm>
          <a:off x="7031777" y="0"/>
          <a:ext cx="1510523" cy="1488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12E1D-7599-4932-B70D-E80A75AE780D}">
      <dsp:nvSpPr>
        <dsp:cNvPr id="0" name=""/>
        <dsp:cNvSpPr/>
      </dsp:nvSpPr>
      <dsp:spPr>
        <a:xfrm>
          <a:off x="5704420" y="1683475"/>
          <a:ext cx="4315781" cy="63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kern="1200" dirty="0"/>
            <a:t>Für Investoren:</a:t>
          </a:r>
          <a:endParaRPr lang="en-US" sz="3600" kern="1200" dirty="0"/>
        </a:p>
      </dsp:txBody>
      <dsp:txXfrm>
        <a:off x="5704420" y="1683475"/>
        <a:ext cx="4315781" cy="638050"/>
      </dsp:txXfrm>
    </dsp:sp>
    <dsp:sp modelId="{AE88DD3C-222F-41F2-8C8A-0A4C2D66790E}">
      <dsp:nvSpPr>
        <dsp:cNvPr id="0" name=""/>
        <dsp:cNvSpPr/>
      </dsp:nvSpPr>
      <dsp:spPr>
        <a:xfrm>
          <a:off x="5704420" y="2412080"/>
          <a:ext cx="4315781" cy="218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Identifizieren des Portfolios von Aktien mit hohem Input von Gas, Kerosin, Öl, Abhängigkeit von Transport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Kurzfristig: Verkauf, sofern der Preis noch nicht eingebrochen ist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Mittelfristig: Kauf bei Preisstagnation der Aktie für Second Round Effekte</a:t>
          </a:r>
          <a:endParaRPr lang="en-US" sz="1700" kern="1200" dirty="0"/>
        </a:p>
      </dsp:txBody>
      <dsp:txXfrm>
        <a:off x="5704420" y="2412080"/>
        <a:ext cx="4315781" cy="21817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781E1-0E45-4257-8355-8E84AD8A1CE2}">
      <dsp:nvSpPr>
        <dsp:cNvPr id="0" name=""/>
        <dsp:cNvSpPr/>
      </dsp:nvSpPr>
      <dsp:spPr>
        <a:xfrm>
          <a:off x="2036006" y="33056"/>
          <a:ext cx="1510523" cy="1488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8BD2A-8A92-46A3-B2CF-AE0D3F0345A0}">
      <dsp:nvSpPr>
        <dsp:cNvPr id="0" name=""/>
        <dsp:cNvSpPr/>
      </dsp:nvSpPr>
      <dsp:spPr>
        <a:xfrm>
          <a:off x="633377" y="1716532"/>
          <a:ext cx="4315781" cy="63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100" kern="1200" dirty="0"/>
            <a:t>Für Erwerbspersonen:</a:t>
          </a:r>
          <a:endParaRPr lang="en-US" sz="3100" kern="1200" dirty="0"/>
        </a:p>
      </dsp:txBody>
      <dsp:txXfrm>
        <a:off x="633377" y="1716532"/>
        <a:ext cx="4315781" cy="638050"/>
      </dsp:txXfrm>
    </dsp:sp>
    <dsp:sp modelId="{CC0C6C03-9DF1-473B-A56B-BB552421307E}">
      <dsp:nvSpPr>
        <dsp:cNvPr id="0" name=""/>
        <dsp:cNvSpPr/>
      </dsp:nvSpPr>
      <dsp:spPr>
        <a:xfrm>
          <a:off x="633377" y="2445137"/>
          <a:ext cx="4315781" cy="211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Position halten bis sich die wirtschaftliche Lage verbessert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Lohnverhandlungen nach Realisierung der Inflation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Positionswechsel bei erwartbarer Steigung des Bruttoinlandsprodukts oder Expansion der eigenen Branche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Jobsuche wird erwartbar einfacher mittel- und langfristig</a:t>
          </a:r>
          <a:endParaRPr lang="en-US" sz="1400" kern="1200" dirty="0"/>
        </a:p>
      </dsp:txBody>
      <dsp:txXfrm>
        <a:off x="633377" y="2445137"/>
        <a:ext cx="4315781" cy="2115633"/>
      </dsp:txXfrm>
    </dsp:sp>
    <dsp:sp modelId="{97AD1472-669E-45E5-A5D1-13BD9095F0FE}">
      <dsp:nvSpPr>
        <dsp:cNvPr id="0" name=""/>
        <dsp:cNvSpPr/>
      </dsp:nvSpPr>
      <dsp:spPr>
        <a:xfrm>
          <a:off x="7107049" y="33056"/>
          <a:ext cx="1510523" cy="1488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FC535-952A-41EF-B747-660657F2458B}">
      <dsp:nvSpPr>
        <dsp:cNvPr id="0" name=""/>
        <dsp:cNvSpPr/>
      </dsp:nvSpPr>
      <dsp:spPr>
        <a:xfrm>
          <a:off x="5704420" y="1716532"/>
          <a:ext cx="4315781" cy="63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100" kern="1200" dirty="0"/>
            <a:t>Für Firmen:</a:t>
          </a:r>
          <a:endParaRPr lang="en-US" sz="3100" kern="1200" dirty="0"/>
        </a:p>
      </dsp:txBody>
      <dsp:txXfrm>
        <a:off x="5704420" y="1716532"/>
        <a:ext cx="4315781" cy="638050"/>
      </dsp:txXfrm>
    </dsp:sp>
    <dsp:sp modelId="{6B1C5C76-FA89-4084-8C04-818B634007C5}">
      <dsp:nvSpPr>
        <dsp:cNvPr id="0" name=""/>
        <dsp:cNvSpPr/>
      </dsp:nvSpPr>
      <dsp:spPr>
        <a:xfrm>
          <a:off x="5704420" y="2445137"/>
          <a:ext cx="4315781" cy="2115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Fähiges Personal halten bei schwieriger Auftragslage, </a:t>
          </a:r>
          <a:r>
            <a:rPr lang="de-DE" sz="1400" kern="1200" dirty="0" err="1"/>
            <a:t>ggf</a:t>
          </a:r>
          <a:r>
            <a:rPr lang="de-DE" sz="1400" kern="1200" dirty="0"/>
            <a:t> Kurzarbeit anbieten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Keine Expansion in Wirtschaftsbereiche, die stark von Energieträgern abgängig sind (Gas, Öl, Kerosin, Transport, Strom)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Expansion im Dienstleistungssektor kann hilfreich sein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Starke Chance für Expansion in Restrukturierungsprojekte</a:t>
          </a:r>
          <a:endParaRPr lang="en-US" sz="1400" kern="1200" dirty="0"/>
        </a:p>
      </dsp:txBody>
      <dsp:txXfrm>
        <a:off x="5704420" y="2445137"/>
        <a:ext cx="4315781" cy="2115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6D3BD-977C-4E2A-B5CF-5EF5F5388AC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CB6C0-C42D-4A09-98F1-EA3B7320D0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45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E8160-22CE-4A2B-8677-11955942E59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8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8B124-4B69-4A83-8EFA-47BABD8BD0D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5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E507B-D0B8-485E-ADA0-C0BD97D97F4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4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B690-E541-49AC-897E-4AF4024AF0D3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7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D67F-B401-494D-A12C-F300536CBF5E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9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B567-6387-4E2D-AB35-8913A2F11F36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2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E7FA0-5A70-40A9-AE77-92C939B4D39E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7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23653-CD79-4699-8681-48960610B250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D89A-B842-41AA-9C05-5D24758AF33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F345-09B3-4FF5-A277-1CF47302449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4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410C-D954-4B52-9230-EE66B55ECEF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0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9FA9F10-919B-4E97-BEAA-0505E72D9CF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9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Eine abstrakte digitale Finanzanalyse">
            <a:extLst>
              <a:ext uri="{FF2B5EF4-FFF2-40B4-BE49-F238E27FC236}">
                <a16:creationId xmlns:a16="http://schemas.microsoft.com/office/drawing/2014/main" id="{74C73C5A-E36A-EFD2-14D1-CCAAAA22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6" r="10303" b="281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09DF65-F621-ED7A-12EB-1635E0600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de-DE" sz="4100"/>
              <a:t>Volkswirtschaftliche Analyse Europa und Eurozone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0B199D-699D-4D66-0D02-7AD83EF0E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de-DE" sz="2200"/>
              <a:t>Krisen im Zeitverlauf und potentielle Auswirkungen des Irankriegs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9BFCA1-CCC1-0E82-9993-CED41919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7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677BA5-75A3-D871-922E-07453E2A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de-DE" sz="4000"/>
              <a:t>Inhalt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D4BE26-86C8-6029-E067-176C6FA1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26BAEF6F-08C8-D2F6-112D-156E7D838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88255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134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482ADA-1DDE-C301-70CA-2C2160EA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Datenquellen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1A92BC4-A8F1-0DBB-4382-90F723CB6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917523"/>
              </p:ext>
            </p:extLst>
          </p:nvPr>
        </p:nvGraphicFramePr>
        <p:xfrm>
          <a:off x="4344099" y="546971"/>
          <a:ext cx="7390810" cy="575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247">
                  <a:extLst>
                    <a:ext uri="{9D8B030D-6E8A-4147-A177-3AD203B41FA5}">
                      <a16:colId xmlns:a16="http://schemas.microsoft.com/office/drawing/2014/main" val="842856153"/>
                    </a:ext>
                  </a:extLst>
                </a:gridCol>
                <a:gridCol w="1898664">
                  <a:extLst>
                    <a:ext uri="{9D8B030D-6E8A-4147-A177-3AD203B41FA5}">
                      <a16:colId xmlns:a16="http://schemas.microsoft.com/office/drawing/2014/main" val="3547068679"/>
                    </a:ext>
                  </a:extLst>
                </a:gridCol>
                <a:gridCol w="2448899">
                  <a:extLst>
                    <a:ext uri="{9D8B030D-6E8A-4147-A177-3AD203B41FA5}">
                      <a16:colId xmlns:a16="http://schemas.microsoft.com/office/drawing/2014/main" val="800755406"/>
                    </a:ext>
                  </a:extLst>
                </a:gridCol>
              </a:tblGrid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Dataset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- Plattform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- Kürzel / Link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4219986445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Money_Market_Interest_Rate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irt_st_a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286983212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Real GDP (2015) per Capita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tipsna40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242015196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Imports as Percentage of GDP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tet00004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1577046518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Foreign_Value_Added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naio_10_fgfoee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1525231169"/>
                  </a:ext>
                </a:extLst>
              </a:tr>
              <a:tr h="554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HICP (Harmonized Index Consumer Prices)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tec00118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195534358"/>
                  </a:ext>
                </a:extLst>
              </a:tr>
              <a:tr h="554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HICP Contribution to Inflation EA in PP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prc_hicp_ctr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999454536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fx_annual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ECB &amp; Yahoo Finance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 Schnittstellen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4226167503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OECD Wages Data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OECD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de-DE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OECD Homepage Download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668661673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Investments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tec00132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260789609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Government_Spending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gov_10a_exp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4267329583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Consumption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tec00134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1195624835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GDP_Components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nama_10_gdp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67556315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Labor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nama_10_a10_e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216827652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Job Vacancies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jvs_q_nace2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2292104130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Population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demo_pjan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606425286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BIP Deflator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Eurostats</a:t>
                      </a:r>
                    </a:p>
                  </a:txBody>
                  <a:tcPr marL="11144" marR="11144" marT="111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nama_10_gdp</a:t>
                      </a:r>
                    </a:p>
                  </a:txBody>
                  <a:tcPr marL="11144" marR="11144" marT="11144" marB="0" anchor="b"/>
                </a:tc>
                <a:extLst>
                  <a:ext uri="{0D108BD9-81ED-4DB2-BD59-A6C34878D82A}">
                    <a16:rowId xmlns:a16="http://schemas.microsoft.com/office/drawing/2014/main" val="912501163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1D2221D-5512-184E-FE3A-D744CE80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1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F4A81A-BC9D-5C34-FE2F-CE2FC5CF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de-DE" dirty="0"/>
              <a:t>Globale Finanzkrise 2007 - 2009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4D2B27-F756-C07C-6F97-0D38FE9D2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D694DE9F-B603-733D-697D-0513AEBC0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45794"/>
              </p:ext>
            </p:extLst>
          </p:nvPr>
        </p:nvGraphicFramePr>
        <p:xfrm>
          <a:off x="5568533" y="2214282"/>
          <a:ext cx="5916169" cy="4095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E2E10AD-DEC2-85C2-CA64-846DC06F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1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5430F46-6230-6D90-15EB-013894EF0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472391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1AF312A-3688-FDEA-1616-81A29EB7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388" y="2713260"/>
            <a:ext cx="2905613" cy="1431479"/>
          </a:xfrm>
          <a:solidFill>
            <a:schemeClr val="bg1">
              <a:alpha val="7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algn="ctr"/>
            <a:r>
              <a:rPr lang="de-DE" sz="3200" dirty="0"/>
              <a:t>Corona Pandemie 2020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D5778AF-8D76-DD85-0B52-26FBAEB57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211427"/>
              </p:ext>
            </p:extLst>
          </p:nvPr>
        </p:nvGraphicFramePr>
        <p:xfrm>
          <a:off x="4564094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5E0137-2DA9-5C7D-2BB6-611C1632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C59BC-911A-8CCD-A0EC-C2FAA346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CF7282-7FE9-C468-E719-A3DFC5401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rieg in der Ukraine: die neusten Entwicklungen">
            <a:extLst>
              <a:ext uri="{FF2B5EF4-FFF2-40B4-BE49-F238E27FC236}">
                <a16:creationId xmlns:a16="http://schemas.microsoft.com/office/drawing/2014/main" id="{084F0217-111A-B9C5-54AC-ACAE5756F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7239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64C722-82D5-04A8-E6DA-2C9114DE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388" y="2560418"/>
            <a:ext cx="2905613" cy="1932924"/>
          </a:xfrm>
          <a:solidFill>
            <a:schemeClr val="bg1">
              <a:alpha val="7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algn="ctr"/>
            <a:r>
              <a:rPr lang="de-DE" sz="3200" dirty="0"/>
              <a:t>Russischer Angriffskrieg auf die Ukraine 2022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2978D49-6D80-5DE4-5BA3-23E55AFC7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64094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860FEE-4B29-2135-1074-018D5B7A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3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AEEB0-67A0-FFC3-B04C-D78B8B90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Empirie – Krisen sichtbar machen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Inhaltsplatzhalter 3" title="Microsoft Power BI">
                <a:extLst>
                  <a:ext uri="{FF2B5EF4-FFF2-40B4-BE49-F238E27FC236}">
                    <a16:creationId xmlns:a16="http://schemas.microsoft.com/office/drawing/2014/main" id="{A1FDA5CB-EE85-573E-54F5-8CB7EA72341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12775" y="1716088"/>
              <a:ext cx="10653713" cy="459263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Inhaltsplatzhalter 3" title="Microsoft Power BI">
                <a:extLst>
                  <a:ext uri="{FF2B5EF4-FFF2-40B4-BE49-F238E27FC236}">
                    <a16:creationId xmlns:a16="http://schemas.microsoft.com/office/drawing/2014/main" id="{A1FDA5CB-EE85-573E-54F5-8CB7EA7234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775" y="1716088"/>
                <a:ext cx="10653713" cy="45926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A72950-83CD-D91E-BD8F-F0436D89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0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650B60-08BD-88D6-4315-5AD46359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de-DE" dirty="0"/>
              <a:t>Zusammenfassung Russischer Angriffskrieg</a:t>
            </a:r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683D878E-8CDE-57A8-A5B3-978BB5A7F3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2212848"/>
          <a:ext cx="6035041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Eine abstrakte digitale Finanzanalyse">
            <a:extLst>
              <a:ext uri="{FF2B5EF4-FFF2-40B4-BE49-F238E27FC236}">
                <a16:creationId xmlns:a16="http://schemas.microsoft.com/office/drawing/2014/main" id="{504BE5A6-2CBF-6D92-4698-2779BD6B925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404" r="19376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AB7C5-EA9D-6493-E354-37BEC4EB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687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BD1F0466-1BBA-C32E-C536-6E061A8A7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554" y="344730"/>
            <a:ext cx="6776672" cy="543524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FFEE06-DE12-2806-03EA-3FD8AD468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IS-LM Modell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863589F-F6CA-BB50-FF8F-6A1C54A5B6CA}"/>
                  </a:ext>
                </a:extLst>
              </p:cNvPr>
              <p:cNvSpPr txBox="1"/>
              <p:nvPr/>
            </p:nvSpPr>
            <p:spPr>
              <a:xfrm>
                <a:off x="513984" y="2684549"/>
                <a:ext cx="39631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𝐼𝑆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de-D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𝑁𝑋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863589F-F6CA-BB50-FF8F-6A1C54A5B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84" y="2684549"/>
                <a:ext cx="396315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D0435E1-1D72-2571-EDF0-4BEC961D0784}"/>
                  </a:ext>
                </a:extLst>
              </p:cNvPr>
              <p:cNvSpPr txBox="1"/>
              <p:nvPr/>
            </p:nvSpPr>
            <p:spPr>
              <a:xfrm>
                <a:off x="570270" y="3423213"/>
                <a:ext cx="1925290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𝐿𝑀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D0435E1-1D72-2571-EDF0-4BEC961D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3423213"/>
                <a:ext cx="1925290" cy="609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A3D4C9E-1EBE-1FB4-5595-59615ED1F4FF}"/>
                  </a:ext>
                </a:extLst>
              </p:cNvPr>
              <p:cNvSpPr txBox="1"/>
              <p:nvPr/>
            </p:nvSpPr>
            <p:spPr>
              <a:xfrm>
                <a:off x="570270" y="5774605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𝐺𝐷𝑃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𝐶𝑜𝑛𝑠𝑢𝑚𝑝𝑡𝑖𝑜𝑛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𝑇𝑎𝑥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𝐼𝑛𝑣𝑒𝑠𝑡𝑚𝑒𝑛𝑡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𝑅𝑒𝑎𝑙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𝐼𝑛𝑡𝑒𝑟𝑒𝑠𝑡</m:t>
                    </m:r>
                    <m:r>
                      <a:rPr lang="de-DE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𝑅𝑎𝑡𝑒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G = Government Spending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9A3D4C9E-1EBE-1FB4-5595-59615ED1F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5774605"/>
                <a:ext cx="11051459" cy="369332"/>
              </a:xfrm>
              <a:prstGeom prst="rect">
                <a:avLst/>
              </a:prstGeom>
              <a:blipFill>
                <a:blip r:embed="rId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4C18584-C8B2-22BC-4C8B-A57C2E80C20C}"/>
                  </a:ext>
                </a:extLst>
              </p:cNvPr>
              <p:cNvSpPr txBox="1"/>
              <p:nvPr/>
            </p:nvSpPr>
            <p:spPr>
              <a:xfrm>
                <a:off x="570270" y="6143937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𝑁𝑋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𝑁𝑒𝑡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𝐸𝑥𝑝𝑜𝑟𝑡𝑠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𝐸𝑥𝑐h𝑎𝑛𝑔𝑒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𝑅𝑎𝑡𝑒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M = Money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Amount</a:t>
                </a:r>
                <a:r>
                  <a:rPr lang="de-DE" i="1" dirty="0">
                    <a:latin typeface="Cambria Math" panose="02040503050406030204" pitchFamily="18" charset="0"/>
                  </a:rPr>
                  <a:t>, P = Price Level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4C18584-C8B2-22BC-4C8B-A57C2E80C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6143937"/>
                <a:ext cx="11051459" cy="369332"/>
              </a:xfrm>
              <a:prstGeom prst="rect">
                <a:avLst/>
              </a:prstGeom>
              <a:blipFill>
                <a:blip r:embed="rId6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33CF71-D789-37F9-F6CF-016DCCF8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8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E9ADD0C-1540-1076-37DF-7DF424806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360" y="306292"/>
            <a:ext cx="6592529" cy="52490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3FA2FE-DE90-5734-3365-A72D2686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Arbeitsmarkt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BE768D1-6394-7037-BB7C-F6604123A1EB}"/>
                  </a:ext>
                </a:extLst>
              </p:cNvPr>
              <p:cNvSpPr txBox="1"/>
              <p:nvPr/>
            </p:nvSpPr>
            <p:spPr>
              <a:xfrm>
                <a:off x="612648" y="2773069"/>
                <a:ext cx="199594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BE768D1-6394-7037-BB7C-F6604123A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2773069"/>
                <a:ext cx="1995948" cy="374270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472C0A9-2D85-D14C-D3DB-FF2D767CEBEF}"/>
                  </a:ext>
                </a:extLst>
              </p:cNvPr>
              <p:cNvSpPr txBox="1"/>
              <p:nvPr/>
            </p:nvSpPr>
            <p:spPr>
              <a:xfrm>
                <a:off x="465163" y="3524336"/>
                <a:ext cx="2143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472C0A9-2D85-D14C-D3DB-FF2D767CE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63" y="3524336"/>
                <a:ext cx="214343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5D909C7-0336-777A-5EA9-DC16759B53C9}"/>
                  </a:ext>
                </a:extLst>
              </p:cNvPr>
              <p:cNvSpPr txBox="1"/>
              <p:nvPr/>
            </p:nvSpPr>
            <p:spPr>
              <a:xfrm>
                <a:off x="1126547" y="5560820"/>
                <a:ext cx="962578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𝐿𝑎𝑏𝑜𝑟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𝐷𝑒𝑚𝑎𝑛𝑑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𝐿𝑎𝑏𝑜𝑟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𝑆𝑢𝑝𝑝𝑙𝑦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w = wage, K = Capital, z = Total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Factor</a:t>
                </a:r>
                <a:r>
                  <a:rPr lang="de-DE" i="1" dirty="0">
                    <a:latin typeface="Cambria Math" panose="02040503050406030204" pitchFamily="18" charset="0"/>
                  </a:rPr>
                  <a:t>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Productivity</a:t>
                </a:r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5D909C7-0336-777A-5EA9-DC16759B5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47" y="5560820"/>
                <a:ext cx="9625780" cy="374270"/>
              </a:xfrm>
              <a:prstGeom prst="rect">
                <a:avLst/>
              </a:prstGeom>
              <a:blipFill>
                <a:blip r:embed="rId5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36CF337-AEED-5ADE-F8AC-42E64D252B47}"/>
                  </a:ext>
                </a:extLst>
              </p:cNvPr>
              <p:cNvSpPr txBox="1"/>
              <p:nvPr/>
            </p:nvSpPr>
            <p:spPr>
              <a:xfrm>
                <a:off x="1283110" y="5935090"/>
                <a:ext cx="962578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𝑅𝑒𝑎𝑙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𝐼𝑛𝑡𝑒𝑟𝑒𝑠𝑡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36CF337-AEED-5ADE-F8AC-42E64D252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10" y="5935090"/>
                <a:ext cx="9625780" cy="3742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3A048AF-61AD-C552-26AA-542243E1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4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8F44C0BE-3DE8-5E09-5BD6-55B6201B3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631" y="548640"/>
            <a:ext cx="5374564" cy="42980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D0614E6-B131-EF46-9298-C37DDC81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AS-AD Modell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CECD5AC-FACB-ED59-866C-2169E357A44F}"/>
                  </a:ext>
                </a:extLst>
              </p:cNvPr>
              <p:cNvSpPr txBox="1"/>
              <p:nvPr/>
            </p:nvSpPr>
            <p:spPr>
              <a:xfrm>
                <a:off x="570271" y="1903459"/>
                <a:ext cx="3028336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𝑆𝑅𝐴𝑆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CECD5AC-FACB-ED59-866C-2169E357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1" y="1903459"/>
                <a:ext cx="3028336" cy="6090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953A87D-CB3C-D468-6CE8-0258B8F9D0FC}"/>
                  </a:ext>
                </a:extLst>
              </p:cNvPr>
              <p:cNvSpPr txBox="1"/>
              <p:nvPr/>
            </p:nvSpPr>
            <p:spPr>
              <a:xfrm>
                <a:off x="570270" y="2839904"/>
                <a:ext cx="1641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𝐿𝑅𝐴𝑆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8953A87D-CB3C-D468-6CE8-0258B8F9D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2839904"/>
                <a:ext cx="16419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99DE2D0-AC8B-1D84-B813-A22F6B997AB1}"/>
                  </a:ext>
                </a:extLst>
              </p:cNvPr>
              <p:cNvSpPr txBox="1"/>
              <p:nvPr/>
            </p:nvSpPr>
            <p:spPr>
              <a:xfrm>
                <a:off x="570270" y="3429000"/>
                <a:ext cx="2330245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sepChr m:val=",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99DE2D0-AC8B-1D84-B813-A22F6B99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3429000"/>
                <a:ext cx="2330245" cy="582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5CF008B-6119-388F-B21D-8AD283807236}"/>
                  </a:ext>
                </a:extLst>
              </p:cNvPr>
              <p:cNvSpPr txBox="1"/>
              <p:nvPr/>
            </p:nvSpPr>
            <p:spPr>
              <a:xfrm>
                <a:off x="570270" y="4847067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𝑆h𝑜𝑟𝑡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𝑅𝑢𝑛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𝐿𝑜𝑛𝑔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𝑅𝑢𝑛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𝐴𝑆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𝐴𝑔𝑔𝑟𝑒𝑔𝑎𝑡𝑒𝑑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𝑆𝑢𝑝𝑝𝑙𝑦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𝐴𝑔𝑔𝑟𝑒𝑔𝑎𝑡𝑒𝑑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𝐷𝑒𝑚𝑎𝑛𝑑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𝐺𝐷𝑃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5CF008B-6119-388F-B21D-8AD283807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4847067"/>
                <a:ext cx="1105145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FC94EF9-7770-2B31-BCAD-ED8DCAF9C5E9}"/>
                  </a:ext>
                </a:extLst>
              </p:cNvPr>
              <p:cNvSpPr txBox="1"/>
              <p:nvPr/>
            </p:nvSpPr>
            <p:spPr>
              <a:xfrm>
                <a:off x="413706" y="5216399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𝐿𝑒𝑣𝑒𝑙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𝑒𝑥𝑝𝑒𝑐𝑡𝑒𝑑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𝐿𝑒𝑣𝑒𝑙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𝑀𝑎𝑟𝑘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𝑈𝑝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𝑁𝑒𝑔𝑜𝑡𝑖𝑎𝑡𝑖𝑜𝑛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𝑝𝑜𝑠𝑖𝑡𝑖𝑜𝑛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𝐹𝑖𝑟𝑚𝑠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𝐿𝑎𝑏𝑜𝑟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FC94EF9-7770-2B31-BCAD-ED8DCAF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06" y="5216399"/>
                <a:ext cx="11051459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E61571A9-2484-4D71-0DFA-4A0F6DD90D4A}"/>
                  </a:ext>
                </a:extLst>
              </p:cNvPr>
              <p:cNvSpPr txBox="1"/>
              <p:nvPr/>
            </p:nvSpPr>
            <p:spPr>
              <a:xfrm>
                <a:off x="413706" y="5585730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𝐹𝑎𝑐𝑡𝑜𝑟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𝑃𝑟𝑜𝑑𝑢𝑐𝑡𝑖𝑣𝑖𝑡𝑦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𝑛𝑎𝑡𝑢𝑟𝑎𝑙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𝐸𝑞𝑢𝑖𝑙𝑖𝑏𝑟𝑖𝑢𝑚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𝐺𝐷𝑃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M = Money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Amount</a:t>
                </a:r>
                <a:r>
                  <a:rPr lang="de-DE" i="1" dirty="0">
                    <a:latin typeface="Cambria Math" panose="02040503050406030204" pitchFamily="18" charset="0"/>
                  </a:rPr>
                  <a:t>, T =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Tax</a:t>
                </a:r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E61571A9-2484-4D71-0DFA-4A0F6DD90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06" y="5585730"/>
                <a:ext cx="11051459" cy="369332"/>
              </a:xfrm>
              <a:prstGeom prst="rect">
                <a:avLst/>
              </a:prstGeom>
              <a:blipFill>
                <a:blip r:embed="rId8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4157A193-C76F-72BE-4DE0-1226A0B82798}"/>
                  </a:ext>
                </a:extLst>
              </p:cNvPr>
              <p:cNvSpPr txBox="1"/>
              <p:nvPr/>
            </p:nvSpPr>
            <p:spPr>
              <a:xfrm>
                <a:off x="413706" y="5940028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𝐺𝑜𝑣𝑒𝑟𝑛𝑚𝑒𝑛𝑡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𝐸𝑥𝑝𝑒𝑛𝑑𝑖𝑡𝑢𝑟𝑒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4157A193-C76F-72BE-4DE0-1226A0B82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06" y="5940028"/>
                <a:ext cx="11051459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1BDE571-24FD-1BFA-AF66-E1755A63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8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904C5-FA3D-60A5-FE88-D5E8A1A3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Cobb-Douglas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C98866-FA23-39C6-9E47-6C2590491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456" y="1114769"/>
            <a:ext cx="6254508" cy="50017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7073D7B-3A6C-6481-4B36-0029978AD91B}"/>
                  </a:ext>
                </a:extLst>
              </p:cNvPr>
              <p:cNvSpPr txBox="1"/>
              <p:nvPr/>
            </p:nvSpPr>
            <p:spPr>
              <a:xfrm>
                <a:off x="1671484" y="1680898"/>
                <a:ext cx="176980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7073D7B-3A6C-6481-4B36-0029978AD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84" y="1680898"/>
                <a:ext cx="1769806" cy="387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627C8F0-382F-342C-6A65-A4AE74FFA949}"/>
                  </a:ext>
                </a:extLst>
              </p:cNvPr>
              <p:cNvSpPr txBox="1"/>
              <p:nvPr/>
            </p:nvSpPr>
            <p:spPr>
              <a:xfrm>
                <a:off x="570270" y="6124694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𝐺𝐷𝑃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z = Total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Factor</a:t>
                </a:r>
                <a:r>
                  <a:rPr lang="de-DE" i="1" dirty="0">
                    <a:latin typeface="Cambria Math" panose="02040503050406030204" pitchFamily="18" charset="0"/>
                  </a:rPr>
                  <a:t> </a:t>
                </a:r>
                <a:r>
                  <a:rPr lang="de-DE" i="1" dirty="0" err="1">
                    <a:latin typeface="Cambria Math" panose="02040503050406030204" pitchFamily="18" charset="0"/>
                  </a:rPr>
                  <a:t>Productivity</a:t>
                </a:r>
                <a:r>
                  <a:rPr lang="de-DE" i="1" dirty="0">
                    <a:latin typeface="Cambria Math" panose="02040503050406030204" pitchFamily="18" charset="0"/>
                  </a:rPr>
                  <a:t>, K = Capital, N = Labor</a:t>
                </a: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627C8F0-382F-342C-6A65-A4AE74FF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6124694"/>
                <a:ext cx="11051459" cy="369332"/>
              </a:xfrm>
              <a:prstGeom prst="rect">
                <a:avLst/>
              </a:prstGeom>
              <a:blipFill>
                <a:blip r:embed="rId4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D36694-9072-0C5E-258D-6CAAD105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1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6EF3F-C20F-3280-CD6A-A8158B73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Money Market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9656C4C-1BC2-4E36-4775-3A7B0FC73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87" y="548640"/>
            <a:ext cx="7529866" cy="54244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CA11981-7BBF-D45B-9805-CE7F712B7296}"/>
                  </a:ext>
                </a:extLst>
              </p:cNvPr>
              <p:cNvSpPr txBox="1"/>
              <p:nvPr/>
            </p:nvSpPr>
            <p:spPr>
              <a:xfrm>
                <a:off x="570270" y="6124694"/>
                <a:ext cx="11051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𝑀𝑠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𝑀𝑜𝑛𝑒𝑦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𝑆𝑢𝑝𝑝𝑙𝑦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</a:rPr>
                  <a:t>, Md = Money Demand, r = Real Interest Rate, Y = GDP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CA11981-7BBF-D45B-9805-CE7F712B7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6124694"/>
                <a:ext cx="11051459" cy="369332"/>
              </a:xfrm>
              <a:prstGeom prst="rect">
                <a:avLst/>
              </a:prstGeom>
              <a:blipFill>
                <a:blip r:embed="rId3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86B1B9-4AC7-D15A-98B9-FB39808F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8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icht von oben auf Utensilien mit roter Schleife darüber">
            <a:extLst>
              <a:ext uri="{FF2B5EF4-FFF2-40B4-BE49-F238E27FC236}">
                <a16:creationId xmlns:a16="http://schemas.microsoft.com/office/drawing/2014/main" id="{268670BE-10A8-3E34-49AA-11B6598FA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0EA3548-A4E4-5D55-A774-F0A6785D322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85000"/>
              <a:alpha val="36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600" dirty="0">
                <a:ln w="25400">
                  <a:solidFill>
                    <a:schemeClr val="bg1"/>
                  </a:solidFill>
                </a:ln>
              </a:rPr>
              <a:t>New Keynesian Assumption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96790D-2381-B18A-E224-25F38BDB437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85000"/>
              <a:alpha val="40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de-DE" sz="2800" b="1" dirty="0" err="1">
                <a:ln w="19050">
                  <a:solidFill>
                    <a:schemeClr val="bg1"/>
                  </a:solidFill>
                </a:ln>
              </a:rPr>
              <a:t>Sticky</a:t>
            </a:r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 Prices (Preise passen sich in der kurzen Frist nicht an)</a:t>
            </a:r>
          </a:p>
          <a:p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Restaurant Menü</a:t>
            </a:r>
          </a:p>
          <a:p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Gas und Rohöl Importe werden als Schock in technologischem Fortschritt Modelliert (z = Total </a:t>
            </a:r>
            <a:r>
              <a:rPr lang="de-DE" sz="2800" b="1" dirty="0" err="1">
                <a:ln w="19050">
                  <a:solidFill>
                    <a:schemeClr val="bg1"/>
                  </a:solidFill>
                </a:ln>
              </a:rPr>
              <a:t>Factor</a:t>
            </a:r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 </a:t>
            </a:r>
            <a:r>
              <a:rPr lang="de-DE" sz="2800" b="1" dirty="0" err="1">
                <a:ln w="19050">
                  <a:solidFill>
                    <a:schemeClr val="bg1"/>
                  </a:solidFill>
                </a:ln>
              </a:rPr>
              <a:t>Productivity</a:t>
            </a:r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)</a:t>
            </a:r>
          </a:p>
          <a:p>
            <a:r>
              <a:rPr lang="de-DE" sz="2800" b="1" dirty="0">
                <a:ln w="19050">
                  <a:solidFill>
                    <a:schemeClr val="bg1"/>
                  </a:solidFill>
                </a:ln>
              </a:rPr>
              <a:t>Die Maßnahmen der Regierung werden als Erhöhung der Staatsausgaben modelliert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9F1CAC-75AD-9409-71DE-CA913FEE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1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4C1E4-3ACD-13C4-EDCD-EFD098E2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Produktionsfunktion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A29BBF2-6E86-2BD4-4FC5-2E05A135F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655" y="1292218"/>
            <a:ext cx="6633571" cy="52894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BCCDBF0-1811-EA0A-A8BC-87325A7BDA7E}"/>
                  </a:ext>
                </a:extLst>
              </p:cNvPr>
              <p:cNvSpPr txBox="1"/>
              <p:nvPr/>
            </p:nvSpPr>
            <p:spPr>
              <a:xfrm>
                <a:off x="612648" y="1381226"/>
                <a:ext cx="1769806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BCCDBF0-1811-EA0A-A8BC-87325A7B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381226"/>
                <a:ext cx="1769806" cy="387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FC99AA-D3B2-F043-6BBB-1D6F4D3D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7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5B0D9E-46B7-EC03-1CC2-95B119F1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Arbeitsmarkt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BA2E2B54-61A1-655A-3A1C-0B29F8C267CE}"/>
                  </a:ext>
                </a:extLst>
              </p:cNvPr>
              <p:cNvSpPr txBox="1"/>
              <p:nvPr/>
            </p:nvSpPr>
            <p:spPr>
              <a:xfrm>
                <a:off x="612648" y="1306628"/>
                <a:ext cx="1995948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BA2E2B54-61A1-655A-3A1C-0B29F8C26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306628"/>
                <a:ext cx="1995948" cy="374270"/>
              </a:xfrm>
              <a:prstGeom prst="rect">
                <a:avLst/>
              </a:prstGeom>
              <a:blipFill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02DD550-5CD3-9404-FFD1-712D10EEDFC9}"/>
                  </a:ext>
                </a:extLst>
              </p:cNvPr>
              <p:cNvSpPr txBox="1"/>
              <p:nvPr/>
            </p:nvSpPr>
            <p:spPr>
              <a:xfrm>
                <a:off x="394825" y="1680898"/>
                <a:ext cx="21434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02DD550-5CD3-9404-FFD1-712D10EED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25" y="1680898"/>
                <a:ext cx="2143433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79FBE30A-EAB5-1EB8-C459-13324B9B7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429" y="586278"/>
            <a:ext cx="7344797" cy="5723082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F4755DB-BA80-0780-AFED-2E9C6367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63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5AF5B-D24B-3371-146E-6C52BD62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AS-AD Modell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9439951-9EAE-2F6C-3B9E-09B5F08AA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43" y="548640"/>
            <a:ext cx="7871510" cy="6159822"/>
          </a:xfrm>
          <a:prstGeom prst="rect">
            <a:avLst/>
          </a:prstGeom>
        </p:spPr>
      </p:pic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14610B1-20CB-4DE6-0453-11A5469A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90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9BAB2-9272-6989-81CA-3DC9FCB9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Money Market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1370E72-3E40-4B1E-C408-CCCFC2BA0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665" y="548640"/>
            <a:ext cx="7387562" cy="5207470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48D821-8A4E-0EF9-9AD5-60A07B46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01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8BCFB-EDBA-17FF-C65D-1A86A0E6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IS-LM Model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0A0D1FC-84E5-A7B8-29FB-F0D0891C4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552" y="548640"/>
            <a:ext cx="7618674" cy="6110580"/>
          </a:xfrm>
          <a:prstGeom prst="rect">
            <a:avLst/>
          </a:prstGeom>
        </p:spPr>
      </p:pic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5A11A21-9EA7-FF36-0A8D-300731F5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9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B43D1C-D519-D40A-7897-563E1FF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de-DE" sz="3100"/>
              <a:t>Staatsausgaben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C4443E06-3F23-FBB0-F993-C42DDD52B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52501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F52AF1-3FF9-009B-DB1F-8B01778A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83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575AFC-8D58-DC36-6361-08E42CE2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de-DE" sz="4000"/>
              <a:t>Second Round Effekt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3AA5DBA-A028-5841-6C71-E52E59B57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81381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A7A0A7-0BA5-16B1-D170-87120A58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72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58A12B-C814-53F5-FD50-3EB51C72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Arbeitsmarkt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C08D4F-550D-AA8A-1EA7-D940DE9B1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503" y="548640"/>
            <a:ext cx="7628723" cy="5944318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C56B1B-B753-2645-4913-DE4F308C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46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6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87FBF9D-1593-44FB-0283-19F414DFA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2" y="753626"/>
            <a:ext cx="4695825" cy="47625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3DBDB20-B482-0582-C903-F9A58B89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81" y="2091875"/>
            <a:ext cx="3509383" cy="1847078"/>
          </a:xfrm>
          <a:solidFill>
            <a:schemeClr val="bg1">
              <a:alpha val="70000"/>
            </a:schemeClr>
          </a:solidFill>
          <a:effectLst>
            <a:softEdge rad="127000"/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/>
              <a:t>Irankrieg</a:t>
            </a:r>
            <a:r>
              <a:rPr lang="en-US" sz="4000" dirty="0"/>
              <a:t> – </a:t>
            </a:r>
            <a:r>
              <a:rPr lang="en-US" sz="4000" dirty="0" err="1"/>
              <a:t>Straße</a:t>
            </a:r>
            <a:r>
              <a:rPr lang="en-US" sz="4000" dirty="0"/>
              <a:t> von Hormuz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7F46A93-5617-6292-8924-2BD1FC808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37779"/>
              </p:ext>
            </p:extLst>
          </p:nvPr>
        </p:nvGraphicFramePr>
        <p:xfrm>
          <a:off x="5009109" y="315310"/>
          <a:ext cx="7093329" cy="5400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23984F-8713-35A8-CC6C-C4971D46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47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C1402-4C0E-F3C3-2A17-275C5340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Energieangebot Russland vs. Straße von </a:t>
            </a:r>
            <a:r>
              <a:rPr lang="de-DE" dirty="0" err="1"/>
              <a:t>Hormuz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5090EAD-3C76-5896-9834-FCC58FA8C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504743"/>
              </p:ext>
            </p:extLst>
          </p:nvPr>
        </p:nvGraphicFramePr>
        <p:xfrm>
          <a:off x="612775" y="1716088"/>
          <a:ext cx="1065371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08093536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830681101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138846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Energieprodukt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Golfstaaten über Straße von </a:t>
                      </a:r>
                      <a:r>
                        <a:rPr lang="de-DE" dirty="0" err="1"/>
                        <a:t>Hormuz</a:t>
                      </a:r>
                      <a:r>
                        <a:rPr lang="de-DE" dirty="0"/>
                        <a:t>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Russland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08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Erdgas Exporte Weltweit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30.5% </a:t>
                      </a:r>
                      <a:r>
                        <a:rPr lang="de-DE" sz="1200" dirty="0"/>
                        <a:t>[Q9, Q11 Gas Trade]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84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Erdgas Importe Europa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44% </a:t>
                      </a:r>
                      <a:r>
                        <a:rPr lang="de-DE" sz="1200" dirty="0"/>
                        <a:t>[Q6]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47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LNG Exporte Weltweit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20% </a:t>
                      </a:r>
                      <a:r>
                        <a:rPr lang="de-DE" sz="1200" dirty="0"/>
                        <a:t>[Q1]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5.4% </a:t>
                      </a:r>
                      <a:r>
                        <a:rPr lang="de-DE" sz="1200" dirty="0"/>
                        <a:t>[Q9, Q10]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70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LNG Importe Europa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8.7% </a:t>
                      </a:r>
                      <a:r>
                        <a:rPr lang="de-DE" sz="1200" dirty="0"/>
                        <a:t>[Q3]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21% </a:t>
                      </a:r>
                      <a:r>
                        <a:rPr lang="de-DE" sz="1200" dirty="0"/>
                        <a:t>[Q5]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571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Rohöl Exporte Weltweit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15.75% </a:t>
                      </a:r>
                      <a:r>
                        <a:rPr lang="de-DE" sz="1200" dirty="0"/>
                        <a:t>[Q1, Q2]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Rohöl Importe Europa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6.2% </a:t>
                      </a:r>
                      <a:r>
                        <a:rPr lang="de-DE" sz="1200" dirty="0"/>
                        <a:t>[Q3]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27.5% </a:t>
                      </a:r>
                      <a:r>
                        <a:rPr lang="de-DE" sz="1200" dirty="0"/>
                        <a:t>[Q4]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009182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BC2AAD7-37E7-3811-7146-5F237A54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8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19C409-440B-3838-8AF5-83CA06C08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de-DE" dirty="0"/>
              <a:t>Unterschiede Russland </a:t>
            </a:r>
            <a:r>
              <a:rPr lang="de-DE" dirty="0" err="1"/>
              <a:t>vs</a:t>
            </a:r>
            <a:r>
              <a:rPr lang="de-DE" dirty="0"/>
              <a:t> Straße von Hormus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844DE650-92DA-BD9C-B3D1-8891EDA89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808360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C753F1-13F7-22A5-1F78-B291A51B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12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EC9330-2FC8-5A32-4945-67A6F996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de-DE" sz="4000"/>
              <a:t>Fazit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18EA1A-C85E-3006-4DB3-DBDB7306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333DDE62-E12C-665A-18F7-EDCD36E6E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31716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977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1B862-ECA3-9AB4-BB39-CC3351E2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Handlungsempfehlungen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FB65B740-BFC3-37F4-DE9B-230EC1F74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51552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D10FA3-026B-6D8D-306D-206F5B66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45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EFD7-C5DA-4166-D3C5-A78EB0FF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CBDC5-18B4-126D-0D47-CEC71E34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Handlungsempfehlungen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A9E21271-B7DC-03F2-8B4A-7AC3D13D19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1027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8FAA27-E31A-3F53-DA34-DE9AF8E6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9376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260AAA27-5EFF-4C7B-B800-A18515986AC7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XUW/bNhD+KwJf2gLeQImSSAXYQ+u4RYFuCOI2wzDkgSJPjgqZFCgqixv4v+9EyU3dGkmaochQ5EWgTsfjfd99pHjXRNdd28jNH3IN5Ii8gw4+Qa0uwESMkRkxo13JIuaccR5nQhacqrJK8attfW1NR46uiZduBf6s7nrZDMHQ+Pf5jMimOZGr4a2STQcz0oLrrJFN/QlGZ/zkXQ/bGYGrtrFODiGXXnoYwl6iO75jCvGvQz5S+foSlqD8aKWcZlUmU0hTmqk4z6gS6NaNDiGzgy5D6LD83Bova4PLDLZYiYoWaaJ5KjMuqCiYGuxV3fjJpdwsrlqH6BDzph3ImWOuK+tqJRsSUDjoxqSvydw2/TqMFnv2pe2dglOowifja7/BSAtljV3XimyRjhNnkaxgn9veeLeJ5lZD+HZh/5k7wHU1OaLbc7R0tVk1E6U36N6PGUp9KY0CvWxqBW5ywvKVH5GngGoNWL5hsALkYgiB+Noxgxq6Gw72R2e78iQz8trZdZg2aQlwhW+RzciYE2Y9I39egIMwB8ugaz+R8/YrwrrJ5R5Uji9h9ds5xNXPZNMHnWLwd7UfYV+PZpzwbPEh4b8kNKHPBv/zLT62u8eMcJ1UheJxwoqU0iymusjvlMrLqRA/SCd/gXQH9DG7e/3fQXa9g+9NIJrmdV9ncgqyid4cn0RoiOayrb2Mntcmer88jhYfTl88RMUNbtP5hXR+T7o4yzoN7tUmEH1cu93hgJrcx/JytXKwkjuZLX5ABT7jfp7QOIt+i2JKXwTkA+ov2AgTX/dmypVugyTH4w3jffziAJvOl839d8F9hXIelFxkNEm54GlGKdCClUoEIdxaDA9XvrRX+6UI+wKYSHlF8zzXCc+FSpPsaV/sMnlrLqHzazC++19tjcfB+WiSF1AlhdZMxCXVLKc6Z8mTSG9+labr1+Fu91OL9H44H02kwDj+RHSms1SrgjKaJPRJpLtM3ljsDcxwwkTLFvD2aFY/tVi/D++jiZYqmZW6LJRIhSjxWhxn6cMvE3HOJbCkkLpUVCSSMcUeHi3TwGJGaS4056rkOh5P/dt7p8Ddq9575OabkGVeMq7zgus05Ro7ASnFfwwpOKeiwsBaY1+RCaqSuxm8LWSIeqjXs73vWqngRBo40PDh/pVGD/sljEPDd6BPCo092X5ujf4F0wkMBVQQAAA=&quot;"/>
    <we:property name="creatorSessionId" value="&quot;7e2825b4-5749-4611-866b-9dbdcbd50356&quot;"/>
    <we:property name="creatorTenantId" value="&quot;7db25319-c04d-4699-88f4-84306cdd3f56&quot;"/>
    <we:property name="creatorUserId" value="&quot;100320050EB20E8D&quot;"/>
    <we:property name="datasetId" value="&quot;ac2a959c-e2f7-4abd-b8d1-c630567f24e3&quot;"/>
    <we:property name="embedUrl" value="&quot;/reportEmbed?reportId=ff4a05d9-e117-4f7e-839b-79542426f9f7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XbW/UOBD+K5G/ANLeyXm1U+k+tNsFIShUXShCp+rk2JOtUdaJHKd0qfa/38TJUhZWbekJ9YT6JXIm43l55hnHc0WUbptKrN6IJZA98hpa+AJanoMJ4phMiBnkB2/fvjraP3n1z5v9oxmK68bp2rRk74o4YRfgTnXbiaq3gsK/zyZEVNWxWPRvpahamJAGbFsbUekvMCjjJ2c7WE8IXDZVbUVvcu6Eg97sBarjO/oO/+wDEdLpC5iDdIOUMpqWqUggSWgqwyylkqNaOyj4yHaq9Ka9+2ltnNAG3fSyUPKS5kmkWCJSxinPY9nLS125UaVYzS4bi9lhzqumR2WKsS5qq6WoiM/CQjsEfUWmddUt/Wq2JZ/XnZVwAqX/ZJx2K7Q0k7Wpl1qSNcJxbGsEy8undWecXQXTWoH/dl5/nlpAv4rs0fUZSlptFtUI6XV274YIhboQRoKaV1qCHZWwfMUnxMlntQQsX79YAGLRm8D8miECDe01Btur0015ogl5buul3zaSCNDDj5lNyBATRj0hH87Bgt+DZVDajeC8/A6wdlS5A5TDi/d+M4bo/VRUnecpGn+t3ZD21SDGDU9m7yP2R0Qj+qTXP1vjY715TAhTUZlLFkZxnlCahlTl2a1U2R8L8Yt48hGE3cGPye3+j0C0nYWfDSAY97XfR3ICogpeHB4HKAimotFOBE+1Cd7ND4PZ+5Nn92FxhW06PRfWbVEXd9VWgT1YeaAPtd0cDsjJ7Vz2FwsLC7Gh2ewXVOBr3k8jGqbBX0FI6TOfeZ/1N2j4jc87M8ZK156Sw/GG9j59c4CN58vq7l1wV6KceSbnKY0SxlmSUgo0jwvJPRFuLIaDS1fUl9ul8H0BMU9YSbMsUxHLuEyi9LEvNpG8NBfQuiUY1/6vWuNh8nwwynMoo1ypmIcFVXFGVRZHjyS9/lWatlv6u91vTdK75flgJIWY4U9EpSpNlMxpTKOIPpJ0E8mLGmcD058wwbwBvD2axW9N1p/L98FIS6VIC1XkkiecF3gtDtPk/peJMGMC4igXqpCURyKOZXx/a6mCOIwpzbhiTBZMhcOpf/Ps5LE76JxDbH4wWWRFzFSWM5UkTOEkIAT/jyY5Y5SXaFgpnCtSTmV0O4I3mfRWd816defaRkg4FgZ2DHzYv8Kovl/82g98O+YkP9gT7wRD0kUFt2zox32y/jpK/QugEa8MfRAAAA==&quot;"/>
    <we:property name="isFiltersActionButtonVisible" value="true"/>
    <we:property name="isVisualContainerHeaderHidden" value="false"/>
    <we:property name="pageDisplayName" value="&quot;GDP per Capita&quot;"/>
    <we:property name="pageName" value="&quot;0705f5a4e4405c1650c8&quot;"/>
    <we:property name="pptInsertionSessionID" value="&quot;77AA88CE-07CC-4587-BB08-15281D60401B&quot;"/>
    <we:property name="reportEmbeddedTime" value="&quot;2026-04-27T08:51:04.686Z&quot;"/>
    <we:property name="reportName" value="&quot;gesamtwirtschaftliche Analyse&quot;"/>
    <we:property name="reportState" value="&quot;CONNECTED&quot;"/>
    <we:property name="reportUrl" value="&quot;/groups/me/reports/ff4a05d9-e117-4f7e-839b-79542426f9f7/0705f5a4e4405c1650c8?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TM04033921[[fn=Damast]]</Template>
  <TotalTime>0</TotalTime>
  <Words>1501</Words>
  <Application>Microsoft Office PowerPoint</Application>
  <PresentationFormat>Breitbild</PresentationFormat>
  <Paragraphs>234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4" baseType="lpstr">
      <vt:lpstr>Aptos</vt:lpstr>
      <vt:lpstr>Aptos Narrow</vt:lpstr>
      <vt:lpstr>Arial</vt:lpstr>
      <vt:lpstr>Cambria Math</vt:lpstr>
      <vt:lpstr>Neue Haas Grotesk Text Pro</vt:lpstr>
      <vt:lpstr>VanillaVTI</vt:lpstr>
      <vt:lpstr>Volkswirtschaftliche Analyse Europa und Eurozone</vt:lpstr>
      <vt:lpstr>Inhalt</vt:lpstr>
      <vt:lpstr>Datenquellen</vt:lpstr>
      <vt:lpstr>Globale Finanzkrise 2007 - 2009</vt:lpstr>
      <vt:lpstr>Corona Pandemie 2020</vt:lpstr>
      <vt:lpstr>Russischer Angriffskrieg auf die Ukraine 2022</vt:lpstr>
      <vt:lpstr>Empirie – Krisen sichtbar machen</vt:lpstr>
      <vt:lpstr>Zusammenfassung Russischer Angriffskrieg</vt:lpstr>
      <vt:lpstr>IS-LM Modell</vt:lpstr>
      <vt:lpstr>Arbeitsmarkt</vt:lpstr>
      <vt:lpstr>AS-AD Modell</vt:lpstr>
      <vt:lpstr>Cobb-Douglas Production Function</vt:lpstr>
      <vt:lpstr>Money Market</vt:lpstr>
      <vt:lpstr>New Keynesian Assumption</vt:lpstr>
      <vt:lpstr>Produktionsfunktion</vt:lpstr>
      <vt:lpstr>Arbeitsmarkt</vt:lpstr>
      <vt:lpstr>AS-AD Modell</vt:lpstr>
      <vt:lpstr>Money Market</vt:lpstr>
      <vt:lpstr>IS-LM Model</vt:lpstr>
      <vt:lpstr>Staatsausgaben</vt:lpstr>
      <vt:lpstr>Second Round Effekt</vt:lpstr>
      <vt:lpstr>Arbeitsmarkt</vt:lpstr>
      <vt:lpstr>Irankrieg – Straße von Hormuz</vt:lpstr>
      <vt:lpstr>Vergleich Energieangebot Russland vs. Straße von Hormuz</vt:lpstr>
      <vt:lpstr>Unterschiede Russland vs Straße von Hormus</vt:lpstr>
      <vt:lpstr>Fazit</vt:lpstr>
      <vt:lpstr>Handlungsempfehlungen</vt:lpstr>
      <vt:lpstr>Handlungsempfehlungen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Stank</dc:creator>
  <cp:lastModifiedBy>Jacob Stank</cp:lastModifiedBy>
  <cp:revision>20</cp:revision>
  <dcterms:created xsi:type="dcterms:W3CDTF">2026-04-16T11:00:14Z</dcterms:created>
  <dcterms:modified xsi:type="dcterms:W3CDTF">2026-05-12T08:41:41Z</dcterms:modified>
</cp:coreProperties>
</file>